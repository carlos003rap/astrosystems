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34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40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</p:sldIdLst>
  <p:sldSz cx="18288000" cy="10287000"/>
  <p:notesSz cx="6858000" cy="9144000"/>
  <p:embeddedFontLst>
    <p:embeddedFont>
      <p:font typeface="Calibri (MS)" charset="1" panose="020F0502020204030204"/>
      <p:regular r:id="rId43"/>
    </p:embeddedFont>
    <p:embeddedFont>
      <p:font typeface="Cambria Bold" charset="1" panose="02040803050406030204"/>
      <p:regular r:id="rId44"/>
    </p:embeddedFont>
    <p:embeddedFont>
      <p:font typeface="Calibri (MS) Italics" charset="1" panose="020F05020202040A0204"/>
      <p:regular r:id="rId45"/>
    </p:embeddedFont>
    <p:embeddedFont>
      <p:font typeface="Calibri (MS) Bold" charset="1" panose="020F0702030404030204"/>
      <p:regular r:id="rId47"/>
    </p:embeddedFont>
    <p:embeddedFont>
      <p:font typeface="Cambria" charset="1" panose="02040503050406030204"/>
      <p:regular r:id="rId5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notesMasters/notesMaster1.xml" Type="http://schemas.openxmlformats.org/officeDocument/2006/relationships/notesMaster"/><Relationship Id="rId41" Target="theme/theme2.xml" Type="http://schemas.openxmlformats.org/officeDocument/2006/relationships/theme"/><Relationship Id="rId42" Target="notesSlides/notesSlide1.xml" Type="http://schemas.openxmlformats.org/officeDocument/2006/relationships/notesSlide"/><Relationship Id="rId43" Target="fonts/font43.fntdata" Type="http://schemas.openxmlformats.org/officeDocument/2006/relationships/font"/><Relationship Id="rId44" Target="fonts/font44.fntdata" Type="http://schemas.openxmlformats.org/officeDocument/2006/relationships/font"/><Relationship Id="rId45" Target="fonts/font45.fntdata" Type="http://schemas.openxmlformats.org/officeDocument/2006/relationships/font"/><Relationship Id="rId46" Target="notesSlides/notesSlide2.xml" Type="http://schemas.openxmlformats.org/officeDocument/2006/relationships/notesSlide"/><Relationship Id="rId47" Target="fonts/font47.fntdata" Type="http://schemas.openxmlformats.org/officeDocument/2006/relationships/font"/><Relationship Id="rId48" Target="notesSlides/notesSlide3.xml" Type="http://schemas.openxmlformats.org/officeDocument/2006/relationships/notesSlide"/><Relationship Id="rId49" Target="notesSlides/notesSlide4.xml" Type="http://schemas.openxmlformats.org/officeDocument/2006/relationships/notesSlide"/><Relationship Id="rId5" Target="tableStyles.xml" Type="http://schemas.openxmlformats.org/officeDocument/2006/relationships/tableStyles"/><Relationship Id="rId50" Target="notesSlides/notesSlide5.xml" Type="http://schemas.openxmlformats.org/officeDocument/2006/relationships/notesSlide"/><Relationship Id="rId51" Target="fonts/font51.fntdata" Type="http://schemas.openxmlformats.org/officeDocument/2006/relationships/font"/><Relationship Id="rId52" Target="notesSlides/notesSlide6.xml" Type="http://schemas.openxmlformats.org/officeDocument/2006/relationships/notesSlide"/><Relationship Id="rId53" Target="notesSlides/notesSlide7.xml" Type="http://schemas.openxmlformats.org/officeDocument/2006/relationships/notesSlide"/><Relationship Id="rId54" Target="notesSlides/notesSlide8.xml" Type="http://schemas.openxmlformats.org/officeDocument/2006/relationships/notesSlide"/><Relationship Id="rId55" Target="notesSlides/notesSlide9.xml" Type="http://schemas.openxmlformats.org/officeDocument/2006/relationships/notesSlide"/><Relationship Id="rId56" Target="notesSlides/notesSlide10.xml" Type="http://schemas.openxmlformats.org/officeDocument/2006/relationships/notesSlide"/><Relationship Id="rId57" Target="notesSlides/notesSlide11.xml" Type="http://schemas.openxmlformats.org/officeDocument/2006/relationships/notesSlide"/><Relationship Id="rId58" Target="notesSlides/notesSlide12.xml" Type="http://schemas.openxmlformats.org/officeDocument/2006/relationships/notesSlide"/><Relationship Id="rId59" Target="notesSlides/notesSlide13.xml" Type="http://schemas.openxmlformats.org/officeDocument/2006/relationships/notesSlide"/><Relationship Id="rId6" Target="slides/slide1.xml" Type="http://schemas.openxmlformats.org/officeDocument/2006/relationships/slide"/><Relationship Id="rId60" Target="notesSlides/notesSlide14.xml" Type="http://schemas.openxmlformats.org/officeDocument/2006/relationships/notesSlide"/><Relationship Id="rId61" Target="notesSlides/notesSlide15.xml" Type="http://schemas.openxmlformats.org/officeDocument/2006/relationships/notesSlide"/><Relationship Id="rId62" Target="notesSlides/notesSlide16.xml" Type="http://schemas.openxmlformats.org/officeDocument/2006/relationships/notesSlide"/><Relationship Id="rId63" Target="notesSlides/notesSlide17.xml" Type="http://schemas.openxmlformats.org/officeDocument/2006/relationships/notesSlide"/><Relationship Id="rId64" Target="notesSlides/notesSlide18.xml" Type="http://schemas.openxmlformats.org/officeDocument/2006/relationships/notesSlide"/><Relationship Id="rId65" Target="notesSlides/notesSlide19.xml" Type="http://schemas.openxmlformats.org/officeDocument/2006/relationships/notesSlide"/><Relationship Id="rId66" Target="notesSlides/notesSlide20.xml" Type="http://schemas.openxmlformats.org/officeDocument/2006/relationships/notesSlide"/><Relationship Id="rId67" Target="notesSlides/notesSlide21.xml" Type="http://schemas.openxmlformats.org/officeDocument/2006/relationships/notesSlide"/><Relationship Id="rId68" Target="notesSlides/notesSlide22.xml" Type="http://schemas.openxmlformats.org/officeDocument/2006/relationships/notesSlide"/><Relationship Id="rId69" Target="notesSlides/notesSlide23.xml" Type="http://schemas.openxmlformats.org/officeDocument/2006/relationships/notesSlide"/><Relationship Id="rId7" Target="slides/slide2.xml" Type="http://schemas.openxmlformats.org/officeDocument/2006/relationships/slide"/><Relationship Id="rId70" Target="notesSlides/notesSlide24.xml" Type="http://schemas.openxmlformats.org/officeDocument/2006/relationships/notesSlide"/><Relationship Id="rId71" Target="notesSlides/notesSlide25.xml" Type="http://schemas.openxmlformats.org/officeDocument/2006/relationships/notesSlide"/><Relationship Id="rId72" Target="notesSlides/notesSlide26.xml" Type="http://schemas.openxmlformats.org/officeDocument/2006/relationships/notesSlide"/><Relationship Id="rId73" Target="notesSlides/notesSlide27.xml" Type="http://schemas.openxmlformats.org/officeDocument/2006/relationships/notesSlide"/><Relationship Id="rId74" Target="notesSlides/notesSlide28.xml" Type="http://schemas.openxmlformats.org/officeDocument/2006/relationships/notesSlide"/><Relationship Id="rId75" Target="notesSlides/notesSlide29.xml" Type="http://schemas.openxmlformats.org/officeDocument/2006/relationships/notesSlide"/><Relationship Id="rId76" Target="notesSlides/notesSlide30.xml" Type="http://schemas.openxmlformats.org/officeDocument/2006/relationships/notesSlide"/><Relationship Id="rId77" Target="notesSlides/notesSlide31.xml" Type="http://schemas.openxmlformats.org/officeDocument/2006/relationships/notesSlide"/><Relationship Id="rId78" Target="notesSlides/notesSlide32.xml" Type="http://schemas.openxmlformats.org/officeDocument/2006/relationships/notesSlide"/><Relationship Id="rId79" Target="notesSlides/notesSlide33.xml" Type="http://schemas.openxmlformats.org/officeDocument/2006/relationships/notesSlide"/><Relationship Id="rId8" Target="slides/slide3.xml" Type="http://schemas.openxmlformats.org/officeDocument/2006/relationships/slide"/><Relationship Id="rId80" Target="notesSlides/notesSlide34.xml" Type="http://schemas.openxmlformats.org/officeDocument/2006/relationships/notes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2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_rels/notesSlide2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3.xml" Type="http://schemas.openxmlformats.org/officeDocument/2006/relationships/slide"/></Relationships>
</file>

<file path=ppt/notesSlides/_rels/notesSlide2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4.xml" Type="http://schemas.openxmlformats.org/officeDocument/2006/relationships/slide"/></Relationships>
</file>

<file path=ppt/notesSlides/_rels/notesSlide2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5.xml" Type="http://schemas.openxmlformats.org/officeDocument/2006/relationships/slide"/></Relationships>
</file>

<file path=ppt/notesSlides/_rels/notesSlide2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6.xml" Type="http://schemas.openxmlformats.org/officeDocument/2006/relationships/slide"/></Relationships>
</file>

<file path=ppt/notesSlides/_rels/notesSlide2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7.xml" Type="http://schemas.openxmlformats.org/officeDocument/2006/relationships/slide"/></Relationships>
</file>

<file path=ppt/notesSlides/_rels/notesSlide2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8.xml" Type="http://schemas.openxmlformats.org/officeDocument/2006/relationships/slide"/></Relationships>
</file>

<file path=ppt/notesSlides/_rels/notesSlide2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9.xml" Type="http://schemas.openxmlformats.org/officeDocument/2006/relationships/slide"/></Relationships>
</file>

<file path=ppt/notesSlides/_rels/notesSlide3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0.xml" Type="http://schemas.openxmlformats.org/officeDocument/2006/relationships/slide"/></Relationships>
</file>

<file path=ppt/notesSlides/_rels/notesSlide3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1.xml" Type="http://schemas.openxmlformats.org/officeDocument/2006/relationships/slide"/></Relationships>
</file>

<file path=ppt/notesSlides/_rels/notesSlide3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2.xml" Type="http://schemas.openxmlformats.org/officeDocument/2006/relationships/slide"/></Relationships>
</file>

<file path=ppt/notesSlides/_rels/notesSlide3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3.xml" Type="http://schemas.openxmlformats.org/officeDocument/2006/relationships/slide"/></Relationships>
</file>

<file path=ppt/notesSlides/_rels/notesSlide3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4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Buenos dias/tardes. Somos el equipo Astro Systems y presentamos nuestro proyecto semestral: un sistema administrador de puertas de seguridad para la universidad.</a:t>
            </a:r>
          </a:p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Vamos a cubrir ocho puntos: introduccion y equipo, objetivo, requerimientos, los diagramas UML, arquitectura, cronograma, el sistema funcionando, y cerramos con lecciones aprendidas y conclusiones.</a:t>
            </a:r>
          </a:p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Astro Systems administra el acceso fisico dentro de la universidad: quien puede entrar a que puerta, organizado por grupos de usuarios. No es solo una lista de usuarios, es un sistema completo de permisos con auditoria.</a:t>
            </a:r>
          </a:p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Cada integrante tuvo un rol claro. Carlos llevo el backend completo con Spring Boot y seguridad JWT. Maziel coordino la documentacion tecnica. Angel y Asbel trabajaron el diseno de interfaz y las pruebas. Jesus diseno la base de datos.</a:t>
            </a:r>
          </a:p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Este es el objetivo central del proyecto, en una sola frase: automatizar y centralizar el control de acceso, con trazabilidad total.</a:t>
            </a:r>
          </a:p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Estos son los primeros ocho requerimientos funcionales: autenticacion, sesion, dashboard y la gestion basica de usuarios y grupos.</a:t>
            </a:r>
          </a:p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Y los siguientes ocho: configuracion de accesos, consultas, auditoria y gestion de roles. En total dieciseis requerimientos funcionales documentados en el DRS.</a:t>
            </a:r>
          </a:p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Los no funcionales definen la calidad del sistema: que tan rapido responde, que tan seguro es, que tan facil de mantener.</a:t>
            </a:r>
          </a:p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Aqui se ve el detalle de los cuatro roles: ADMIN con control total, USER con uso general, AUDITOR solo para consultar auditorias, y CONSULTOR solo para hacer busquedas.</a:t>
            </a:r>
          </a:p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Este diagrama muestra que puede hacer cada rol. El administrador tiene control total, el auditor solo consulta auditorias, el consultor solo hace busquedas.</a:t>
            </a:r>
          </a:p>
          <a:p>
            <a:r>
              <a:rPr lang="en-US"/>
              <a:t>11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Aqui esta el modelo de datos completo: ocho entidades que representan todo el dominio del problema, desde usuarios hasta auditorias.</a:t>
            </a:r>
          </a:p>
          <a:p>
            <a:r>
              <a:rPr lang="en-US"/>
              <a:t>12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Estos dos flujos de secuencia muestran el login y la configuracion de accesos paso a paso, incluyendo donde se registra la auditoria.</a:t>
            </a:r>
          </a:p>
          <a:p>
            <a:r>
              <a:rPr lang="en-US"/>
              <a:t>13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Aqui se ve el flujo de edicion, que fue donde encontramos y corregimos un bug real del proyecto: el administrador no quedaba registrado en la auditoria.</a:t>
            </a:r>
          </a:p>
          <a:p>
            <a:r>
              <a:rPr lang="en-US"/>
              <a:t>14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El diagrama de actividad de autenticacion y configuracion de accesos muestra tambien los caminos de error, no solo el camino exitoso.</a:t>
            </a:r>
          </a:p>
          <a:p>
            <a:r>
              <a:rPr lang="en-US"/>
              <a:t>15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Y aqui el flujo de gestion de datos y consultas, confirmando que toda operacion critica termina en un registro de auditoria.</a:t>
            </a:r>
          </a:p>
          <a:p>
            <a:r>
              <a:rPr lang="en-US"/>
              <a:t>16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Nuestra arquitectura es de tres capas: presentacion en HTML/CSS/JS, logica de negocio en Spring Boot, y datos en MySQL.</a:t>
            </a:r>
          </a:p>
          <a:p>
            <a:r>
              <a:rPr lang="en-US"/>
              <a:t>17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Elegimos estas tecnologias por su robustez y porque se alineaban con lo visto en el curso. JWT y BCrypt nos dieron una capa de seguridad solida sin mucha complejidad adicional.</a:t>
            </a:r>
          </a:p>
          <a:p>
            <a:r>
              <a:rPr lang="en-US"/>
              <a:t>18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Trabajamos con una metodologia hibrida: cascada para la documentacion inicial, e incremental para ir construyendo el backend modulo por modulo.</a:t>
            </a:r>
          </a:p>
          <a:p>
            <a:r>
              <a:rPr lang="en-US"/>
              <a:t>19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Este es el resumen de las ocho entidades de la base de datos y que representa cada una.</a:t>
            </a:r>
          </a:p>
          <a:p>
            <a:r>
              <a:rPr lang="en-US"/>
              <a:t>20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La seguridad se apoya en cuatro pilares: JWT para sesiones, BCrypt para contrasenas, control de acceso por rol en cada endpoint, y auditoria inmutable de cada cambio.</a:t>
            </a:r>
          </a:p>
          <a:p>
            <a:r>
              <a:rPr lang="en-US"/>
              <a:t>21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Este fue nuestro cronograma real de trabajo, desde el 23 de marzo hasta la entrega final el 11 de julio.</a:t>
            </a:r>
          </a:p>
          <a:p>
            <a:r>
              <a:rPr lang="en-US"/>
              <a:t>22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Antes de programar, disenamos mockups del login, el panel principal, usuarios y consultas. Esto nos permitio validar la experiencia de usuario antes de escribir codigo.</a:t>
            </a:r>
          </a:p>
          <a:p>
            <a:r>
              <a:rPr lang="en-US"/>
              <a:t>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Aqui les mostramos el sistema funcionando: login, dashboard, gestion de usuarios y grupos, y los modulos de auditoria y consultas.</a:t>
            </a:r>
          </a:p>
          <a:p>
            <a:r>
              <a:rPr lang="en-US"/>
              <a:t>24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Aqui les mostramos el sistema funcionando: login, dashboard, gestion de usuarios y grupos, y los modulos de auditoria y consultas.</a:t>
            </a:r>
          </a:p>
          <a:p>
            <a:r>
              <a:rPr lang="en-US"/>
              <a:t>24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Aqui les mostramos el sistema funcionando: login, dashboard, gestion de usuarios y grupos, y los modulos de auditoria y consultas.</a:t>
            </a:r>
          </a:p>
          <a:p>
            <a:r>
              <a:rPr lang="en-US"/>
              <a:t>24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Estas son las funcionalidades que mas destacan del sistema en accion.</a:t>
            </a:r>
          </a:p>
          <a:p>
            <a:r>
              <a:rPr lang="en-US"/>
              <a:t>25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Tambien entregamos un manual de usuario completo, con una seccion para cada rol del sistema.</a:t>
            </a:r>
          </a:p>
          <a:p>
            <a:r>
              <a:rPr lang="en-US"/>
              <a:t>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Hicimos pruebas funcionales de cada modulo, pruebas especificas por rol, pruebas de auditoria despues del fix del JWT, y pruebas de conexion con la base de datos.</a:t>
            </a:r>
          </a:p>
          <a:p>
            <a:r>
              <a:rPr lang="en-US"/>
              <a:t>27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Estos fueron los primeros tres retos reales que enfrentamos durante el desarrollo, y como los resolvimos como equipo.</a:t>
            </a:r>
          </a:p>
          <a:p>
            <a:r>
              <a:rPr lang="en-US"/>
              <a:t>28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Y estos tres retos adicionales, mas relacionados con la coordinacion del equipo y el paso del diseno al codigo real.</a:t>
            </a:r>
          </a:p>
          <a:p>
            <a:r>
              <a:rPr lang="en-US"/>
              <a:t>29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Como trabajo futuro, identificamos estas mejoras que no alcanzamos a implementar en este semestre.</a:t>
            </a:r>
          </a:p>
          <a:p>
            <a:r>
              <a:rPr lang="en-US"/>
              <a:t>31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En resumen, logramos un sistema funcional de principio a fin, con seguridad y trazabilidad real.</a:t>
            </a:r>
          </a:p>
          <a:p>
            <a:r>
              <a:rPr lang="en-US"/>
              <a:t>30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En resumen, logramos un sistema funcional de principio a fin, con seguridad y trazabilidad real.</a:t>
            </a:r>
          </a:p>
          <a:p>
            <a:r>
              <a:rPr lang="en-US"/>
              <a:t>30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Muchas gracias por su atencion. Quedamos abiertos a sus preguntas.</a:t>
            </a:r>
          </a:p>
          <a:p>
            <a:r>
              <a:rPr lang="en-US"/>
              <a:t>32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3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4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5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5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6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7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8.png" Type="http://schemas.openxmlformats.org/officeDocument/2006/relationships/image"/><Relationship Id="rId4" Target="../media/image2.jpeg" Type="http://schemas.openxmlformats.org/officeDocument/2006/relationships/image"/><Relationship Id="rId5" Target="../media/image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8.png" Type="http://schemas.openxmlformats.org/officeDocument/2006/relationships/image"/><Relationship Id="rId4" Target="../media/image2.jpeg" Type="http://schemas.openxmlformats.org/officeDocument/2006/relationships/image"/><Relationship Id="rId5" Target="../media/image10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8.png" Type="http://schemas.openxmlformats.org/officeDocument/2006/relationships/image"/><Relationship Id="rId4" Target="../media/image2.jpeg" Type="http://schemas.openxmlformats.org/officeDocument/2006/relationships/image"/><Relationship Id="rId5" Target="../media/image1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8.png" Type="http://schemas.openxmlformats.org/officeDocument/2006/relationships/image"/><Relationship Id="rId4" Target="../media/image2.jpeg" Type="http://schemas.openxmlformats.org/officeDocument/2006/relationships/image"/><Relationship Id="rId5" Target="../media/image12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8.png" Type="http://schemas.openxmlformats.org/officeDocument/2006/relationships/image"/><Relationship Id="rId4" Target="../media/image2.jpeg" Type="http://schemas.openxmlformats.org/officeDocument/2006/relationships/image"/><Relationship Id="rId5" Target="../media/image13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8.png" Type="http://schemas.openxmlformats.org/officeDocument/2006/relationships/image"/><Relationship Id="rId4" Target="../media/image2.jpeg" Type="http://schemas.openxmlformats.org/officeDocument/2006/relationships/image"/><Relationship Id="rId5" Target="../media/image14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Relationship Id="rId3" Target="../media/image15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7.xml" Type="http://schemas.openxmlformats.org/officeDocument/2006/relationships/notesSlide"/><Relationship Id="rId3" Target="../media/image16.png" Type="http://schemas.openxmlformats.org/officeDocument/2006/relationships/image"/><Relationship Id="rId4" Target="../media/image2.jpeg" Type="http://schemas.openxmlformats.org/officeDocument/2006/relationships/image"/><Relationship Id="rId5" Target="../media/image17.png" Type="http://schemas.openxmlformats.org/officeDocument/2006/relationships/image"/><Relationship Id="rId6" Target="../media/image18.png" Type="http://schemas.openxmlformats.org/officeDocument/2006/relationships/image"/><Relationship Id="rId7" Target="../media/image19.png" Type="http://schemas.openxmlformats.org/officeDocument/2006/relationships/image"/><Relationship Id="rId8" Target="../media/image20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8.xml" Type="http://schemas.openxmlformats.org/officeDocument/2006/relationships/notesSlide"/><Relationship Id="rId3" Target="../media/image6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9.xml" Type="http://schemas.openxmlformats.org/officeDocument/2006/relationships/notesSlide"/><Relationship Id="rId3" Target="../media/image18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0.xml" Type="http://schemas.openxmlformats.org/officeDocument/2006/relationships/notesSlide"/><Relationship Id="rId3" Target="../media/image21.png" Type="http://schemas.openxmlformats.org/officeDocument/2006/relationships/image"/><Relationship Id="rId4" Target="../media/image2.jpeg" Type="http://schemas.openxmlformats.org/officeDocument/2006/relationships/image"/><Relationship Id="rId5" Target="../media/image22.png" Type="http://schemas.openxmlformats.org/officeDocument/2006/relationships/image"/><Relationship Id="rId6" Target="../media/image23.png" Type="http://schemas.openxmlformats.org/officeDocument/2006/relationships/image"/><Relationship Id="rId7" Target="../media/image24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1.xml" Type="http://schemas.openxmlformats.org/officeDocument/2006/relationships/notesSlide"/><Relationship Id="rId3" Target="../media/image25.png" Type="http://schemas.openxmlformats.org/officeDocument/2006/relationships/image"/><Relationship Id="rId4" Target="../media/image2.jpeg" Type="http://schemas.openxmlformats.org/officeDocument/2006/relationships/image"/><Relationship Id="rId5" Target="../media/image26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2.xml" Type="http://schemas.openxmlformats.org/officeDocument/2006/relationships/notesSlide"/><Relationship Id="rId3" Target="../media/image20.png" Type="http://schemas.openxmlformats.org/officeDocument/2006/relationships/image"/><Relationship Id="rId4" Target="../media/image2.jpeg" Type="http://schemas.openxmlformats.org/officeDocument/2006/relationships/image"/><Relationship Id="rId5" Target="../media/image27.png" Type="http://schemas.openxmlformats.org/officeDocument/2006/relationships/image"/><Relationship Id="rId6" Target="../media/image28.png" Type="http://schemas.openxmlformats.org/officeDocument/2006/relationships/image"/><Relationship Id="rId7" Target="../media/image29.png" Type="http://schemas.openxmlformats.org/officeDocument/2006/relationships/image"/><Relationship Id="rId8" Target="../media/image30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3.xml" Type="http://schemas.openxmlformats.org/officeDocument/2006/relationships/notesSlide"/><Relationship Id="rId3" Target="../media/image20.png" Type="http://schemas.openxmlformats.org/officeDocument/2006/relationships/image"/><Relationship Id="rId4" Target="../media/image2.jpeg" Type="http://schemas.openxmlformats.org/officeDocument/2006/relationships/image"/><Relationship Id="rId5" Target="../media/image31.png" Type="http://schemas.openxmlformats.org/officeDocument/2006/relationships/image"/><Relationship Id="rId6" Target="../media/image32.png" Type="http://schemas.openxmlformats.org/officeDocument/2006/relationships/image"/><Relationship Id="rId7" Target="../media/image33.png" Type="http://schemas.openxmlformats.org/officeDocument/2006/relationships/image"/><Relationship Id="rId8" Target="../media/image34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4.xml" Type="http://schemas.openxmlformats.org/officeDocument/2006/relationships/notesSlide"/><Relationship Id="rId3" Target="../media/image20.png" Type="http://schemas.openxmlformats.org/officeDocument/2006/relationships/image"/><Relationship Id="rId4" Target="../media/image2.jpeg" Type="http://schemas.openxmlformats.org/officeDocument/2006/relationships/image"/><Relationship Id="rId5" Target="../media/image35.png" Type="http://schemas.openxmlformats.org/officeDocument/2006/relationships/image"/><Relationship Id="rId6" Target="../media/image36.png" Type="http://schemas.openxmlformats.org/officeDocument/2006/relationships/image"/><Relationship Id="rId7" Target="../media/image37.png" Type="http://schemas.openxmlformats.org/officeDocument/2006/relationships/image"/><Relationship Id="rId8" Target="../media/image38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5.xml" Type="http://schemas.openxmlformats.org/officeDocument/2006/relationships/notesSlide"/><Relationship Id="rId3" Target="../media/image20.png" Type="http://schemas.openxmlformats.org/officeDocument/2006/relationships/image"/><Relationship Id="rId4" Target="../media/image2.jpeg" Type="http://schemas.openxmlformats.org/officeDocument/2006/relationships/image"/><Relationship Id="rId5" Target="../media/image39.png" Type="http://schemas.openxmlformats.org/officeDocument/2006/relationships/image"/><Relationship Id="rId6" Target="../media/image40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6.xml" Type="http://schemas.openxmlformats.org/officeDocument/2006/relationships/notesSlide"/><Relationship Id="rId3" Target="../media/image41.png" Type="http://schemas.openxmlformats.org/officeDocument/2006/relationships/image"/><Relationship Id="rId4" Target="../media/image2.jpeg" Type="http://schemas.openxmlformats.org/officeDocument/2006/relationships/image"/><Relationship Id="rId5" Target="../media/image7.png" Type="http://schemas.openxmlformats.org/officeDocument/2006/relationships/image"/><Relationship Id="rId6" Target="../media/image42.png" Type="http://schemas.openxmlformats.org/officeDocument/2006/relationships/image"/><Relationship Id="rId7" Target="../media/image43.png" Type="http://schemas.openxmlformats.org/officeDocument/2006/relationships/image"/><Relationship Id="rId8" Target="../media/image44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7.xml" Type="http://schemas.openxmlformats.org/officeDocument/2006/relationships/notesSlide"/><Relationship Id="rId3" Target="../media/image45.png" Type="http://schemas.openxmlformats.org/officeDocument/2006/relationships/image"/><Relationship Id="rId4" Target="../media/image2.jpeg" Type="http://schemas.openxmlformats.org/officeDocument/2006/relationships/image"/><Relationship Id="rId5" Target="../media/image46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8.xml" Type="http://schemas.openxmlformats.org/officeDocument/2006/relationships/notesSlide"/><Relationship Id="rId3" Target="../media/image41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9.xml" Type="http://schemas.openxmlformats.org/officeDocument/2006/relationships/notesSlide"/><Relationship Id="rId3" Target="../media/image47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0.xml" Type="http://schemas.openxmlformats.org/officeDocument/2006/relationships/notesSlide"/><Relationship Id="rId3" Target="../media/image47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1.xml" Type="http://schemas.openxmlformats.org/officeDocument/2006/relationships/notesSlide"/><Relationship Id="rId3" Target="../media/image48.png" Type="http://schemas.openxmlformats.org/officeDocument/2006/relationships/image"/><Relationship Id="rId4" Target="../media/image2.jpeg" Type="http://schemas.openxmlformats.org/officeDocument/2006/relationships/image"/><Relationship Id="rId5" Target="../media/image49.png" Type="http://schemas.openxmlformats.org/officeDocument/2006/relationships/image"/><Relationship Id="rId6" Target="../media/image50.png" Type="http://schemas.openxmlformats.org/officeDocument/2006/relationships/image"/><Relationship Id="rId7" Target="../media/image51.png" Type="http://schemas.openxmlformats.org/officeDocument/2006/relationships/image"/><Relationship Id="rId8" Target="../media/image52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2.xml" Type="http://schemas.openxmlformats.org/officeDocument/2006/relationships/notesSlide"/><Relationship Id="rId3" Target="../media/image53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3.xml" Type="http://schemas.openxmlformats.org/officeDocument/2006/relationships/notesSlide"/><Relationship Id="rId3" Target="../media/image53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4.xml" Type="http://schemas.openxmlformats.org/officeDocument/2006/relationships/notesSlide"/><Relationship Id="rId3" Target="../media/image54.png" Type="http://schemas.openxmlformats.org/officeDocument/2006/relationships/image"/><Relationship Id="rId4" Target="../media/image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538960" y="-1783080"/>
            <a:ext cx="5760720" cy="5760720"/>
            <a:chOff x="0" y="0"/>
            <a:chExt cx="7680960" cy="76809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680960" cy="7680960"/>
            </a:xfrm>
            <a:custGeom>
              <a:avLst/>
              <a:gdLst/>
              <a:ahLst/>
              <a:cxnLst/>
              <a:rect r="r" b="b" t="t" l="l"/>
              <a:pathLst>
                <a:path h="7680960" w="7680960">
                  <a:moveTo>
                    <a:pt x="0" y="3840480"/>
                  </a:moveTo>
                  <a:cubicBezTo>
                    <a:pt x="0" y="1719453"/>
                    <a:pt x="1719453" y="0"/>
                    <a:pt x="3840480" y="0"/>
                  </a:cubicBezTo>
                  <a:cubicBezTo>
                    <a:pt x="5961507" y="0"/>
                    <a:pt x="7680960" y="1719453"/>
                    <a:pt x="7680960" y="3840480"/>
                  </a:cubicBezTo>
                  <a:cubicBezTo>
                    <a:pt x="7680960" y="5961507"/>
                    <a:pt x="5961507" y="7680960"/>
                    <a:pt x="3840480" y="7680960"/>
                  </a:cubicBezTo>
                  <a:cubicBezTo>
                    <a:pt x="1719453" y="7680960"/>
                    <a:pt x="0" y="5961507"/>
                    <a:pt x="0" y="3840480"/>
                  </a:cubicBezTo>
                  <a:close/>
                </a:path>
              </a:pathLst>
            </a:custGeom>
            <a:solidFill>
              <a:srgbClr val="2D6A4F">
                <a:alpha val="20000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2194560" y="6583680"/>
            <a:ext cx="4937760" cy="4937760"/>
            <a:chOff x="0" y="0"/>
            <a:chExt cx="6583680" cy="65836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583680" cy="6583680"/>
            </a:xfrm>
            <a:custGeom>
              <a:avLst/>
              <a:gdLst/>
              <a:ahLst/>
              <a:cxnLst/>
              <a:rect r="r" b="b" t="t" l="l"/>
              <a:pathLst>
                <a:path h="6583680" w="6583680">
                  <a:moveTo>
                    <a:pt x="0" y="3291840"/>
                  </a:moveTo>
                  <a:cubicBezTo>
                    <a:pt x="0" y="1473835"/>
                    <a:pt x="1473835" y="0"/>
                    <a:pt x="3291840" y="0"/>
                  </a:cubicBezTo>
                  <a:cubicBezTo>
                    <a:pt x="5109845" y="0"/>
                    <a:pt x="6583680" y="1473835"/>
                    <a:pt x="6583680" y="3291840"/>
                  </a:cubicBezTo>
                  <a:cubicBezTo>
                    <a:pt x="6583680" y="5109845"/>
                    <a:pt x="5109845" y="6583680"/>
                    <a:pt x="3291840" y="6583680"/>
                  </a:cubicBezTo>
                  <a:cubicBezTo>
                    <a:pt x="1473835" y="6583680"/>
                    <a:pt x="0" y="5109845"/>
                    <a:pt x="0" y="3291840"/>
                  </a:cubicBezTo>
                  <a:close/>
                </a:path>
              </a:pathLst>
            </a:custGeom>
            <a:solidFill>
              <a:srgbClr val="2D6A4F">
                <a:alpha val="20000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8119872" y="1508760"/>
            <a:ext cx="2057400" cy="2057400"/>
            <a:chOff x="0" y="0"/>
            <a:chExt cx="2743200" cy="2743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43200" cy="2743200"/>
            </a:xfrm>
            <a:custGeom>
              <a:avLst/>
              <a:gdLst/>
              <a:ahLst/>
              <a:cxnLst/>
              <a:rect r="r" b="b" t="t" l="l"/>
              <a:pathLst>
                <a:path h="2743200" w="2743200">
                  <a:moveTo>
                    <a:pt x="0" y="1371600"/>
                  </a:moveTo>
                  <a:cubicBezTo>
                    <a:pt x="0" y="614045"/>
                    <a:pt x="614045" y="0"/>
                    <a:pt x="1371600" y="0"/>
                  </a:cubicBezTo>
                  <a:cubicBezTo>
                    <a:pt x="2129155" y="0"/>
                    <a:pt x="2743200" y="614045"/>
                    <a:pt x="2743200" y="1371600"/>
                  </a:cubicBezTo>
                  <a:cubicBezTo>
                    <a:pt x="2743200" y="2129155"/>
                    <a:pt x="2129155" y="2743200"/>
                    <a:pt x="1371600" y="2743200"/>
                  </a:cubicBezTo>
                  <a:cubicBezTo>
                    <a:pt x="614045" y="2743200"/>
                    <a:pt x="0" y="2129155"/>
                    <a:pt x="0" y="1371600"/>
                  </a:cubicBezTo>
                  <a:close/>
                </a:path>
              </a:pathLst>
            </a:custGeom>
            <a:solidFill>
              <a:srgbClr val="E9C46A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8668512" y="2057400"/>
            <a:ext cx="960120" cy="960120"/>
            <a:chOff x="0" y="0"/>
            <a:chExt cx="1280160" cy="1280160"/>
          </a:xfrm>
        </p:grpSpPr>
        <p:sp>
          <p:nvSpPr>
            <p:cNvPr name="Freeform 9" id="9" descr="img/icons/shield_dark.png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0" y="3977640"/>
            <a:ext cx="18283428" cy="480060"/>
            <a:chOff x="0" y="0"/>
            <a:chExt cx="24377904" cy="6400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4377904" cy="640080"/>
            </a:xfrm>
            <a:custGeom>
              <a:avLst/>
              <a:gdLst/>
              <a:ahLst/>
              <a:cxnLst/>
              <a:rect r="r" b="b" t="t" l="l"/>
              <a:pathLst>
                <a:path h="640080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92101" r="0" b="-69210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24377904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spc="300">
                  <a:solidFill>
                    <a:srgbClr val="8FBFA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UNIVERSIDAD TECNOLÓGICA DE PANAMÁ  |  INGENIERÍA DEL SOFTWARE APLICADA II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0" y="4705350"/>
            <a:ext cx="18283428" cy="1371600"/>
            <a:chOff x="0" y="0"/>
            <a:chExt cx="24377904" cy="1828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4377904" cy="1828800"/>
            </a:xfrm>
            <a:custGeom>
              <a:avLst/>
              <a:gdLst/>
              <a:ahLst/>
              <a:cxnLst/>
              <a:rect r="r" b="b" t="t" l="l"/>
              <a:pathLst>
                <a:path h="1828800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9735" r="0" b="-209735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24377904" cy="1847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ASTRO SYSTEMS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2057400" y="6324600"/>
            <a:ext cx="14168628" cy="685800"/>
            <a:chOff x="0" y="0"/>
            <a:chExt cx="18891504" cy="914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8891504" cy="914400"/>
            </a:xfrm>
            <a:custGeom>
              <a:avLst/>
              <a:gdLst/>
              <a:ahLst/>
              <a:cxnLst/>
              <a:rect r="r" b="b" t="t" l="l"/>
              <a:pathLst>
                <a:path h="914400" w="18891504">
                  <a:moveTo>
                    <a:pt x="0" y="0"/>
                  </a:moveTo>
                  <a:lnTo>
                    <a:pt x="18891504" y="0"/>
                  </a:lnTo>
                  <a:lnTo>
                    <a:pt x="18891504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52560" r="0" b="-35256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18891504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60"/>
                </a:lnSpc>
              </a:pPr>
              <a:r>
                <a:rPr lang="en-US" sz="2550" i="true">
                  <a:solidFill>
                    <a:srgbClr val="E8F3EC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Sistema Administrador de Puertas de Seguridad a Nivel Universitario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0" y="8709660"/>
            <a:ext cx="18283428" cy="548640"/>
            <a:chOff x="0" y="0"/>
            <a:chExt cx="24377904" cy="7315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4377904" cy="731520"/>
            </a:xfrm>
            <a:custGeom>
              <a:avLst/>
              <a:gdLst/>
              <a:ahLst/>
              <a:cxnLst/>
              <a:rect r="r" b="b" t="t" l="l"/>
              <a:pathLst>
                <a:path h="731520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99338" r="0" b="-599338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24377904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Carlos Sanchez   ·   Maziel Camaño   ·   Angel Villarreal   ·   Asbel Johnson   ·   Jesus Pérez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0" y="9258300"/>
            <a:ext cx="18283428" cy="480060"/>
            <a:chOff x="0" y="0"/>
            <a:chExt cx="24377904" cy="6400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4377904" cy="640080"/>
            </a:xfrm>
            <a:custGeom>
              <a:avLst/>
              <a:gdLst/>
              <a:ahLst/>
              <a:cxnLst/>
              <a:rect r="r" b="b" t="t" l="l"/>
              <a:pathLst>
                <a:path h="640080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92101" r="0" b="-692101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24377904" cy="6686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8FBFA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Proyecto Semestral  ·  Grupo 9GS231  ·  Profesora Kenia Barsallo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576072"/>
            <a:ext cx="10972800" cy="411480"/>
            <a:chOff x="0" y="0"/>
            <a:chExt cx="146304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99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CONTENIDO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85800" y="960120"/>
            <a:ext cx="16870680" cy="822960"/>
            <a:chOff x="0" y="0"/>
            <a:chExt cx="22494240" cy="10972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94239" cy="1097280"/>
            </a:xfrm>
            <a:custGeom>
              <a:avLst/>
              <a:gdLst/>
              <a:ahLst/>
              <a:cxnLst/>
              <a:rect r="r" b="b" t="t" l="l"/>
              <a:pathLst>
                <a:path h="1097280" w="22494239">
                  <a:moveTo>
                    <a:pt x="0" y="0"/>
                  </a:moveTo>
                  <a:lnTo>
                    <a:pt x="22494239" y="0"/>
                  </a:lnTo>
                  <a:lnTo>
                    <a:pt x="22494239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9443" r="0" b="-34944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249424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A1A1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Agenda de la presentación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85800" y="2400300"/>
            <a:ext cx="8092440" cy="1440180"/>
            <a:chOff x="0" y="0"/>
            <a:chExt cx="10789920" cy="19202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789920" cy="1920240"/>
            </a:xfrm>
            <a:custGeom>
              <a:avLst/>
              <a:gdLst/>
              <a:ahLst/>
              <a:cxnLst/>
              <a:rect r="r" b="b" t="t" l="l"/>
              <a:pathLst>
                <a:path h="1920240" w="107899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643616" y="0"/>
                  </a:lnTo>
                  <a:cubicBezTo>
                    <a:pt x="10724388" y="0"/>
                    <a:pt x="10789920" y="65532"/>
                    <a:pt x="10789920" y="146304"/>
                  </a:cubicBezTo>
                  <a:lnTo>
                    <a:pt x="10789920" y="1773936"/>
                  </a:lnTo>
                  <a:cubicBezTo>
                    <a:pt x="10789920" y="1854708"/>
                    <a:pt x="10724388" y="1920240"/>
                    <a:pt x="10643616" y="1920240"/>
                  </a:cubicBezTo>
                  <a:lnTo>
                    <a:pt x="146304" y="1920240"/>
                  </a:lnTo>
                  <a:cubicBezTo>
                    <a:pt x="65532" y="1920240"/>
                    <a:pt x="0" y="1854708"/>
                    <a:pt x="0" y="1773936"/>
                  </a:cubicBezTo>
                  <a:close/>
                </a:path>
              </a:pathLst>
            </a:custGeom>
            <a:solidFill>
              <a:srgbClr val="E8F3EC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28700" y="2400300"/>
            <a:ext cx="1234440" cy="1440180"/>
            <a:chOff x="0" y="0"/>
            <a:chExt cx="1645920" cy="19202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45920" cy="1920240"/>
            </a:xfrm>
            <a:custGeom>
              <a:avLst/>
              <a:gdLst/>
              <a:ahLst/>
              <a:cxnLst/>
              <a:rect r="r" b="b" t="t" l="l"/>
              <a:pathLst>
                <a:path h="1920240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9687" t="0" r="-99687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1645920" cy="19392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8FBFA3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263140" y="2400300"/>
            <a:ext cx="6172200" cy="1440180"/>
            <a:chOff x="0" y="0"/>
            <a:chExt cx="8229600" cy="19202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229600" cy="1920240"/>
            </a:xfrm>
            <a:custGeom>
              <a:avLst/>
              <a:gdLst/>
              <a:ahLst/>
              <a:cxnLst/>
              <a:rect r="r" b="b" t="t" l="l"/>
              <a:pathLst>
                <a:path h="192024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507" r="0" b="-33507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8229600" cy="19773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Introducción y equipo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532620" y="2400300"/>
            <a:ext cx="8092440" cy="1440180"/>
            <a:chOff x="0" y="0"/>
            <a:chExt cx="10789920" cy="19202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789920" cy="1920240"/>
            </a:xfrm>
            <a:custGeom>
              <a:avLst/>
              <a:gdLst/>
              <a:ahLst/>
              <a:cxnLst/>
              <a:rect r="r" b="b" t="t" l="l"/>
              <a:pathLst>
                <a:path h="1920240" w="107899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643616" y="0"/>
                  </a:lnTo>
                  <a:cubicBezTo>
                    <a:pt x="10724388" y="0"/>
                    <a:pt x="10789920" y="65532"/>
                    <a:pt x="10789920" y="146304"/>
                  </a:cubicBezTo>
                  <a:lnTo>
                    <a:pt x="10789920" y="1773936"/>
                  </a:lnTo>
                  <a:cubicBezTo>
                    <a:pt x="10789920" y="1854708"/>
                    <a:pt x="10724388" y="1920240"/>
                    <a:pt x="10643616" y="1920240"/>
                  </a:cubicBezTo>
                  <a:lnTo>
                    <a:pt x="146304" y="1920240"/>
                  </a:lnTo>
                  <a:cubicBezTo>
                    <a:pt x="65532" y="1920240"/>
                    <a:pt x="0" y="1854708"/>
                    <a:pt x="0" y="1773936"/>
                  </a:cubicBezTo>
                  <a:close/>
                </a:path>
              </a:pathLst>
            </a:custGeom>
            <a:solidFill>
              <a:srgbClr val="E8F3EC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875520" y="2400300"/>
            <a:ext cx="1234440" cy="1440180"/>
            <a:chOff x="0" y="0"/>
            <a:chExt cx="1645920" cy="19202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645920" cy="1920240"/>
            </a:xfrm>
            <a:custGeom>
              <a:avLst/>
              <a:gdLst/>
              <a:ahLst/>
              <a:cxnLst/>
              <a:rect r="r" b="b" t="t" l="l"/>
              <a:pathLst>
                <a:path h="1920240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9687" t="0" r="-99687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1645920" cy="19392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8FBFA3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02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109960" y="2400300"/>
            <a:ext cx="6172200" cy="1440180"/>
            <a:chOff x="0" y="0"/>
            <a:chExt cx="8229600" cy="19202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229600" cy="1920240"/>
            </a:xfrm>
            <a:custGeom>
              <a:avLst/>
              <a:gdLst/>
              <a:ahLst/>
              <a:cxnLst/>
              <a:rect r="r" b="b" t="t" l="l"/>
              <a:pathLst>
                <a:path h="192024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507" r="0" b="-33507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57150"/>
              <a:ext cx="8229600" cy="19773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Objetivo y justificación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685800" y="4224528"/>
            <a:ext cx="8092440" cy="1440180"/>
            <a:chOff x="0" y="0"/>
            <a:chExt cx="10789920" cy="19202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789920" cy="1920240"/>
            </a:xfrm>
            <a:custGeom>
              <a:avLst/>
              <a:gdLst/>
              <a:ahLst/>
              <a:cxnLst/>
              <a:rect r="r" b="b" t="t" l="l"/>
              <a:pathLst>
                <a:path h="1920240" w="107899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643616" y="0"/>
                  </a:lnTo>
                  <a:cubicBezTo>
                    <a:pt x="10724388" y="0"/>
                    <a:pt x="10789920" y="65532"/>
                    <a:pt x="10789920" y="146304"/>
                  </a:cubicBezTo>
                  <a:lnTo>
                    <a:pt x="10789920" y="1773936"/>
                  </a:lnTo>
                  <a:cubicBezTo>
                    <a:pt x="10789920" y="1854708"/>
                    <a:pt x="10724388" y="1920240"/>
                    <a:pt x="10643616" y="1920240"/>
                  </a:cubicBezTo>
                  <a:lnTo>
                    <a:pt x="146304" y="1920240"/>
                  </a:lnTo>
                  <a:cubicBezTo>
                    <a:pt x="65532" y="1920240"/>
                    <a:pt x="0" y="1854708"/>
                    <a:pt x="0" y="1773936"/>
                  </a:cubicBezTo>
                  <a:close/>
                </a:path>
              </a:pathLst>
            </a:custGeom>
            <a:solidFill>
              <a:srgbClr val="E8F3EC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028700" y="4224528"/>
            <a:ext cx="1234440" cy="1440180"/>
            <a:chOff x="0" y="0"/>
            <a:chExt cx="1645920" cy="19202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645920" cy="1920240"/>
            </a:xfrm>
            <a:custGeom>
              <a:avLst/>
              <a:gdLst/>
              <a:ahLst/>
              <a:cxnLst/>
              <a:rect r="r" b="b" t="t" l="l"/>
              <a:pathLst>
                <a:path h="1920240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9687" t="0" r="-99687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1645920" cy="19392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8FBFA3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03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2263140" y="4224528"/>
            <a:ext cx="6172200" cy="1440180"/>
            <a:chOff x="0" y="0"/>
            <a:chExt cx="8229600" cy="19202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229600" cy="1920240"/>
            </a:xfrm>
            <a:custGeom>
              <a:avLst/>
              <a:gdLst/>
              <a:ahLst/>
              <a:cxnLst/>
              <a:rect r="r" b="b" t="t" l="l"/>
              <a:pathLst>
                <a:path h="192024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507" r="0" b="-33507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8229600" cy="19773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Requerimientos del sistema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532620" y="4224528"/>
            <a:ext cx="8092440" cy="1440180"/>
            <a:chOff x="0" y="0"/>
            <a:chExt cx="10789920" cy="19202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789920" cy="1920240"/>
            </a:xfrm>
            <a:custGeom>
              <a:avLst/>
              <a:gdLst/>
              <a:ahLst/>
              <a:cxnLst/>
              <a:rect r="r" b="b" t="t" l="l"/>
              <a:pathLst>
                <a:path h="1920240" w="107899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643616" y="0"/>
                  </a:lnTo>
                  <a:cubicBezTo>
                    <a:pt x="10724388" y="0"/>
                    <a:pt x="10789920" y="65532"/>
                    <a:pt x="10789920" y="146304"/>
                  </a:cubicBezTo>
                  <a:lnTo>
                    <a:pt x="10789920" y="1773936"/>
                  </a:lnTo>
                  <a:cubicBezTo>
                    <a:pt x="10789920" y="1854708"/>
                    <a:pt x="10724388" y="1920240"/>
                    <a:pt x="10643616" y="1920240"/>
                  </a:cubicBezTo>
                  <a:lnTo>
                    <a:pt x="146304" y="1920240"/>
                  </a:lnTo>
                  <a:cubicBezTo>
                    <a:pt x="65532" y="1920240"/>
                    <a:pt x="0" y="1854708"/>
                    <a:pt x="0" y="1773936"/>
                  </a:cubicBezTo>
                  <a:close/>
                </a:path>
              </a:pathLst>
            </a:custGeom>
            <a:solidFill>
              <a:srgbClr val="E8F3EC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9875520" y="4224528"/>
            <a:ext cx="1234440" cy="1440180"/>
            <a:chOff x="0" y="0"/>
            <a:chExt cx="1645920" cy="19202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645920" cy="1920240"/>
            </a:xfrm>
            <a:custGeom>
              <a:avLst/>
              <a:gdLst/>
              <a:ahLst/>
              <a:cxnLst/>
              <a:rect r="r" b="b" t="t" l="l"/>
              <a:pathLst>
                <a:path h="1920240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9687" t="0" r="-99687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9050"/>
              <a:ext cx="1645920" cy="19392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8FBFA3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04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1109960" y="4224528"/>
            <a:ext cx="6172200" cy="1440180"/>
            <a:chOff x="0" y="0"/>
            <a:chExt cx="8229600" cy="19202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229600" cy="1920240"/>
            </a:xfrm>
            <a:custGeom>
              <a:avLst/>
              <a:gdLst/>
              <a:ahLst/>
              <a:cxnLst/>
              <a:rect r="r" b="b" t="t" l="l"/>
              <a:pathLst>
                <a:path h="192024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507" r="0" b="-33507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57150"/>
              <a:ext cx="8229600" cy="19773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Diagramas UML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685800" y="6048756"/>
            <a:ext cx="8092440" cy="1440180"/>
            <a:chOff x="0" y="0"/>
            <a:chExt cx="10789920" cy="19202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789920" cy="1920240"/>
            </a:xfrm>
            <a:custGeom>
              <a:avLst/>
              <a:gdLst/>
              <a:ahLst/>
              <a:cxnLst/>
              <a:rect r="r" b="b" t="t" l="l"/>
              <a:pathLst>
                <a:path h="1920240" w="107899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643616" y="0"/>
                  </a:lnTo>
                  <a:cubicBezTo>
                    <a:pt x="10724388" y="0"/>
                    <a:pt x="10789920" y="65532"/>
                    <a:pt x="10789920" y="146304"/>
                  </a:cubicBezTo>
                  <a:lnTo>
                    <a:pt x="10789920" y="1773936"/>
                  </a:lnTo>
                  <a:cubicBezTo>
                    <a:pt x="10789920" y="1854708"/>
                    <a:pt x="10724388" y="1920240"/>
                    <a:pt x="10643616" y="1920240"/>
                  </a:cubicBezTo>
                  <a:lnTo>
                    <a:pt x="146304" y="1920240"/>
                  </a:lnTo>
                  <a:cubicBezTo>
                    <a:pt x="65532" y="1920240"/>
                    <a:pt x="0" y="1854708"/>
                    <a:pt x="0" y="1773936"/>
                  </a:cubicBezTo>
                  <a:close/>
                </a:path>
              </a:pathLst>
            </a:custGeom>
            <a:solidFill>
              <a:srgbClr val="E8F3EC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028700" y="6048756"/>
            <a:ext cx="1234440" cy="1440180"/>
            <a:chOff x="0" y="0"/>
            <a:chExt cx="1645920" cy="192024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645920" cy="1920240"/>
            </a:xfrm>
            <a:custGeom>
              <a:avLst/>
              <a:gdLst/>
              <a:ahLst/>
              <a:cxnLst/>
              <a:rect r="r" b="b" t="t" l="l"/>
              <a:pathLst>
                <a:path h="1920240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9687" t="0" r="-99687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19050"/>
              <a:ext cx="1645920" cy="19392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8FBFA3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05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2263140" y="6048756"/>
            <a:ext cx="6172200" cy="1440180"/>
            <a:chOff x="0" y="0"/>
            <a:chExt cx="8229600" cy="192024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229600" cy="1920240"/>
            </a:xfrm>
            <a:custGeom>
              <a:avLst/>
              <a:gdLst/>
              <a:ahLst/>
              <a:cxnLst/>
              <a:rect r="r" b="b" t="t" l="l"/>
              <a:pathLst>
                <a:path h="192024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507" r="0" b="-33507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57150"/>
              <a:ext cx="8229600" cy="19773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Arquitectura y tecnologías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9532620" y="6048756"/>
            <a:ext cx="8092440" cy="1440180"/>
            <a:chOff x="0" y="0"/>
            <a:chExt cx="10789920" cy="192024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789920" cy="1920240"/>
            </a:xfrm>
            <a:custGeom>
              <a:avLst/>
              <a:gdLst/>
              <a:ahLst/>
              <a:cxnLst/>
              <a:rect r="r" b="b" t="t" l="l"/>
              <a:pathLst>
                <a:path h="1920240" w="107899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643616" y="0"/>
                  </a:lnTo>
                  <a:cubicBezTo>
                    <a:pt x="10724388" y="0"/>
                    <a:pt x="10789920" y="65532"/>
                    <a:pt x="10789920" y="146304"/>
                  </a:cubicBezTo>
                  <a:lnTo>
                    <a:pt x="10789920" y="1773936"/>
                  </a:lnTo>
                  <a:cubicBezTo>
                    <a:pt x="10789920" y="1854708"/>
                    <a:pt x="10724388" y="1920240"/>
                    <a:pt x="10643616" y="1920240"/>
                  </a:cubicBezTo>
                  <a:lnTo>
                    <a:pt x="146304" y="1920240"/>
                  </a:lnTo>
                  <a:cubicBezTo>
                    <a:pt x="65532" y="1920240"/>
                    <a:pt x="0" y="1854708"/>
                    <a:pt x="0" y="1773936"/>
                  </a:cubicBezTo>
                  <a:close/>
                </a:path>
              </a:pathLst>
            </a:custGeom>
            <a:solidFill>
              <a:srgbClr val="E8F3EC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9875520" y="6048756"/>
            <a:ext cx="1234440" cy="1440180"/>
            <a:chOff x="0" y="0"/>
            <a:chExt cx="1645920" cy="19202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645920" cy="1920240"/>
            </a:xfrm>
            <a:custGeom>
              <a:avLst/>
              <a:gdLst/>
              <a:ahLst/>
              <a:cxnLst/>
              <a:rect r="r" b="b" t="t" l="l"/>
              <a:pathLst>
                <a:path h="1920240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9687" t="0" r="-99687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19050"/>
              <a:ext cx="1645920" cy="19392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8FBFA3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06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1109960" y="6048756"/>
            <a:ext cx="6172200" cy="1440180"/>
            <a:chOff x="0" y="0"/>
            <a:chExt cx="8229600" cy="192024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8229600" cy="1920240"/>
            </a:xfrm>
            <a:custGeom>
              <a:avLst/>
              <a:gdLst/>
              <a:ahLst/>
              <a:cxnLst/>
              <a:rect r="r" b="b" t="t" l="l"/>
              <a:pathLst>
                <a:path h="192024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507" r="0" b="-33507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57150"/>
              <a:ext cx="8229600" cy="19773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Cronograma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685800" y="7872984"/>
            <a:ext cx="8092440" cy="1440180"/>
            <a:chOff x="0" y="0"/>
            <a:chExt cx="10789920" cy="192024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0789920" cy="1920240"/>
            </a:xfrm>
            <a:custGeom>
              <a:avLst/>
              <a:gdLst/>
              <a:ahLst/>
              <a:cxnLst/>
              <a:rect r="r" b="b" t="t" l="l"/>
              <a:pathLst>
                <a:path h="1920240" w="107899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643616" y="0"/>
                  </a:lnTo>
                  <a:cubicBezTo>
                    <a:pt x="10724388" y="0"/>
                    <a:pt x="10789920" y="65532"/>
                    <a:pt x="10789920" y="146304"/>
                  </a:cubicBezTo>
                  <a:lnTo>
                    <a:pt x="10789920" y="1773936"/>
                  </a:lnTo>
                  <a:cubicBezTo>
                    <a:pt x="10789920" y="1854708"/>
                    <a:pt x="10724388" y="1920240"/>
                    <a:pt x="10643616" y="1920240"/>
                  </a:cubicBezTo>
                  <a:lnTo>
                    <a:pt x="146304" y="1920240"/>
                  </a:lnTo>
                  <a:cubicBezTo>
                    <a:pt x="65532" y="1920240"/>
                    <a:pt x="0" y="1854708"/>
                    <a:pt x="0" y="1773936"/>
                  </a:cubicBezTo>
                  <a:close/>
                </a:path>
              </a:pathLst>
            </a:custGeom>
            <a:solidFill>
              <a:srgbClr val="E8F3EC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028700" y="7872984"/>
            <a:ext cx="1234440" cy="1440180"/>
            <a:chOff x="0" y="0"/>
            <a:chExt cx="1645920" cy="192024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645920" cy="1920240"/>
            </a:xfrm>
            <a:custGeom>
              <a:avLst/>
              <a:gdLst/>
              <a:ahLst/>
              <a:cxnLst/>
              <a:rect r="r" b="b" t="t" l="l"/>
              <a:pathLst>
                <a:path h="1920240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9687" t="0" r="-99687" b="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19050"/>
              <a:ext cx="1645920" cy="19392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8FBFA3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07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2263140" y="7872984"/>
            <a:ext cx="6172200" cy="1440180"/>
            <a:chOff x="0" y="0"/>
            <a:chExt cx="8229600" cy="192024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8229600" cy="1920240"/>
            </a:xfrm>
            <a:custGeom>
              <a:avLst/>
              <a:gdLst/>
              <a:ahLst/>
              <a:cxnLst/>
              <a:rect r="r" b="b" t="t" l="l"/>
              <a:pathLst>
                <a:path h="192024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507" r="0" b="-33507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57150"/>
              <a:ext cx="8229600" cy="19773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Sistema funcional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9532620" y="7872984"/>
            <a:ext cx="8092440" cy="1440180"/>
            <a:chOff x="0" y="0"/>
            <a:chExt cx="10789920" cy="192024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0789920" cy="1920240"/>
            </a:xfrm>
            <a:custGeom>
              <a:avLst/>
              <a:gdLst/>
              <a:ahLst/>
              <a:cxnLst/>
              <a:rect r="r" b="b" t="t" l="l"/>
              <a:pathLst>
                <a:path h="1920240" w="107899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643616" y="0"/>
                  </a:lnTo>
                  <a:cubicBezTo>
                    <a:pt x="10724388" y="0"/>
                    <a:pt x="10789920" y="65532"/>
                    <a:pt x="10789920" y="146304"/>
                  </a:cubicBezTo>
                  <a:lnTo>
                    <a:pt x="10789920" y="1773936"/>
                  </a:lnTo>
                  <a:cubicBezTo>
                    <a:pt x="10789920" y="1854708"/>
                    <a:pt x="10724388" y="1920240"/>
                    <a:pt x="10643616" y="1920240"/>
                  </a:cubicBezTo>
                  <a:lnTo>
                    <a:pt x="146304" y="1920240"/>
                  </a:lnTo>
                  <a:cubicBezTo>
                    <a:pt x="65532" y="1920240"/>
                    <a:pt x="0" y="1854708"/>
                    <a:pt x="0" y="1773936"/>
                  </a:cubicBezTo>
                  <a:close/>
                </a:path>
              </a:pathLst>
            </a:custGeom>
            <a:solidFill>
              <a:srgbClr val="E8F3EC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9875520" y="7872984"/>
            <a:ext cx="1234440" cy="1440180"/>
            <a:chOff x="0" y="0"/>
            <a:chExt cx="1645920" cy="192024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645920" cy="1920240"/>
            </a:xfrm>
            <a:custGeom>
              <a:avLst/>
              <a:gdLst/>
              <a:ahLst/>
              <a:cxnLst/>
              <a:rect r="r" b="b" t="t" l="l"/>
              <a:pathLst>
                <a:path h="1920240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9687" t="0" r="-99687" b="0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19050"/>
              <a:ext cx="1645920" cy="19392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8FBFA3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08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1109960" y="7872984"/>
            <a:ext cx="6172200" cy="1440180"/>
            <a:chOff x="0" y="0"/>
            <a:chExt cx="8229600" cy="192024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8229600" cy="1920240"/>
            </a:xfrm>
            <a:custGeom>
              <a:avLst/>
              <a:gdLst/>
              <a:ahLst/>
              <a:cxnLst/>
              <a:rect r="r" b="b" t="t" l="l"/>
              <a:pathLst>
                <a:path h="192024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507" r="0" b="-33507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57150"/>
              <a:ext cx="8229600" cy="19773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Lecciones y conclusiones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685800" y="9738360"/>
            <a:ext cx="4114800" cy="411480"/>
            <a:chOff x="0" y="0"/>
            <a:chExt cx="5486400" cy="54864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548640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28575"/>
              <a:ext cx="5486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B6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ASTRO SYSTEMS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6911828" y="9738360"/>
            <a:ext cx="685800" cy="411480"/>
            <a:chOff x="0" y="0"/>
            <a:chExt cx="914400" cy="54864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754380" cy="754380"/>
            <a:chOff x="0" y="0"/>
            <a:chExt cx="1005840" cy="1005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91540" y="822960"/>
            <a:ext cx="342900" cy="342900"/>
            <a:chOff x="0" y="0"/>
            <a:chExt cx="457200" cy="457200"/>
          </a:xfrm>
        </p:grpSpPr>
        <p:sp>
          <p:nvSpPr>
            <p:cNvPr name="Freeform 5" id="5" descr="img/icons/shield_white.png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45920" y="576072"/>
            <a:ext cx="10972800" cy="411480"/>
            <a:chOff x="0" y="0"/>
            <a:chExt cx="14630400" cy="5486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99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 · INTRODUCCIÓN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508760" y="181054"/>
            <a:ext cx="15910560" cy="2637195"/>
            <a:chOff x="0" y="0"/>
            <a:chExt cx="21214080" cy="35162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214080" cy="3516260"/>
            </a:xfrm>
            <a:custGeom>
              <a:avLst/>
              <a:gdLst/>
              <a:ahLst/>
              <a:cxnLst/>
              <a:rect r="r" b="b" t="t" l="l"/>
              <a:pathLst>
                <a:path h="3516260" w="21214080">
                  <a:moveTo>
                    <a:pt x="0" y="0"/>
                  </a:moveTo>
                  <a:lnTo>
                    <a:pt x="21214080" y="0"/>
                  </a:lnTo>
                  <a:lnTo>
                    <a:pt x="21214080" y="3516260"/>
                  </a:lnTo>
                  <a:lnTo>
                    <a:pt x="0" y="35162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1952" r="0" b="-33158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21214080" cy="35353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1A1A1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¿Qué es el Administrador de Puertas de Seguridad a Nivel Universitario?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891540" y="3234932"/>
            <a:ext cx="9601200" cy="433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07194" indent="-203597" lvl="1">
              <a:lnSpc>
                <a:spcPts val="3104"/>
              </a:lnSpc>
              <a:buFont typeface="Arial"/>
              <a:buChar char="•"/>
            </a:pPr>
            <a:r>
              <a:rPr lang="en-US" sz="2250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Sistema web para administrar el control de acceso físico dentro de un entorno universitario.</a:t>
            </a:r>
          </a:p>
          <a:p>
            <a:pPr algn="l">
              <a:lnSpc>
                <a:spcPts val="3104"/>
              </a:lnSpc>
            </a:pPr>
          </a:p>
          <a:p>
            <a:pPr algn="l" marL="407194" indent="-203597" lvl="1">
              <a:lnSpc>
                <a:spcPts val="3104"/>
              </a:lnSpc>
              <a:buFont typeface="Arial"/>
              <a:buChar char="•"/>
            </a:pPr>
            <a:r>
              <a:rPr lang="en-US" sz="2250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Gestiona usuarios administradores, personas con acceso físico (por cédula), grupos, áreas y puertas.</a:t>
            </a:r>
          </a:p>
          <a:p>
            <a:pPr algn="l">
              <a:lnSpc>
                <a:spcPts val="3104"/>
              </a:lnSpc>
            </a:pPr>
          </a:p>
          <a:p>
            <a:pPr algn="l" marL="407194" indent="-203597" lvl="1">
              <a:lnSpc>
                <a:spcPts val="3104"/>
              </a:lnSpc>
              <a:buFont typeface="Arial"/>
              <a:buChar char="•"/>
            </a:pPr>
            <a:r>
              <a:rPr lang="en-US" sz="2250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Permite asignar y revocar permisos de acceso entre grupos de usuarios y puertas específicas.</a:t>
            </a:r>
          </a:p>
          <a:p>
            <a:pPr algn="l">
              <a:lnSpc>
                <a:spcPts val="3104"/>
              </a:lnSpc>
            </a:pPr>
          </a:p>
          <a:p>
            <a:pPr algn="l" marL="407194" indent="-203597" lvl="1">
              <a:lnSpc>
                <a:spcPts val="3104"/>
              </a:lnSpc>
              <a:buFont typeface="Arial"/>
              <a:buChar char="•"/>
            </a:pPr>
            <a:r>
              <a:rPr lang="en-US" sz="2250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Registra auditorías completas: quién inicia sesión y quién realiza cada cambio administrativo.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0972800" y="2537460"/>
            <a:ext cx="6652260" cy="1783080"/>
            <a:chOff x="0" y="0"/>
            <a:chExt cx="8869680" cy="23774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869680" cy="2377440"/>
            </a:xfrm>
            <a:custGeom>
              <a:avLst/>
              <a:gdLst/>
              <a:ahLst/>
              <a:cxnLst/>
              <a:rect r="r" b="b" t="t" l="l"/>
              <a:pathLst>
                <a:path h="2377440" w="886968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8686800" y="0"/>
                  </a:lnTo>
                  <a:cubicBezTo>
                    <a:pt x="8787765" y="0"/>
                    <a:pt x="8869680" y="81915"/>
                    <a:pt x="8869680" y="182880"/>
                  </a:cubicBezTo>
                  <a:lnTo>
                    <a:pt x="8869680" y="2194560"/>
                  </a:lnTo>
                  <a:cubicBezTo>
                    <a:pt x="8869680" y="2295525"/>
                    <a:pt x="8787765" y="2377440"/>
                    <a:pt x="8686800" y="2377440"/>
                  </a:cubicBezTo>
                  <a:lnTo>
                    <a:pt x="182880" y="2377440"/>
                  </a:lnTo>
                  <a:cubicBezTo>
                    <a:pt x="81915" y="2377440"/>
                    <a:pt x="0" y="2295525"/>
                    <a:pt x="0" y="2194560"/>
                  </a:cubicBez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1384280" y="2537460"/>
            <a:ext cx="2331720" cy="1783080"/>
            <a:chOff x="0" y="0"/>
            <a:chExt cx="3108960" cy="23774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108960" cy="2377440"/>
            </a:xfrm>
            <a:custGeom>
              <a:avLst/>
              <a:gdLst/>
              <a:ahLst/>
              <a:cxnLst/>
              <a:rect r="r" b="b" t="t" l="l"/>
              <a:pathLst>
                <a:path h="2377440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8114" t="0" r="-48114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3108960" cy="2386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E9C46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4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3716000" y="2537460"/>
            <a:ext cx="3703320" cy="1783080"/>
            <a:chOff x="0" y="0"/>
            <a:chExt cx="4937760" cy="23774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937760" cy="2377440"/>
            </a:xfrm>
            <a:custGeom>
              <a:avLst/>
              <a:gdLst/>
              <a:ahLst/>
              <a:cxnLst/>
              <a:rect r="r" b="b" t="t" l="l"/>
              <a:pathLst>
                <a:path h="2377440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1775" t="0" r="-11775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4937760" cy="2425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roles de usuario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972800" y="4663440"/>
            <a:ext cx="6652260" cy="1783080"/>
            <a:chOff x="0" y="0"/>
            <a:chExt cx="8869680" cy="23774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869680" cy="2377440"/>
            </a:xfrm>
            <a:custGeom>
              <a:avLst/>
              <a:gdLst/>
              <a:ahLst/>
              <a:cxnLst/>
              <a:rect r="r" b="b" t="t" l="l"/>
              <a:pathLst>
                <a:path h="2377440" w="886968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8686800" y="0"/>
                  </a:lnTo>
                  <a:cubicBezTo>
                    <a:pt x="8787765" y="0"/>
                    <a:pt x="8869680" y="81915"/>
                    <a:pt x="8869680" y="182880"/>
                  </a:cubicBezTo>
                  <a:lnTo>
                    <a:pt x="8869680" y="2194560"/>
                  </a:lnTo>
                  <a:cubicBezTo>
                    <a:pt x="8869680" y="2295525"/>
                    <a:pt x="8787765" y="2377440"/>
                    <a:pt x="8686800" y="2377440"/>
                  </a:cubicBezTo>
                  <a:lnTo>
                    <a:pt x="182880" y="2377440"/>
                  </a:lnTo>
                  <a:cubicBezTo>
                    <a:pt x="81915" y="2377440"/>
                    <a:pt x="0" y="2295525"/>
                    <a:pt x="0" y="2194560"/>
                  </a:cubicBez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1384280" y="4663440"/>
            <a:ext cx="2331720" cy="1783080"/>
            <a:chOff x="0" y="0"/>
            <a:chExt cx="3108960" cy="23774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108960" cy="2377440"/>
            </a:xfrm>
            <a:custGeom>
              <a:avLst/>
              <a:gdLst/>
              <a:ahLst/>
              <a:cxnLst/>
              <a:rect r="r" b="b" t="t" l="l"/>
              <a:pathLst>
                <a:path h="2377440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8114" t="0" r="-48114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3108960" cy="2386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E9C46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8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716000" y="4663440"/>
            <a:ext cx="3703320" cy="1783080"/>
            <a:chOff x="0" y="0"/>
            <a:chExt cx="4937760" cy="23774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937760" cy="2377440"/>
            </a:xfrm>
            <a:custGeom>
              <a:avLst/>
              <a:gdLst/>
              <a:ahLst/>
              <a:cxnLst/>
              <a:rect r="r" b="b" t="t" l="l"/>
              <a:pathLst>
                <a:path h="2377440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1775" t="0" r="-11775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4937760" cy="2425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entidades del modelo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0972800" y="6789420"/>
            <a:ext cx="6652260" cy="1783080"/>
            <a:chOff x="0" y="0"/>
            <a:chExt cx="8869680" cy="23774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869680" cy="2377440"/>
            </a:xfrm>
            <a:custGeom>
              <a:avLst/>
              <a:gdLst/>
              <a:ahLst/>
              <a:cxnLst/>
              <a:rect r="r" b="b" t="t" l="l"/>
              <a:pathLst>
                <a:path h="2377440" w="886968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8686800" y="0"/>
                  </a:lnTo>
                  <a:cubicBezTo>
                    <a:pt x="8787765" y="0"/>
                    <a:pt x="8869680" y="81915"/>
                    <a:pt x="8869680" y="182880"/>
                  </a:cubicBezTo>
                  <a:lnTo>
                    <a:pt x="8869680" y="2194560"/>
                  </a:lnTo>
                  <a:cubicBezTo>
                    <a:pt x="8869680" y="2295525"/>
                    <a:pt x="8787765" y="2377440"/>
                    <a:pt x="8686800" y="2377440"/>
                  </a:cubicBezTo>
                  <a:lnTo>
                    <a:pt x="182880" y="2377440"/>
                  </a:lnTo>
                  <a:cubicBezTo>
                    <a:pt x="81915" y="2377440"/>
                    <a:pt x="0" y="2295525"/>
                    <a:pt x="0" y="2194560"/>
                  </a:cubicBez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1384280" y="6789420"/>
            <a:ext cx="2331720" cy="1783080"/>
            <a:chOff x="0" y="0"/>
            <a:chExt cx="3108960" cy="23774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108960" cy="2377440"/>
            </a:xfrm>
            <a:custGeom>
              <a:avLst/>
              <a:gdLst/>
              <a:ahLst/>
              <a:cxnLst/>
              <a:rect r="r" b="b" t="t" l="l"/>
              <a:pathLst>
                <a:path h="2377440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8114" t="0" r="-48114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3108960" cy="2386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E9C46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100%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3716000" y="6789420"/>
            <a:ext cx="3703320" cy="1783080"/>
            <a:chOff x="0" y="0"/>
            <a:chExt cx="4937760" cy="23774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937760" cy="2377440"/>
            </a:xfrm>
            <a:custGeom>
              <a:avLst/>
              <a:gdLst/>
              <a:ahLst/>
              <a:cxnLst/>
              <a:rect r="r" b="b" t="t" l="l"/>
              <a:pathLst>
                <a:path h="2377440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1775" t="0" r="-11775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4937760" cy="2425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cambios auditados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685800" y="9738360"/>
            <a:ext cx="4114800" cy="411480"/>
            <a:chOff x="0" y="0"/>
            <a:chExt cx="5486400" cy="5486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48640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28575"/>
              <a:ext cx="5486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B6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ASTRO SYSTEMS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6911828" y="9738360"/>
            <a:ext cx="685800" cy="411480"/>
            <a:chOff x="0" y="0"/>
            <a:chExt cx="914400" cy="5486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754380" cy="754380"/>
            <a:chOff x="0" y="0"/>
            <a:chExt cx="1005840" cy="1005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91540" y="822960"/>
            <a:ext cx="342900" cy="342900"/>
            <a:chOff x="0" y="0"/>
            <a:chExt cx="457200" cy="457200"/>
          </a:xfrm>
        </p:grpSpPr>
        <p:sp>
          <p:nvSpPr>
            <p:cNvPr name="Freeform 5" id="5" descr="img/icons/users_white.png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45920" y="576072"/>
            <a:ext cx="10972800" cy="411480"/>
            <a:chOff x="0" y="0"/>
            <a:chExt cx="14630400" cy="5486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99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 · INTRODUCCIÓN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645920" y="960120"/>
            <a:ext cx="15910560" cy="822960"/>
            <a:chOff x="0" y="0"/>
            <a:chExt cx="21214080" cy="10972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2140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214080">
                  <a:moveTo>
                    <a:pt x="0" y="0"/>
                  </a:moveTo>
                  <a:lnTo>
                    <a:pt x="21214080" y="0"/>
                  </a:lnTo>
                  <a:lnTo>
                    <a:pt x="212140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26710" r="0" b="-32671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2121408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A1A1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Equipo y roles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85800" y="2400300"/>
            <a:ext cx="3236976" cy="6377940"/>
            <a:chOff x="0" y="0"/>
            <a:chExt cx="4315968" cy="85039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315968" cy="8503920"/>
            </a:xfrm>
            <a:custGeom>
              <a:avLst/>
              <a:gdLst/>
              <a:ahLst/>
              <a:cxnLst/>
              <a:rect r="r" b="b" t="t" l="l"/>
              <a:pathLst>
                <a:path h="8503920" w="431596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4169664" y="0"/>
                  </a:lnTo>
                  <a:cubicBezTo>
                    <a:pt x="4250436" y="0"/>
                    <a:pt x="4315968" y="65532"/>
                    <a:pt x="4315968" y="146304"/>
                  </a:cubicBezTo>
                  <a:lnTo>
                    <a:pt x="4315968" y="8357616"/>
                  </a:lnTo>
                  <a:cubicBezTo>
                    <a:pt x="4315968" y="8438388"/>
                    <a:pt x="4250436" y="8503920"/>
                    <a:pt x="4169664" y="8503920"/>
                  </a:cubicBezTo>
                  <a:lnTo>
                    <a:pt x="146304" y="8503920"/>
                  </a:lnTo>
                  <a:cubicBezTo>
                    <a:pt x="65532" y="8503920"/>
                    <a:pt x="0" y="8438388"/>
                    <a:pt x="0" y="8357616"/>
                  </a:cubicBezTo>
                  <a:close/>
                </a:path>
              </a:pathLst>
            </a:custGeom>
            <a:solidFill>
              <a:srgbClr val="E8F3EC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755648" y="2880360"/>
            <a:ext cx="1097280" cy="1097280"/>
            <a:chOff x="0" y="0"/>
            <a:chExt cx="1463040" cy="14630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731520"/>
                  </a:moveTo>
                  <a:cubicBezTo>
                    <a:pt x="0" y="327533"/>
                    <a:pt x="327533" y="0"/>
                    <a:pt x="731520" y="0"/>
                  </a:cubicBezTo>
                  <a:cubicBezTo>
                    <a:pt x="1135507" y="0"/>
                    <a:pt x="1463040" y="327533"/>
                    <a:pt x="1463040" y="731520"/>
                  </a:cubicBezTo>
                  <a:cubicBezTo>
                    <a:pt x="1463040" y="1135507"/>
                    <a:pt x="1135507" y="1463040"/>
                    <a:pt x="731520" y="1463040"/>
                  </a:cubicBezTo>
                  <a:cubicBezTo>
                    <a:pt x="327533" y="1463040"/>
                    <a:pt x="0" y="1135507"/>
                    <a:pt x="0" y="731520"/>
                  </a:cubicBez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755648" y="2880360"/>
            <a:ext cx="1097280" cy="1097280"/>
            <a:chOff x="0" y="0"/>
            <a:chExt cx="1463040" cy="14630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1463040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91540" y="4183380"/>
            <a:ext cx="2825496" cy="754380"/>
            <a:chOff x="0" y="0"/>
            <a:chExt cx="3767328" cy="10058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767328" cy="1005840"/>
            </a:xfrm>
            <a:custGeom>
              <a:avLst/>
              <a:gdLst/>
              <a:ahLst/>
              <a:cxnLst/>
              <a:rect r="r" b="b" t="t" l="l"/>
              <a:pathLst>
                <a:path h="1005840" w="3767328">
                  <a:moveTo>
                    <a:pt x="0" y="0"/>
                  </a:moveTo>
                  <a:lnTo>
                    <a:pt x="3767328" y="0"/>
                  </a:lnTo>
                  <a:lnTo>
                    <a:pt x="3767328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2980" r="0" b="-2298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3767328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30"/>
                </a:lnSpc>
              </a:pPr>
              <a:r>
                <a:rPr lang="en-US" sz="2025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Carlos Sanchez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891540" y="5128260"/>
            <a:ext cx="2825496" cy="822960"/>
            <a:chOff x="0" y="0"/>
            <a:chExt cx="3767328" cy="10972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767328" cy="1097280"/>
            </a:xfrm>
            <a:custGeom>
              <a:avLst/>
              <a:gdLst/>
              <a:ahLst/>
              <a:cxnLst/>
              <a:rect r="r" b="b" t="t" l="l"/>
              <a:pathLst>
                <a:path h="1097280" w="3767328">
                  <a:moveTo>
                    <a:pt x="0" y="0"/>
                  </a:moveTo>
                  <a:lnTo>
                    <a:pt x="3767328" y="0"/>
                  </a:lnTo>
                  <a:lnTo>
                    <a:pt x="3767328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6898" r="0" b="-16898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3767328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Programación / Backend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960120" y="6172200"/>
            <a:ext cx="2688336" cy="2781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>
                <a:solidFill>
                  <a:srgbClr val="5B6B63"/>
                </a:solidFill>
                <a:latin typeface="Calibri (MS)"/>
                <a:ea typeface="Calibri (MS)"/>
                <a:cs typeface="Calibri (MS)"/>
                <a:sym typeface="Calibri (MS)"/>
              </a:rPr>
              <a:t>Spring Boot, autenticación JWT, lógica de negocio, conexión con MySQL.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4169664" y="2400300"/>
            <a:ext cx="3236976" cy="6377940"/>
            <a:chOff x="0" y="0"/>
            <a:chExt cx="4315968" cy="85039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315968" cy="8503920"/>
            </a:xfrm>
            <a:custGeom>
              <a:avLst/>
              <a:gdLst/>
              <a:ahLst/>
              <a:cxnLst/>
              <a:rect r="r" b="b" t="t" l="l"/>
              <a:pathLst>
                <a:path h="8503920" w="431596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4169664" y="0"/>
                  </a:lnTo>
                  <a:cubicBezTo>
                    <a:pt x="4250436" y="0"/>
                    <a:pt x="4315968" y="65532"/>
                    <a:pt x="4315968" y="146304"/>
                  </a:cubicBezTo>
                  <a:lnTo>
                    <a:pt x="4315968" y="8357616"/>
                  </a:lnTo>
                  <a:cubicBezTo>
                    <a:pt x="4315968" y="8438388"/>
                    <a:pt x="4250436" y="8503920"/>
                    <a:pt x="4169664" y="8503920"/>
                  </a:cubicBezTo>
                  <a:lnTo>
                    <a:pt x="146304" y="8503920"/>
                  </a:lnTo>
                  <a:cubicBezTo>
                    <a:pt x="65532" y="8503920"/>
                    <a:pt x="0" y="8438388"/>
                    <a:pt x="0" y="8357616"/>
                  </a:cubicBezTo>
                  <a:close/>
                </a:path>
              </a:pathLst>
            </a:custGeom>
            <a:solidFill>
              <a:srgbClr val="E8F3EC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5239512" y="2880360"/>
            <a:ext cx="1097280" cy="1097280"/>
            <a:chOff x="0" y="0"/>
            <a:chExt cx="1463040" cy="14630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731520"/>
                  </a:moveTo>
                  <a:cubicBezTo>
                    <a:pt x="0" y="327533"/>
                    <a:pt x="327533" y="0"/>
                    <a:pt x="731520" y="0"/>
                  </a:cubicBezTo>
                  <a:cubicBezTo>
                    <a:pt x="1135507" y="0"/>
                    <a:pt x="1463040" y="327533"/>
                    <a:pt x="1463040" y="731520"/>
                  </a:cubicBezTo>
                  <a:cubicBezTo>
                    <a:pt x="1463040" y="1135507"/>
                    <a:pt x="1135507" y="1463040"/>
                    <a:pt x="731520" y="1463040"/>
                  </a:cubicBezTo>
                  <a:cubicBezTo>
                    <a:pt x="327533" y="1463040"/>
                    <a:pt x="0" y="1135507"/>
                    <a:pt x="0" y="731520"/>
                  </a:cubicBez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5239512" y="2880360"/>
            <a:ext cx="1097280" cy="1097280"/>
            <a:chOff x="0" y="0"/>
            <a:chExt cx="1463040" cy="14630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1463040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MC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4375404" y="4183380"/>
            <a:ext cx="2825496" cy="754380"/>
            <a:chOff x="0" y="0"/>
            <a:chExt cx="3767328" cy="10058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767328" cy="1005840"/>
            </a:xfrm>
            <a:custGeom>
              <a:avLst/>
              <a:gdLst/>
              <a:ahLst/>
              <a:cxnLst/>
              <a:rect r="r" b="b" t="t" l="l"/>
              <a:pathLst>
                <a:path h="1005840" w="3767328">
                  <a:moveTo>
                    <a:pt x="0" y="0"/>
                  </a:moveTo>
                  <a:lnTo>
                    <a:pt x="3767328" y="0"/>
                  </a:lnTo>
                  <a:lnTo>
                    <a:pt x="3767328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2980" r="0" b="-2298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3767328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30"/>
                </a:lnSpc>
              </a:pPr>
              <a:r>
                <a:rPr lang="en-US" sz="2025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Maziel Camaño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4375404" y="5128260"/>
            <a:ext cx="2825496" cy="822960"/>
            <a:chOff x="0" y="0"/>
            <a:chExt cx="3767328" cy="109728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767328" cy="1097280"/>
            </a:xfrm>
            <a:custGeom>
              <a:avLst/>
              <a:gdLst/>
              <a:ahLst/>
              <a:cxnLst/>
              <a:rect r="r" b="b" t="t" l="l"/>
              <a:pathLst>
                <a:path h="1097280" w="3767328">
                  <a:moveTo>
                    <a:pt x="0" y="0"/>
                  </a:moveTo>
                  <a:lnTo>
                    <a:pt x="3767328" y="0"/>
                  </a:lnTo>
                  <a:lnTo>
                    <a:pt x="3767328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6898" r="0" b="-16898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19050"/>
              <a:ext cx="3767328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Documentación / Testing</a:t>
              </a: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4443984" y="6172200"/>
            <a:ext cx="2688336" cy="2781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>
                <a:solidFill>
                  <a:srgbClr val="5B6B63"/>
                </a:solidFill>
                <a:latin typeface="Calibri (MS)"/>
                <a:ea typeface="Calibri (MS)"/>
                <a:cs typeface="Calibri (MS)"/>
                <a:sym typeface="Calibri (MS)"/>
              </a:rPr>
              <a:t>DRS, organización documental, pruebas funcionales.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7653528" y="2400300"/>
            <a:ext cx="3236976" cy="6377940"/>
            <a:chOff x="0" y="0"/>
            <a:chExt cx="4315968" cy="850392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315968" cy="8503920"/>
            </a:xfrm>
            <a:custGeom>
              <a:avLst/>
              <a:gdLst/>
              <a:ahLst/>
              <a:cxnLst/>
              <a:rect r="r" b="b" t="t" l="l"/>
              <a:pathLst>
                <a:path h="8503920" w="431596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4169664" y="0"/>
                  </a:lnTo>
                  <a:cubicBezTo>
                    <a:pt x="4250436" y="0"/>
                    <a:pt x="4315968" y="65532"/>
                    <a:pt x="4315968" y="146304"/>
                  </a:cubicBezTo>
                  <a:lnTo>
                    <a:pt x="4315968" y="8357616"/>
                  </a:lnTo>
                  <a:cubicBezTo>
                    <a:pt x="4315968" y="8438388"/>
                    <a:pt x="4250436" y="8503920"/>
                    <a:pt x="4169664" y="8503920"/>
                  </a:cubicBezTo>
                  <a:lnTo>
                    <a:pt x="146304" y="8503920"/>
                  </a:lnTo>
                  <a:cubicBezTo>
                    <a:pt x="65532" y="8503920"/>
                    <a:pt x="0" y="8438388"/>
                    <a:pt x="0" y="8357616"/>
                  </a:cubicBezTo>
                  <a:close/>
                </a:path>
              </a:pathLst>
            </a:custGeom>
            <a:solidFill>
              <a:srgbClr val="E8F3EC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8723376" y="2880360"/>
            <a:ext cx="1097280" cy="1097280"/>
            <a:chOff x="0" y="0"/>
            <a:chExt cx="1463040" cy="146304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731520"/>
                  </a:moveTo>
                  <a:cubicBezTo>
                    <a:pt x="0" y="327533"/>
                    <a:pt x="327533" y="0"/>
                    <a:pt x="731520" y="0"/>
                  </a:cubicBezTo>
                  <a:cubicBezTo>
                    <a:pt x="1135507" y="0"/>
                    <a:pt x="1463040" y="327533"/>
                    <a:pt x="1463040" y="731520"/>
                  </a:cubicBezTo>
                  <a:cubicBezTo>
                    <a:pt x="1463040" y="1135507"/>
                    <a:pt x="1135507" y="1463040"/>
                    <a:pt x="731520" y="1463040"/>
                  </a:cubicBezTo>
                  <a:cubicBezTo>
                    <a:pt x="327533" y="1463040"/>
                    <a:pt x="0" y="1135507"/>
                    <a:pt x="0" y="731520"/>
                  </a:cubicBez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8723376" y="2880360"/>
            <a:ext cx="1097280" cy="1097280"/>
            <a:chOff x="0" y="0"/>
            <a:chExt cx="1463040" cy="14630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19050"/>
              <a:ext cx="1463040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AV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7859268" y="4183380"/>
            <a:ext cx="2825496" cy="754380"/>
            <a:chOff x="0" y="0"/>
            <a:chExt cx="3767328" cy="10058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767328" cy="1005840"/>
            </a:xfrm>
            <a:custGeom>
              <a:avLst/>
              <a:gdLst/>
              <a:ahLst/>
              <a:cxnLst/>
              <a:rect r="r" b="b" t="t" l="l"/>
              <a:pathLst>
                <a:path h="1005840" w="3767328">
                  <a:moveTo>
                    <a:pt x="0" y="0"/>
                  </a:moveTo>
                  <a:lnTo>
                    <a:pt x="3767328" y="0"/>
                  </a:lnTo>
                  <a:lnTo>
                    <a:pt x="3767328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2980" r="0" b="-2298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3767328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30"/>
                </a:lnSpc>
              </a:pPr>
              <a:r>
                <a:rPr lang="en-US" sz="2025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Angel Villarreal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7859268" y="5128260"/>
            <a:ext cx="2825496" cy="822960"/>
            <a:chOff x="0" y="0"/>
            <a:chExt cx="3767328" cy="109728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3767328" cy="1097280"/>
            </a:xfrm>
            <a:custGeom>
              <a:avLst/>
              <a:gdLst/>
              <a:ahLst/>
              <a:cxnLst/>
              <a:rect r="r" b="b" t="t" l="l"/>
              <a:pathLst>
                <a:path h="1097280" w="3767328">
                  <a:moveTo>
                    <a:pt x="0" y="0"/>
                  </a:moveTo>
                  <a:lnTo>
                    <a:pt x="3767328" y="0"/>
                  </a:lnTo>
                  <a:lnTo>
                    <a:pt x="3767328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6898" r="0" b="-16898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19050"/>
              <a:ext cx="3767328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Diseño UI/UX / Testing</a:t>
              </a:r>
            </a:p>
          </p:txBody>
        </p:sp>
      </p:grpSp>
      <p:sp>
        <p:nvSpPr>
          <p:cNvPr name="TextBox 53" id="53"/>
          <p:cNvSpPr txBox="true"/>
          <p:nvPr/>
        </p:nvSpPr>
        <p:spPr>
          <a:xfrm rot="0">
            <a:off x="7927848" y="6172200"/>
            <a:ext cx="2688336" cy="2781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>
                <a:solidFill>
                  <a:srgbClr val="5B6B63"/>
                </a:solidFill>
                <a:latin typeface="Calibri (MS)"/>
                <a:ea typeface="Calibri (MS)"/>
                <a:cs typeface="Calibri (MS)"/>
                <a:sym typeface="Calibri (MS)"/>
              </a:rPr>
              <a:t>Interfaces, experiencia de usuario, pruebas del sistema.</a:t>
            </a:r>
          </a:p>
        </p:txBody>
      </p:sp>
      <p:grpSp>
        <p:nvGrpSpPr>
          <p:cNvPr name="Group 54" id="54"/>
          <p:cNvGrpSpPr/>
          <p:nvPr/>
        </p:nvGrpSpPr>
        <p:grpSpPr>
          <a:xfrm rot="0">
            <a:off x="11137392" y="2400300"/>
            <a:ext cx="3236976" cy="6377940"/>
            <a:chOff x="0" y="0"/>
            <a:chExt cx="4315968" cy="850392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4315968" cy="8503920"/>
            </a:xfrm>
            <a:custGeom>
              <a:avLst/>
              <a:gdLst/>
              <a:ahLst/>
              <a:cxnLst/>
              <a:rect r="r" b="b" t="t" l="l"/>
              <a:pathLst>
                <a:path h="8503920" w="431596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4169664" y="0"/>
                  </a:lnTo>
                  <a:cubicBezTo>
                    <a:pt x="4250436" y="0"/>
                    <a:pt x="4315968" y="65532"/>
                    <a:pt x="4315968" y="146304"/>
                  </a:cubicBezTo>
                  <a:lnTo>
                    <a:pt x="4315968" y="8357616"/>
                  </a:lnTo>
                  <a:cubicBezTo>
                    <a:pt x="4315968" y="8438388"/>
                    <a:pt x="4250436" y="8503920"/>
                    <a:pt x="4169664" y="8503920"/>
                  </a:cubicBezTo>
                  <a:lnTo>
                    <a:pt x="146304" y="8503920"/>
                  </a:lnTo>
                  <a:cubicBezTo>
                    <a:pt x="65532" y="8503920"/>
                    <a:pt x="0" y="8438388"/>
                    <a:pt x="0" y="8357616"/>
                  </a:cubicBezTo>
                  <a:close/>
                </a:path>
              </a:pathLst>
            </a:custGeom>
            <a:solidFill>
              <a:srgbClr val="E8F3EC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2207240" y="2880360"/>
            <a:ext cx="1097280" cy="1097280"/>
            <a:chOff x="0" y="0"/>
            <a:chExt cx="1463040" cy="146304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731520"/>
                  </a:moveTo>
                  <a:cubicBezTo>
                    <a:pt x="0" y="327533"/>
                    <a:pt x="327533" y="0"/>
                    <a:pt x="731520" y="0"/>
                  </a:cubicBezTo>
                  <a:cubicBezTo>
                    <a:pt x="1135507" y="0"/>
                    <a:pt x="1463040" y="327533"/>
                    <a:pt x="1463040" y="731520"/>
                  </a:cubicBezTo>
                  <a:cubicBezTo>
                    <a:pt x="1463040" y="1135507"/>
                    <a:pt x="1135507" y="1463040"/>
                    <a:pt x="731520" y="1463040"/>
                  </a:cubicBezTo>
                  <a:cubicBezTo>
                    <a:pt x="327533" y="1463040"/>
                    <a:pt x="0" y="1135507"/>
                    <a:pt x="0" y="731520"/>
                  </a:cubicBez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2207240" y="2880360"/>
            <a:ext cx="1097280" cy="1097280"/>
            <a:chOff x="0" y="0"/>
            <a:chExt cx="1463040" cy="146304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19050"/>
              <a:ext cx="1463040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AJ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1343132" y="4183380"/>
            <a:ext cx="2825496" cy="754380"/>
            <a:chOff x="0" y="0"/>
            <a:chExt cx="3767328" cy="100584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3767328" cy="1005840"/>
            </a:xfrm>
            <a:custGeom>
              <a:avLst/>
              <a:gdLst/>
              <a:ahLst/>
              <a:cxnLst/>
              <a:rect r="r" b="b" t="t" l="l"/>
              <a:pathLst>
                <a:path h="1005840" w="3767328">
                  <a:moveTo>
                    <a:pt x="0" y="0"/>
                  </a:moveTo>
                  <a:lnTo>
                    <a:pt x="3767328" y="0"/>
                  </a:lnTo>
                  <a:lnTo>
                    <a:pt x="3767328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2980" r="0" b="-2298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3767328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30"/>
                </a:lnSpc>
              </a:pPr>
              <a:r>
                <a:rPr lang="en-US" sz="2025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Asbel Johnson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1343132" y="5128260"/>
            <a:ext cx="2825496" cy="822960"/>
            <a:chOff x="0" y="0"/>
            <a:chExt cx="3767328" cy="109728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3767328" cy="1097280"/>
            </a:xfrm>
            <a:custGeom>
              <a:avLst/>
              <a:gdLst/>
              <a:ahLst/>
              <a:cxnLst/>
              <a:rect r="r" b="b" t="t" l="l"/>
              <a:pathLst>
                <a:path h="1097280" w="3767328">
                  <a:moveTo>
                    <a:pt x="0" y="0"/>
                  </a:moveTo>
                  <a:lnTo>
                    <a:pt x="3767328" y="0"/>
                  </a:lnTo>
                  <a:lnTo>
                    <a:pt x="3767328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6898" r="0" b="-16898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19050"/>
              <a:ext cx="3767328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Diseño UI/UX / Testing</a:t>
              </a:r>
            </a:p>
          </p:txBody>
        </p:sp>
      </p:grpSp>
      <p:sp>
        <p:nvSpPr>
          <p:cNvPr name="TextBox 67" id="67"/>
          <p:cNvSpPr txBox="true"/>
          <p:nvPr/>
        </p:nvSpPr>
        <p:spPr>
          <a:xfrm rot="0">
            <a:off x="11411712" y="6172200"/>
            <a:ext cx="2688336" cy="2781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>
                <a:solidFill>
                  <a:srgbClr val="5B6B63"/>
                </a:solidFill>
                <a:latin typeface="Calibri (MS)"/>
                <a:ea typeface="Calibri (MS)"/>
                <a:cs typeface="Calibri (MS)"/>
                <a:sym typeface="Calibri (MS)"/>
              </a:rPr>
              <a:t>Prototipos, apoyo visual, pruebas funcionales.</a:t>
            </a:r>
          </a:p>
        </p:txBody>
      </p:sp>
      <p:grpSp>
        <p:nvGrpSpPr>
          <p:cNvPr name="Group 68" id="68"/>
          <p:cNvGrpSpPr/>
          <p:nvPr/>
        </p:nvGrpSpPr>
        <p:grpSpPr>
          <a:xfrm rot="0">
            <a:off x="14621256" y="2400300"/>
            <a:ext cx="3236976" cy="6377940"/>
            <a:chOff x="0" y="0"/>
            <a:chExt cx="4315968" cy="850392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4315968" cy="8503920"/>
            </a:xfrm>
            <a:custGeom>
              <a:avLst/>
              <a:gdLst/>
              <a:ahLst/>
              <a:cxnLst/>
              <a:rect r="r" b="b" t="t" l="l"/>
              <a:pathLst>
                <a:path h="8503920" w="431596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4169664" y="0"/>
                  </a:lnTo>
                  <a:cubicBezTo>
                    <a:pt x="4250436" y="0"/>
                    <a:pt x="4315968" y="65532"/>
                    <a:pt x="4315968" y="146304"/>
                  </a:cubicBezTo>
                  <a:lnTo>
                    <a:pt x="4315968" y="8357616"/>
                  </a:lnTo>
                  <a:cubicBezTo>
                    <a:pt x="4315968" y="8438388"/>
                    <a:pt x="4250436" y="8503920"/>
                    <a:pt x="4169664" y="8503920"/>
                  </a:cubicBezTo>
                  <a:lnTo>
                    <a:pt x="146304" y="8503920"/>
                  </a:lnTo>
                  <a:cubicBezTo>
                    <a:pt x="65532" y="8503920"/>
                    <a:pt x="0" y="8438388"/>
                    <a:pt x="0" y="8357616"/>
                  </a:cubicBezTo>
                  <a:close/>
                </a:path>
              </a:pathLst>
            </a:custGeom>
            <a:solidFill>
              <a:srgbClr val="E8F3EC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15691104" y="2880360"/>
            <a:ext cx="1097280" cy="1097280"/>
            <a:chOff x="0" y="0"/>
            <a:chExt cx="1463040" cy="146304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731520"/>
                  </a:moveTo>
                  <a:cubicBezTo>
                    <a:pt x="0" y="327533"/>
                    <a:pt x="327533" y="0"/>
                    <a:pt x="731520" y="0"/>
                  </a:cubicBezTo>
                  <a:cubicBezTo>
                    <a:pt x="1135507" y="0"/>
                    <a:pt x="1463040" y="327533"/>
                    <a:pt x="1463040" y="731520"/>
                  </a:cubicBezTo>
                  <a:cubicBezTo>
                    <a:pt x="1463040" y="1135507"/>
                    <a:pt x="1135507" y="1463040"/>
                    <a:pt x="731520" y="1463040"/>
                  </a:cubicBezTo>
                  <a:cubicBezTo>
                    <a:pt x="327533" y="1463040"/>
                    <a:pt x="0" y="1135507"/>
                    <a:pt x="0" y="731520"/>
                  </a:cubicBez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15691104" y="2880360"/>
            <a:ext cx="1097280" cy="1097280"/>
            <a:chOff x="0" y="0"/>
            <a:chExt cx="1463040" cy="146304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19050"/>
              <a:ext cx="1463040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JP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4826996" y="4183380"/>
            <a:ext cx="2825496" cy="754380"/>
            <a:chOff x="0" y="0"/>
            <a:chExt cx="3767328" cy="100584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3767328" cy="1005840"/>
            </a:xfrm>
            <a:custGeom>
              <a:avLst/>
              <a:gdLst/>
              <a:ahLst/>
              <a:cxnLst/>
              <a:rect r="r" b="b" t="t" l="l"/>
              <a:pathLst>
                <a:path h="1005840" w="3767328">
                  <a:moveTo>
                    <a:pt x="0" y="0"/>
                  </a:moveTo>
                  <a:lnTo>
                    <a:pt x="3767328" y="0"/>
                  </a:lnTo>
                  <a:lnTo>
                    <a:pt x="3767328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2980" r="0" b="-22980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38100"/>
              <a:ext cx="3767328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30"/>
                </a:lnSpc>
              </a:pPr>
              <a:r>
                <a:rPr lang="en-US" sz="2025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Jesus Pérez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4826996" y="5128260"/>
            <a:ext cx="2825496" cy="822960"/>
            <a:chOff x="0" y="0"/>
            <a:chExt cx="3767328" cy="109728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3767328" cy="1097280"/>
            </a:xfrm>
            <a:custGeom>
              <a:avLst/>
              <a:gdLst/>
              <a:ahLst/>
              <a:cxnLst/>
              <a:rect r="r" b="b" t="t" l="l"/>
              <a:pathLst>
                <a:path h="1097280" w="3767328">
                  <a:moveTo>
                    <a:pt x="0" y="0"/>
                  </a:moveTo>
                  <a:lnTo>
                    <a:pt x="3767328" y="0"/>
                  </a:lnTo>
                  <a:lnTo>
                    <a:pt x="3767328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6898" r="0" b="-16898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19050"/>
              <a:ext cx="3767328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Base de Datos / Diseño</a:t>
              </a:r>
            </a:p>
          </p:txBody>
        </p:sp>
      </p:grpSp>
      <p:sp>
        <p:nvSpPr>
          <p:cNvPr name="TextBox 81" id="81"/>
          <p:cNvSpPr txBox="true"/>
          <p:nvPr/>
        </p:nvSpPr>
        <p:spPr>
          <a:xfrm rot="0">
            <a:off x="14895576" y="6172200"/>
            <a:ext cx="2688336" cy="2781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>
                <a:solidFill>
                  <a:srgbClr val="5B6B63"/>
                </a:solidFill>
                <a:latin typeface="Calibri (MS)"/>
                <a:ea typeface="Calibri (MS)"/>
                <a:cs typeface="Calibri (MS)"/>
                <a:sym typeface="Calibri (MS)"/>
              </a:rPr>
              <a:t>Modelo de datos, relaciones entre entidades, consultas.</a:t>
            </a:r>
          </a:p>
        </p:txBody>
      </p:sp>
      <p:grpSp>
        <p:nvGrpSpPr>
          <p:cNvPr name="Group 82" id="82"/>
          <p:cNvGrpSpPr/>
          <p:nvPr/>
        </p:nvGrpSpPr>
        <p:grpSpPr>
          <a:xfrm rot="0">
            <a:off x="685800" y="9738360"/>
            <a:ext cx="4114800" cy="411480"/>
            <a:chOff x="0" y="0"/>
            <a:chExt cx="5486400" cy="54864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548640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28575"/>
              <a:ext cx="5486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B6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ASTRO SYSTEMS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16911828" y="9738360"/>
            <a:ext cx="685800" cy="411480"/>
            <a:chOff x="0" y="0"/>
            <a:chExt cx="914400" cy="54864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057400" y="-2057400"/>
            <a:ext cx="6858000" cy="6858000"/>
            <a:chOff x="0" y="0"/>
            <a:chExt cx="9144000" cy="914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144000" cy="9144000"/>
            </a:xfrm>
            <a:custGeom>
              <a:avLst/>
              <a:gdLst/>
              <a:ahLst/>
              <a:cxnLst/>
              <a:rect r="r" b="b" t="t" l="l"/>
              <a:pathLst>
                <a:path h="9144000" w="9144000">
                  <a:moveTo>
                    <a:pt x="0" y="4572000"/>
                  </a:moveTo>
                  <a:cubicBezTo>
                    <a:pt x="0" y="2046986"/>
                    <a:pt x="2046986" y="0"/>
                    <a:pt x="4572000" y="0"/>
                  </a:cubicBezTo>
                  <a:cubicBezTo>
                    <a:pt x="7097014" y="0"/>
                    <a:pt x="9144000" y="2046986"/>
                    <a:pt x="9144000" y="4572000"/>
                  </a:cubicBezTo>
                  <a:cubicBezTo>
                    <a:pt x="9144000" y="7097014"/>
                    <a:pt x="7097014" y="9144000"/>
                    <a:pt x="4572000" y="9144000"/>
                  </a:cubicBezTo>
                  <a:cubicBezTo>
                    <a:pt x="2046986" y="9144000"/>
                    <a:pt x="0" y="7097014"/>
                    <a:pt x="0" y="4572000"/>
                  </a:cubicBezTo>
                  <a:close/>
                </a:path>
              </a:pathLst>
            </a:custGeom>
            <a:solidFill>
              <a:srgbClr val="2D6A4F">
                <a:alpha val="15686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783080"/>
            <a:ext cx="18283428" cy="548640"/>
            <a:chOff x="0" y="0"/>
            <a:chExt cx="24377904" cy="7315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77904" cy="731520"/>
            </a:xfrm>
            <a:custGeom>
              <a:avLst/>
              <a:gdLst/>
              <a:ahLst/>
              <a:cxnLst/>
              <a:rect r="r" b="b" t="t" l="l"/>
              <a:pathLst>
                <a:path h="731520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9338" r="0" b="-59933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24377904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39"/>
                </a:lnSpc>
              </a:pPr>
              <a:r>
                <a:rPr lang="en-US" b="true" sz="2449" spc="565">
                  <a:solidFill>
                    <a:srgbClr val="E9C46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OBJETIVO DEL SISTEMA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471166" y="3165920"/>
            <a:ext cx="13345668" cy="4630955"/>
            <a:chOff x="0" y="0"/>
            <a:chExt cx="17794224" cy="617460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794224" cy="6174606"/>
            </a:xfrm>
            <a:custGeom>
              <a:avLst/>
              <a:gdLst/>
              <a:ahLst/>
              <a:cxnLst/>
              <a:rect r="r" b="b" t="t" l="l"/>
              <a:pathLst>
                <a:path h="6174606" w="17794224">
                  <a:moveTo>
                    <a:pt x="0" y="0"/>
                  </a:moveTo>
                  <a:lnTo>
                    <a:pt x="17794224" y="0"/>
                  </a:lnTo>
                  <a:lnTo>
                    <a:pt x="17794224" y="6174606"/>
                  </a:lnTo>
                  <a:lnTo>
                    <a:pt x="0" y="617460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30" r="0" b="6824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17794224" cy="61746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4680"/>
                </a:lnSpc>
              </a:pPr>
              <a:r>
                <a:rPr lang="en-US" sz="3900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Automatizar y centralizar la administración del control de acceso físico a puertas de seguridad dentro del entorno universitario, garantizando trazabilidad y seguridad en cada operación.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85800" y="9738360"/>
            <a:ext cx="4114800" cy="411480"/>
            <a:chOff x="0" y="0"/>
            <a:chExt cx="548640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48640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5486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B6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ASTRO SYSTEMS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911828" y="9738360"/>
            <a:ext cx="685800" cy="411480"/>
            <a:chOff x="0" y="0"/>
            <a:chExt cx="914400" cy="548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754380" cy="754380"/>
            <a:chOff x="0" y="0"/>
            <a:chExt cx="1005840" cy="1005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91540" y="822960"/>
            <a:ext cx="342900" cy="342900"/>
            <a:chOff x="0" y="0"/>
            <a:chExt cx="457200" cy="457200"/>
          </a:xfrm>
        </p:grpSpPr>
        <p:sp>
          <p:nvSpPr>
            <p:cNvPr name="Freeform 5" id="5" descr="img/icons/clipboard_white.png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45920" y="576072"/>
            <a:ext cx="10972800" cy="411480"/>
            <a:chOff x="0" y="0"/>
            <a:chExt cx="14630400" cy="5486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99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 · REQUERIMIENTOS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645920" y="960120"/>
            <a:ext cx="15910560" cy="822960"/>
            <a:chOff x="0" y="0"/>
            <a:chExt cx="21214080" cy="10972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2140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214080">
                  <a:moveTo>
                    <a:pt x="0" y="0"/>
                  </a:moveTo>
                  <a:lnTo>
                    <a:pt x="21214080" y="0"/>
                  </a:lnTo>
                  <a:lnTo>
                    <a:pt x="212140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26710" r="0" b="-32671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2121408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A1A1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Requerimientos funcionales (1/2)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85800" y="2331720"/>
            <a:ext cx="8298180" cy="1344168"/>
            <a:chOff x="0" y="0"/>
            <a:chExt cx="11064240" cy="179222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064240" cy="1792224"/>
            </a:xfrm>
            <a:custGeom>
              <a:avLst/>
              <a:gdLst/>
              <a:ahLst/>
              <a:cxnLst/>
              <a:rect r="r" b="b" t="t" l="l"/>
              <a:pathLst>
                <a:path h="1792224" w="11064240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10936224" y="0"/>
                  </a:lnTo>
                  <a:cubicBezTo>
                    <a:pt x="11006963" y="0"/>
                    <a:pt x="11064240" y="57277"/>
                    <a:pt x="11064240" y="128016"/>
                  </a:cubicBezTo>
                  <a:lnTo>
                    <a:pt x="11064240" y="1664208"/>
                  </a:lnTo>
                  <a:cubicBezTo>
                    <a:pt x="11064240" y="1734947"/>
                    <a:pt x="11006963" y="1792224"/>
                    <a:pt x="10936224" y="1792224"/>
                  </a:cubicBezTo>
                  <a:lnTo>
                    <a:pt x="128016" y="1792224"/>
                  </a:lnTo>
                  <a:cubicBezTo>
                    <a:pt x="57277" y="1792224"/>
                    <a:pt x="0" y="1734947"/>
                    <a:pt x="0" y="1664208"/>
                  </a:cubicBezTo>
                  <a:close/>
                </a:path>
              </a:pathLst>
            </a:custGeom>
            <a:solidFill>
              <a:srgbClr val="E8F3EC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60120" y="2564892"/>
            <a:ext cx="877824" cy="877824"/>
            <a:chOff x="0" y="0"/>
            <a:chExt cx="1170432" cy="117043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585216"/>
                  </a:moveTo>
                  <a:cubicBezTo>
                    <a:pt x="0" y="262001"/>
                    <a:pt x="262001" y="0"/>
                    <a:pt x="585216" y="0"/>
                  </a:cubicBezTo>
                  <a:cubicBezTo>
                    <a:pt x="908431" y="0"/>
                    <a:pt x="1170432" y="262001"/>
                    <a:pt x="1170432" y="585216"/>
                  </a:cubicBezTo>
                  <a:cubicBezTo>
                    <a:pt x="1170432" y="908431"/>
                    <a:pt x="908431" y="1170432"/>
                    <a:pt x="585216" y="1170432"/>
                  </a:cubicBezTo>
                  <a:cubicBezTo>
                    <a:pt x="262001" y="1170432"/>
                    <a:pt x="0" y="908431"/>
                    <a:pt x="0" y="585216"/>
                  </a:cubicBez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60120" y="2564892"/>
            <a:ext cx="877824" cy="877824"/>
            <a:chOff x="0" y="0"/>
            <a:chExt cx="1170432" cy="117043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1170432" cy="11894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01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2125980" y="2331720"/>
            <a:ext cx="6583680" cy="1344168"/>
            <a:chOff x="0" y="0"/>
            <a:chExt cx="8778240" cy="179222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778240" cy="1792224"/>
            </a:xfrm>
            <a:custGeom>
              <a:avLst/>
              <a:gdLst/>
              <a:ahLst/>
              <a:cxnLst/>
              <a:rect r="r" b="b" t="t" l="l"/>
              <a:pathLst>
                <a:path h="1792224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1792224"/>
                  </a:lnTo>
                  <a:lnTo>
                    <a:pt x="0" y="179222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5436" r="0" b="-45436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8778240" cy="18398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Inicio de sesión con autenticación JWT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532620" y="2331720"/>
            <a:ext cx="8298180" cy="1344168"/>
            <a:chOff x="0" y="0"/>
            <a:chExt cx="11064240" cy="179222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064240" cy="1792224"/>
            </a:xfrm>
            <a:custGeom>
              <a:avLst/>
              <a:gdLst/>
              <a:ahLst/>
              <a:cxnLst/>
              <a:rect r="r" b="b" t="t" l="l"/>
              <a:pathLst>
                <a:path h="1792224" w="11064240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10936224" y="0"/>
                  </a:lnTo>
                  <a:cubicBezTo>
                    <a:pt x="11006963" y="0"/>
                    <a:pt x="11064240" y="57277"/>
                    <a:pt x="11064240" y="128016"/>
                  </a:cubicBezTo>
                  <a:lnTo>
                    <a:pt x="11064240" y="1664208"/>
                  </a:lnTo>
                  <a:cubicBezTo>
                    <a:pt x="11064240" y="1734947"/>
                    <a:pt x="11006963" y="1792224"/>
                    <a:pt x="10936224" y="1792224"/>
                  </a:cubicBezTo>
                  <a:lnTo>
                    <a:pt x="128016" y="1792224"/>
                  </a:lnTo>
                  <a:cubicBezTo>
                    <a:pt x="57277" y="1792224"/>
                    <a:pt x="0" y="1734947"/>
                    <a:pt x="0" y="1664208"/>
                  </a:cubicBezTo>
                  <a:close/>
                </a:path>
              </a:pathLst>
            </a:custGeom>
            <a:solidFill>
              <a:srgbClr val="E8F3EC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9806940" y="2564892"/>
            <a:ext cx="877824" cy="877824"/>
            <a:chOff x="0" y="0"/>
            <a:chExt cx="1170432" cy="117043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585216"/>
                  </a:moveTo>
                  <a:cubicBezTo>
                    <a:pt x="0" y="262001"/>
                    <a:pt x="262001" y="0"/>
                    <a:pt x="585216" y="0"/>
                  </a:cubicBezTo>
                  <a:cubicBezTo>
                    <a:pt x="908431" y="0"/>
                    <a:pt x="1170432" y="262001"/>
                    <a:pt x="1170432" y="585216"/>
                  </a:cubicBezTo>
                  <a:cubicBezTo>
                    <a:pt x="1170432" y="908431"/>
                    <a:pt x="908431" y="1170432"/>
                    <a:pt x="585216" y="1170432"/>
                  </a:cubicBezTo>
                  <a:cubicBezTo>
                    <a:pt x="262001" y="1170432"/>
                    <a:pt x="0" y="908431"/>
                    <a:pt x="0" y="585216"/>
                  </a:cubicBez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806940" y="2564892"/>
            <a:ext cx="877824" cy="877824"/>
            <a:chOff x="0" y="0"/>
            <a:chExt cx="1170432" cy="117043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1170432" cy="11894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02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0972800" y="2331720"/>
            <a:ext cx="6583680" cy="1344168"/>
            <a:chOff x="0" y="0"/>
            <a:chExt cx="8778240" cy="179222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778240" cy="1792224"/>
            </a:xfrm>
            <a:custGeom>
              <a:avLst/>
              <a:gdLst/>
              <a:ahLst/>
              <a:cxnLst/>
              <a:rect r="r" b="b" t="t" l="l"/>
              <a:pathLst>
                <a:path h="1792224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1792224"/>
                  </a:lnTo>
                  <a:lnTo>
                    <a:pt x="0" y="179222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5436" r="0" b="-45436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8778240" cy="18398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Cierre de sesión seguro, invalidando el token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85800" y="3922776"/>
            <a:ext cx="8298180" cy="1344168"/>
            <a:chOff x="0" y="0"/>
            <a:chExt cx="11064240" cy="179222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1064240" cy="1792224"/>
            </a:xfrm>
            <a:custGeom>
              <a:avLst/>
              <a:gdLst/>
              <a:ahLst/>
              <a:cxnLst/>
              <a:rect r="r" b="b" t="t" l="l"/>
              <a:pathLst>
                <a:path h="1792224" w="11064240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10936224" y="0"/>
                  </a:lnTo>
                  <a:cubicBezTo>
                    <a:pt x="11006963" y="0"/>
                    <a:pt x="11064240" y="57277"/>
                    <a:pt x="11064240" y="128016"/>
                  </a:cubicBezTo>
                  <a:lnTo>
                    <a:pt x="11064240" y="1664208"/>
                  </a:lnTo>
                  <a:cubicBezTo>
                    <a:pt x="11064240" y="1734947"/>
                    <a:pt x="11006963" y="1792224"/>
                    <a:pt x="10936224" y="1792224"/>
                  </a:cubicBezTo>
                  <a:lnTo>
                    <a:pt x="128016" y="1792224"/>
                  </a:lnTo>
                  <a:cubicBezTo>
                    <a:pt x="57277" y="1792224"/>
                    <a:pt x="0" y="1734947"/>
                    <a:pt x="0" y="1664208"/>
                  </a:cubicBezTo>
                  <a:close/>
                </a:path>
              </a:pathLst>
            </a:custGeom>
            <a:solidFill>
              <a:srgbClr val="E8F3EC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960120" y="4155948"/>
            <a:ext cx="877824" cy="877824"/>
            <a:chOff x="0" y="0"/>
            <a:chExt cx="1170432" cy="117043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585216"/>
                  </a:moveTo>
                  <a:cubicBezTo>
                    <a:pt x="0" y="262001"/>
                    <a:pt x="262001" y="0"/>
                    <a:pt x="585216" y="0"/>
                  </a:cubicBezTo>
                  <a:cubicBezTo>
                    <a:pt x="908431" y="0"/>
                    <a:pt x="1170432" y="262001"/>
                    <a:pt x="1170432" y="585216"/>
                  </a:cubicBezTo>
                  <a:cubicBezTo>
                    <a:pt x="1170432" y="908431"/>
                    <a:pt x="908431" y="1170432"/>
                    <a:pt x="585216" y="1170432"/>
                  </a:cubicBezTo>
                  <a:cubicBezTo>
                    <a:pt x="262001" y="1170432"/>
                    <a:pt x="0" y="908431"/>
                    <a:pt x="0" y="585216"/>
                  </a:cubicBez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960120" y="4155948"/>
            <a:ext cx="877824" cy="877824"/>
            <a:chOff x="0" y="0"/>
            <a:chExt cx="1170432" cy="117043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19050"/>
              <a:ext cx="1170432" cy="11894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03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2125980" y="3922776"/>
            <a:ext cx="6583680" cy="1344168"/>
            <a:chOff x="0" y="0"/>
            <a:chExt cx="8778240" cy="1792224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778240" cy="1792224"/>
            </a:xfrm>
            <a:custGeom>
              <a:avLst/>
              <a:gdLst/>
              <a:ahLst/>
              <a:cxnLst/>
              <a:rect r="r" b="b" t="t" l="l"/>
              <a:pathLst>
                <a:path h="1792224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1792224"/>
                  </a:lnTo>
                  <a:lnTo>
                    <a:pt x="0" y="179222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5436" r="0" b="-45436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47625"/>
              <a:ext cx="8778240" cy="18398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Dashboard principal según el rol autenticado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9532620" y="3922776"/>
            <a:ext cx="8298180" cy="1344168"/>
            <a:chOff x="0" y="0"/>
            <a:chExt cx="11064240" cy="1792224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1064240" cy="1792224"/>
            </a:xfrm>
            <a:custGeom>
              <a:avLst/>
              <a:gdLst/>
              <a:ahLst/>
              <a:cxnLst/>
              <a:rect r="r" b="b" t="t" l="l"/>
              <a:pathLst>
                <a:path h="1792224" w="11064240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10936224" y="0"/>
                  </a:lnTo>
                  <a:cubicBezTo>
                    <a:pt x="11006963" y="0"/>
                    <a:pt x="11064240" y="57277"/>
                    <a:pt x="11064240" y="128016"/>
                  </a:cubicBezTo>
                  <a:lnTo>
                    <a:pt x="11064240" y="1664208"/>
                  </a:lnTo>
                  <a:cubicBezTo>
                    <a:pt x="11064240" y="1734947"/>
                    <a:pt x="11006963" y="1792224"/>
                    <a:pt x="10936224" y="1792224"/>
                  </a:cubicBezTo>
                  <a:lnTo>
                    <a:pt x="128016" y="1792224"/>
                  </a:lnTo>
                  <a:cubicBezTo>
                    <a:pt x="57277" y="1792224"/>
                    <a:pt x="0" y="1734947"/>
                    <a:pt x="0" y="1664208"/>
                  </a:cubicBezTo>
                  <a:close/>
                </a:path>
              </a:pathLst>
            </a:custGeom>
            <a:solidFill>
              <a:srgbClr val="E8F3EC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9806940" y="4155948"/>
            <a:ext cx="877824" cy="877824"/>
            <a:chOff x="0" y="0"/>
            <a:chExt cx="1170432" cy="117043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585216"/>
                  </a:moveTo>
                  <a:cubicBezTo>
                    <a:pt x="0" y="262001"/>
                    <a:pt x="262001" y="0"/>
                    <a:pt x="585216" y="0"/>
                  </a:cubicBezTo>
                  <a:cubicBezTo>
                    <a:pt x="908431" y="0"/>
                    <a:pt x="1170432" y="262001"/>
                    <a:pt x="1170432" y="585216"/>
                  </a:cubicBezTo>
                  <a:cubicBezTo>
                    <a:pt x="1170432" y="908431"/>
                    <a:pt x="908431" y="1170432"/>
                    <a:pt x="585216" y="1170432"/>
                  </a:cubicBezTo>
                  <a:cubicBezTo>
                    <a:pt x="262001" y="1170432"/>
                    <a:pt x="0" y="908431"/>
                    <a:pt x="0" y="585216"/>
                  </a:cubicBez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9806940" y="4155948"/>
            <a:ext cx="877824" cy="877824"/>
            <a:chOff x="0" y="0"/>
            <a:chExt cx="1170432" cy="1170432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19050"/>
              <a:ext cx="1170432" cy="11894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04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0972800" y="3922776"/>
            <a:ext cx="6583680" cy="1344168"/>
            <a:chOff x="0" y="0"/>
            <a:chExt cx="8778240" cy="1792224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8778240" cy="1792224"/>
            </a:xfrm>
            <a:custGeom>
              <a:avLst/>
              <a:gdLst/>
              <a:ahLst/>
              <a:cxnLst/>
              <a:rect r="r" b="b" t="t" l="l"/>
              <a:pathLst>
                <a:path h="1792224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1792224"/>
                  </a:lnTo>
                  <a:lnTo>
                    <a:pt x="0" y="179222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5436" r="0" b="-45436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47625"/>
              <a:ext cx="8778240" cy="18398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Registro de usuarios administradores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685800" y="5513832"/>
            <a:ext cx="8298180" cy="1344168"/>
            <a:chOff x="0" y="0"/>
            <a:chExt cx="11064240" cy="1792224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1064240" cy="1792224"/>
            </a:xfrm>
            <a:custGeom>
              <a:avLst/>
              <a:gdLst/>
              <a:ahLst/>
              <a:cxnLst/>
              <a:rect r="r" b="b" t="t" l="l"/>
              <a:pathLst>
                <a:path h="1792224" w="11064240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10936224" y="0"/>
                  </a:lnTo>
                  <a:cubicBezTo>
                    <a:pt x="11006963" y="0"/>
                    <a:pt x="11064240" y="57277"/>
                    <a:pt x="11064240" y="128016"/>
                  </a:cubicBezTo>
                  <a:lnTo>
                    <a:pt x="11064240" y="1664208"/>
                  </a:lnTo>
                  <a:cubicBezTo>
                    <a:pt x="11064240" y="1734947"/>
                    <a:pt x="11006963" y="1792224"/>
                    <a:pt x="10936224" y="1792224"/>
                  </a:cubicBezTo>
                  <a:lnTo>
                    <a:pt x="128016" y="1792224"/>
                  </a:lnTo>
                  <a:cubicBezTo>
                    <a:pt x="57277" y="1792224"/>
                    <a:pt x="0" y="1734947"/>
                    <a:pt x="0" y="1664208"/>
                  </a:cubicBezTo>
                  <a:close/>
                </a:path>
              </a:pathLst>
            </a:custGeom>
            <a:solidFill>
              <a:srgbClr val="E8F3EC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960120" y="5747004"/>
            <a:ext cx="877824" cy="877824"/>
            <a:chOff x="0" y="0"/>
            <a:chExt cx="1170432" cy="1170432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585216"/>
                  </a:moveTo>
                  <a:cubicBezTo>
                    <a:pt x="0" y="262001"/>
                    <a:pt x="262001" y="0"/>
                    <a:pt x="585216" y="0"/>
                  </a:cubicBezTo>
                  <a:cubicBezTo>
                    <a:pt x="908431" y="0"/>
                    <a:pt x="1170432" y="262001"/>
                    <a:pt x="1170432" y="585216"/>
                  </a:cubicBezTo>
                  <a:cubicBezTo>
                    <a:pt x="1170432" y="908431"/>
                    <a:pt x="908431" y="1170432"/>
                    <a:pt x="585216" y="1170432"/>
                  </a:cubicBezTo>
                  <a:cubicBezTo>
                    <a:pt x="262001" y="1170432"/>
                    <a:pt x="0" y="908431"/>
                    <a:pt x="0" y="585216"/>
                  </a:cubicBez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960120" y="5747004"/>
            <a:ext cx="877824" cy="877824"/>
            <a:chOff x="0" y="0"/>
            <a:chExt cx="1170432" cy="117043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19050"/>
              <a:ext cx="1170432" cy="11894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05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2125980" y="5513832"/>
            <a:ext cx="6583680" cy="1344168"/>
            <a:chOff x="0" y="0"/>
            <a:chExt cx="8778240" cy="1792224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8778240" cy="1792224"/>
            </a:xfrm>
            <a:custGeom>
              <a:avLst/>
              <a:gdLst/>
              <a:ahLst/>
              <a:cxnLst/>
              <a:rect r="r" b="b" t="t" l="l"/>
              <a:pathLst>
                <a:path h="1792224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1792224"/>
                  </a:lnTo>
                  <a:lnTo>
                    <a:pt x="0" y="179222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5436" r="0" b="-45436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47625"/>
              <a:ext cx="8778240" cy="18398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Gestión de usuarios (CRUD completo)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9532620" y="5513832"/>
            <a:ext cx="8298180" cy="1344168"/>
            <a:chOff x="0" y="0"/>
            <a:chExt cx="11064240" cy="1792224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1064240" cy="1792224"/>
            </a:xfrm>
            <a:custGeom>
              <a:avLst/>
              <a:gdLst/>
              <a:ahLst/>
              <a:cxnLst/>
              <a:rect r="r" b="b" t="t" l="l"/>
              <a:pathLst>
                <a:path h="1792224" w="11064240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10936224" y="0"/>
                  </a:lnTo>
                  <a:cubicBezTo>
                    <a:pt x="11006963" y="0"/>
                    <a:pt x="11064240" y="57277"/>
                    <a:pt x="11064240" y="128016"/>
                  </a:cubicBezTo>
                  <a:lnTo>
                    <a:pt x="11064240" y="1664208"/>
                  </a:lnTo>
                  <a:cubicBezTo>
                    <a:pt x="11064240" y="1734947"/>
                    <a:pt x="11006963" y="1792224"/>
                    <a:pt x="10936224" y="1792224"/>
                  </a:cubicBezTo>
                  <a:lnTo>
                    <a:pt x="128016" y="1792224"/>
                  </a:lnTo>
                  <a:cubicBezTo>
                    <a:pt x="57277" y="1792224"/>
                    <a:pt x="0" y="1734947"/>
                    <a:pt x="0" y="1664208"/>
                  </a:cubicBezTo>
                  <a:close/>
                </a:path>
              </a:pathLst>
            </a:custGeom>
            <a:solidFill>
              <a:srgbClr val="E8F3EC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9806940" y="5747004"/>
            <a:ext cx="877824" cy="877824"/>
            <a:chOff x="0" y="0"/>
            <a:chExt cx="1170432" cy="1170432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585216"/>
                  </a:moveTo>
                  <a:cubicBezTo>
                    <a:pt x="0" y="262001"/>
                    <a:pt x="262001" y="0"/>
                    <a:pt x="585216" y="0"/>
                  </a:cubicBezTo>
                  <a:cubicBezTo>
                    <a:pt x="908431" y="0"/>
                    <a:pt x="1170432" y="262001"/>
                    <a:pt x="1170432" y="585216"/>
                  </a:cubicBezTo>
                  <a:cubicBezTo>
                    <a:pt x="1170432" y="908431"/>
                    <a:pt x="908431" y="1170432"/>
                    <a:pt x="585216" y="1170432"/>
                  </a:cubicBezTo>
                  <a:cubicBezTo>
                    <a:pt x="262001" y="1170432"/>
                    <a:pt x="0" y="908431"/>
                    <a:pt x="0" y="585216"/>
                  </a:cubicBez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9806940" y="5747004"/>
            <a:ext cx="877824" cy="877824"/>
            <a:chOff x="0" y="0"/>
            <a:chExt cx="1170432" cy="1170432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19050"/>
              <a:ext cx="1170432" cy="11894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06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0972800" y="5513832"/>
            <a:ext cx="6583680" cy="1344168"/>
            <a:chOff x="0" y="0"/>
            <a:chExt cx="8778240" cy="1792224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8778240" cy="1792224"/>
            </a:xfrm>
            <a:custGeom>
              <a:avLst/>
              <a:gdLst/>
              <a:ahLst/>
              <a:cxnLst/>
              <a:rect r="r" b="b" t="t" l="l"/>
              <a:pathLst>
                <a:path h="1792224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1792224"/>
                  </a:lnTo>
                  <a:lnTo>
                    <a:pt x="0" y="179222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5436" r="0" b="-45436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47625"/>
              <a:ext cx="8778240" cy="18398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Gestión de grupos universitarios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685800" y="7104888"/>
            <a:ext cx="8298180" cy="1344168"/>
            <a:chOff x="0" y="0"/>
            <a:chExt cx="11064240" cy="1792224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1064240" cy="1792224"/>
            </a:xfrm>
            <a:custGeom>
              <a:avLst/>
              <a:gdLst/>
              <a:ahLst/>
              <a:cxnLst/>
              <a:rect r="r" b="b" t="t" l="l"/>
              <a:pathLst>
                <a:path h="1792224" w="11064240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10936224" y="0"/>
                  </a:lnTo>
                  <a:cubicBezTo>
                    <a:pt x="11006963" y="0"/>
                    <a:pt x="11064240" y="57277"/>
                    <a:pt x="11064240" y="128016"/>
                  </a:cubicBezTo>
                  <a:lnTo>
                    <a:pt x="11064240" y="1664208"/>
                  </a:lnTo>
                  <a:cubicBezTo>
                    <a:pt x="11064240" y="1734947"/>
                    <a:pt x="11006963" y="1792224"/>
                    <a:pt x="10936224" y="1792224"/>
                  </a:cubicBezTo>
                  <a:lnTo>
                    <a:pt x="128016" y="1792224"/>
                  </a:lnTo>
                  <a:cubicBezTo>
                    <a:pt x="57277" y="1792224"/>
                    <a:pt x="0" y="1734947"/>
                    <a:pt x="0" y="1664208"/>
                  </a:cubicBezTo>
                  <a:close/>
                </a:path>
              </a:pathLst>
            </a:custGeom>
            <a:solidFill>
              <a:srgbClr val="E8F3EC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960120" y="7338060"/>
            <a:ext cx="877824" cy="877824"/>
            <a:chOff x="0" y="0"/>
            <a:chExt cx="1170432" cy="1170432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585216"/>
                  </a:moveTo>
                  <a:cubicBezTo>
                    <a:pt x="0" y="262001"/>
                    <a:pt x="262001" y="0"/>
                    <a:pt x="585216" y="0"/>
                  </a:cubicBezTo>
                  <a:cubicBezTo>
                    <a:pt x="908431" y="0"/>
                    <a:pt x="1170432" y="262001"/>
                    <a:pt x="1170432" y="585216"/>
                  </a:cubicBezTo>
                  <a:cubicBezTo>
                    <a:pt x="1170432" y="908431"/>
                    <a:pt x="908431" y="1170432"/>
                    <a:pt x="585216" y="1170432"/>
                  </a:cubicBezTo>
                  <a:cubicBezTo>
                    <a:pt x="262001" y="1170432"/>
                    <a:pt x="0" y="908431"/>
                    <a:pt x="0" y="585216"/>
                  </a:cubicBez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960120" y="7338060"/>
            <a:ext cx="877824" cy="877824"/>
            <a:chOff x="0" y="0"/>
            <a:chExt cx="1170432" cy="1170432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19050"/>
              <a:ext cx="1170432" cy="11894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07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2125980" y="7104888"/>
            <a:ext cx="6583680" cy="1344168"/>
            <a:chOff x="0" y="0"/>
            <a:chExt cx="8778240" cy="1792224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8778240" cy="1792224"/>
            </a:xfrm>
            <a:custGeom>
              <a:avLst/>
              <a:gdLst/>
              <a:ahLst/>
              <a:cxnLst/>
              <a:rect r="r" b="b" t="t" l="l"/>
              <a:pathLst>
                <a:path h="1792224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1792224"/>
                  </a:lnTo>
                  <a:lnTo>
                    <a:pt x="0" y="179222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5436" r="0" b="-45436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47625"/>
              <a:ext cx="8778240" cy="18398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Gestión de estados (habilitar / inhabilitar)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9532620" y="7104888"/>
            <a:ext cx="8298180" cy="1344168"/>
            <a:chOff x="0" y="0"/>
            <a:chExt cx="11064240" cy="1792224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11064240" cy="1792224"/>
            </a:xfrm>
            <a:custGeom>
              <a:avLst/>
              <a:gdLst/>
              <a:ahLst/>
              <a:cxnLst/>
              <a:rect r="r" b="b" t="t" l="l"/>
              <a:pathLst>
                <a:path h="1792224" w="11064240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10936224" y="0"/>
                  </a:lnTo>
                  <a:cubicBezTo>
                    <a:pt x="11006963" y="0"/>
                    <a:pt x="11064240" y="57277"/>
                    <a:pt x="11064240" y="128016"/>
                  </a:cubicBezTo>
                  <a:lnTo>
                    <a:pt x="11064240" y="1664208"/>
                  </a:lnTo>
                  <a:cubicBezTo>
                    <a:pt x="11064240" y="1734947"/>
                    <a:pt x="11006963" y="1792224"/>
                    <a:pt x="10936224" y="1792224"/>
                  </a:cubicBezTo>
                  <a:lnTo>
                    <a:pt x="128016" y="1792224"/>
                  </a:lnTo>
                  <a:cubicBezTo>
                    <a:pt x="57277" y="1792224"/>
                    <a:pt x="0" y="1734947"/>
                    <a:pt x="0" y="1664208"/>
                  </a:cubicBezTo>
                  <a:close/>
                </a:path>
              </a:pathLst>
            </a:custGeom>
            <a:solidFill>
              <a:srgbClr val="E8F3EC"/>
            </a:solid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9806940" y="7338060"/>
            <a:ext cx="877824" cy="877824"/>
            <a:chOff x="0" y="0"/>
            <a:chExt cx="1170432" cy="1170432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585216"/>
                  </a:moveTo>
                  <a:cubicBezTo>
                    <a:pt x="0" y="262001"/>
                    <a:pt x="262001" y="0"/>
                    <a:pt x="585216" y="0"/>
                  </a:cubicBezTo>
                  <a:cubicBezTo>
                    <a:pt x="908431" y="0"/>
                    <a:pt x="1170432" y="262001"/>
                    <a:pt x="1170432" y="585216"/>
                  </a:cubicBezTo>
                  <a:cubicBezTo>
                    <a:pt x="1170432" y="908431"/>
                    <a:pt x="908431" y="1170432"/>
                    <a:pt x="585216" y="1170432"/>
                  </a:cubicBezTo>
                  <a:cubicBezTo>
                    <a:pt x="262001" y="1170432"/>
                    <a:pt x="0" y="908431"/>
                    <a:pt x="0" y="585216"/>
                  </a:cubicBez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9806940" y="7338060"/>
            <a:ext cx="877824" cy="877824"/>
            <a:chOff x="0" y="0"/>
            <a:chExt cx="1170432" cy="1170432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19050"/>
              <a:ext cx="1170432" cy="11894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08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10972800" y="7104888"/>
            <a:ext cx="6583680" cy="1344168"/>
            <a:chOff x="0" y="0"/>
            <a:chExt cx="8778240" cy="1792224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8778240" cy="1792224"/>
            </a:xfrm>
            <a:custGeom>
              <a:avLst/>
              <a:gdLst/>
              <a:ahLst/>
              <a:cxnLst/>
              <a:rect r="r" b="b" t="t" l="l"/>
              <a:pathLst>
                <a:path h="1792224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1792224"/>
                  </a:lnTo>
                  <a:lnTo>
                    <a:pt x="0" y="179222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5436" r="0" b="-45436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47625"/>
              <a:ext cx="8778240" cy="18398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Registro de personas con acceso físico por cédula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685800" y="9738360"/>
            <a:ext cx="4114800" cy="411480"/>
            <a:chOff x="0" y="0"/>
            <a:chExt cx="5486400" cy="54864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548640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28575"/>
              <a:ext cx="5486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B6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ASTRO SYSTEMS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6911828" y="9738360"/>
            <a:ext cx="685800" cy="411480"/>
            <a:chOff x="0" y="0"/>
            <a:chExt cx="914400" cy="54864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754380" cy="754380"/>
            <a:chOff x="0" y="0"/>
            <a:chExt cx="1005840" cy="1005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91540" y="822960"/>
            <a:ext cx="342900" cy="342900"/>
            <a:chOff x="0" y="0"/>
            <a:chExt cx="457200" cy="457200"/>
          </a:xfrm>
        </p:grpSpPr>
        <p:sp>
          <p:nvSpPr>
            <p:cNvPr name="Freeform 5" id="5" descr="img/icons/clipboard_white.png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45920" y="576072"/>
            <a:ext cx="10972800" cy="411480"/>
            <a:chOff x="0" y="0"/>
            <a:chExt cx="14630400" cy="5486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99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 · REQUERIMIENTOS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645920" y="960120"/>
            <a:ext cx="15910560" cy="822960"/>
            <a:chOff x="0" y="0"/>
            <a:chExt cx="21214080" cy="10972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2140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214080">
                  <a:moveTo>
                    <a:pt x="0" y="0"/>
                  </a:moveTo>
                  <a:lnTo>
                    <a:pt x="21214080" y="0"/>
                  </a:lnTo>
                  <a:lnTo>
                    <a:pt x="212140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26710" r="0" b="-32671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2121408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A1A1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Requerimientos funcionales (2/2)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85800" y="2331720"/>
            <a:ext cx="8298180" cy="1344168"/>
            <a:chOff x="0" y="0"/>
            <a:chExt cx="11064240" cy="179222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064240" cy="1792224"/>
            </a:xfrm>
            <a:custGeom>
              <a:avLst/>
              <a:gdLst/>
              <a:ahLst/>
              <a:cxnLst/>
              <a:rect r="r" b="b" t="t" l="l"/>
              <a:pathLst>
                <a:path h="1792224" w="11064240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10936224" y="0"/>
                  </a:lnTo>
                  <a:cubicBezTo>
                    <a:pt x="11006963" y="0"/>
                    <a:pt x="11064240" y="57277"/>
                    <a:pt x="11064240" y="128016"/>
                  </a:cubicBezTo>
                  <a:lnTo>
                    <a:pt x="11064240" y="1664208"/>
                  </a:lnTo>
                  <a:cubicBezTo>
                    <a:pt x="11064240" y="1734947"/>
                    <a:pt x="11006963" y="1792224"/>
                    <a:pt x="10936224" y="1792224"/>
                  </a:cubicBezTo>
                  <a:lnTo>
                    <a:pt x="128016" y="1792224"/>
                  </a:lnTo>
                  <a:cubicBezTo>
                    <a:pt x="57277" y="1792224"/>
                    <a:pt x="0" y="1734947"/>
                    <a:pt x="0" y="1664208"/>
                  </a:cubicBezTo>
                  <a:close/>
                </a:path>
              </a:pathLst>
            </a:custGeom>
            <a:solidFill>
              <a:srgbClr val="E8F3EC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60120" y="2564892"/>
            <a:ext cx="877824" cy="877824"/>
            <a:chOff x="0" y="0"/>
            <a:chExt cx="1170432" cy="117043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585216"/>
                  </a:moveTo>
                  <a:cubicBezTo>
                    <a:pt x="0" y="262001"/>
                    <a:pt x="262001" y="0"/>
                    <a:pt x="585216" y="0"/>
                  </a:cubicBezTo>
                  <a:cubicBezTo>
                    <a:pt x="908431" y="0"/>
                    <a:pt x="1170432" y="262001"/>
                    <a:pt x="1170432" y="585216"/>
                  </a:cubicBezTo>
                  <a:cubicBezTo>
                    <a:pt x="1170432" y="908431"/>
                    <a:pt x="908431" y="1170432"/>
                    <a:pt x="585216" y="1170432"/>
                  </a:cubicBezTo>
                  <a:cubicBezTo>
                    <a:pt x="262001" y="1170432"/>
                    <a:pt x="0" y="908431"/>
                    <a:pt x="0" y="585216"/>
                  </a:cubicBez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60120" y="2564892"/>
            <a:ext cx="877824" cy="877824"/>
            <a:chOff x="0" y="0"/>
            <a:chExt cx="1170432" cy="117043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1170432" cy="11894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09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2125980" y="2331720"/>
            <a:ext cx="6583680" cy="1344168"/>
            <a:chOff x="0" y="0"/>
            <a:chExt cx="8778240" cy="179222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778240" cy="1792224"/>
            </a:xfrm>
            <a:custGeom>
              <a:avLst/>
              <a:gdLst/>
              <a:ahLst/>
              <a:cxnLst/>
              <a:rect r="r" b="b" t="t" l="l"/>
              <a:pathLst>
                <a:path h="1792224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1792224"/>
                  </a:lnTo>
                  <a:lnTo>
                    <a:pt x="0" y="179222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5436" r="0" b="-45436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8778240" cy="18398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Configuración de accesos entre grupos y puertas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532620" y="2331720"/>
            <a:ext cx="8298180" cy="1344168"/>
            <a:chOff x="0" y="0"/>
            <a:chExt cx="11064240" cy="179222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064240" cy="1792224"/>
            </a:xfrm>
            <a:custGeom>
              <a:avLst/>
              <a:gdLst/>
              <a:ahLst/>
              <a:cxnLst/>
              <a:rect r="r" b="b" t="t" l="l"/>
              <a:pathLst>
                <a:path h="1792224" w="11064240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10936224" y="0"/>
                  </a:lnTo>
                  <a:cubicBezTo>
                    <a:pt x="11006963" y="0"/>
                    <a:pt x="11064240" y="57277"/>
                    <a:pt x="11064240" y="128016"/>
                  </a:cubicBezTo>
                  <a:lnTo>
                    <a:pt x="11064240" y="1664208"/>
                  </a:lnTo>
                  <a:cubicBezTo>
                    <a:pt x="11064240" y="1734947"/>
                    <a:pt x="11006963" y="1792224"/>
                    <a:pt x="10936224" y="1792224"/>
                  </a:cubicBezTo>
                  <a:lnTo>
                    <a:pt x="128016" y="1792224"/>
                  </a:lnTo>
                  <a:cubicBezTo>
                    <a:pt x="57277" y="1792224"/>
                    <a:pt x="0" y="1734947"/>
                    <a:pt x="0" y="1664208"/>
                  </a:cubicBezTo>
                  <a:close/>
                </a:path>
              </a:pathLst>
            </a:custGeom>
            <a:solidFill>
              <a:srgbClr val="E8F3EC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9806940" y="2564892"/>
            <a:ext cx="877824" cy="877824"/>
            <a:chOff x="0" y="0"/>
            <a:chExt cx="1170432" cy="117043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585216"/>
                  </a:moveTo>
                  <a:cubicBezTo>
                    <a:pt x="0" y="262001"/>
                    <a:pt x="262001" y="0"/>
                    <a:pt x="585216" y="0"/>
                  </a:cubicBezTo>
                  <a:cubicBezTo>
                    <a:pt x="908431" y="0"/>
                    <a:pt x="1170432" y="262001"/>
                    <a:pt x="1170432" y="585216"/>
                  </a:cubicBezTo>
                  <a:cubicBezTo>
                    <a:pt x="1170432" y="908431"/>
                    <a:pt x="908431" y="1170432"/>
                    <a:pt x="585216" y="1170432"/>
                  </a:cubicBezTo>
                  <a:cubicBezTo>
                    <a:pt x="262001" y="1170432"/>
                    <a:pt x="0" y="908431"/>
                    <a:pt x="0" y="585216"/>
                  </a:cubicBez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806940" y="2564892"/>
            <a:ext cx="877824" cy="877824"/>
            <a:chOff x="0" y="0"/>
            <a:chExt cx="1170432" cy="117043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1170432" cy="11894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10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0972800" y="2331720"/>
            <a:ext cx="6583680" cy="1344168"/>
            <a:chOff x="0" y="0"/>
            <a:chExt cx="8778240" cy="179222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778240" cy="1792224"/>
            </a:xfrm>
            <a:custGeom>
              <a:avLst/>
              <a:gdLst/>
              <a:ahLst/>
              <a:cxnLst/>
              <a:rect r="r" b="b" t="t" l="l"/>
              <a:pathLst>
                <a:path h="1792224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1792224"/>
                  </a:lnTo>
                  <a:lnTo>
                    <a:pt x="0" y="179222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5436" r="0" b="-45436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8778240" cy="18398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Consultas dinámicas con filtros combinados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85800" y="3922776"/>
            <a:ext cx="8298180" cy="1344168"/>
            <a:chOff x="0" y="0"/>
            <a:chExt cx="11064240" cy="179222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1064240" cy="1792224"/>
            </a:xfrm>
            <a:custGeom>
              <a:avLst/>
              <a:gdLst/>
              <a:ahLst/>
              <a:cxnLst/>
              <a:rect r="r" b="b" t="t" l="l"/>
              <a:pathLst>
                <a:path h="1792224" w="11064240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10936224" y="0"/>
                  </a:lnTo>
                  <a:cubicBezTo>
                    <a:pt x="11006963" y="0"/>
                    <a:pt x="11064240" y="57277"/>
                    <a:pt x="11064240" y="128016"/>
                  </a:cubicBezTo>
                  <a:lnTo>
                    <a:pt x="11064240" y="1664208"/>
                  </a:lnTo>
                  <a:cubicBezTo>
                    <a:pt x="11064240" y="1734947"/>
                    <a:pt x="11006963" y="1792224"/>
                    <a:pt x="10936224" y="1792224"/>
                  </a:cubicBezTo>
                  <a:lnTo>
                    <a:pt x="128016" y="1792224"/>
                  </a:lnTo>
                  <a:cubicBezTo>
                    <a:pt x="57277" y="1792224"/>
                    <a:pt x="0" y="1734947"/>
                    <a:pt x="0" y="1664208"/>
                  </a:cubicBezTo>
                  <a:close/>
                </a:path>
              </a:pathLst>
            </a:custGeom>
            <a:solidFill>
              <a:srgbClr val="E8F3EC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960120" y="4155948"/>
            <a:ext cx="877824" cy="877824"/>
            <a:chOff x="0" y="0"/>
            <a:chExt cx="1170432" cy="117043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585216"/>
                  </a:moveTo>
                  <a:cubicBezTo>
                    <a:pt x="0" y="262001"/>
                    <a:pt x="262001" y="0"/>
                    <a:pt x="585216" y="0"/>
                  </a:cubicBezTo>
                  <a:cubicBezTo>
                    <a:pt x="908431" y="0"/>
                    <a:pt x="1170432" y="262001"/>
                    <a:pt x="1170432" y="585216"/>
                  </a:cubicBezTo>
                  <a:cubicBezTo>
                    <a:pt x="1170432" y="908431"/>
                    <a:pt x="908431" y="1170432"/>
                    <a:pt x="585216" y="1170432"/>
                  </a:cubicBezTo>
                  <a:cubicBezTo>
                    <a:pt x="262001" y="1170432"/>
                    <a:pt x="0" y="908431"/>
                    <a:pt x="0" y="585216"/>
                  </a:cubicBez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960120" y="4155948"/>
            <a:ext cx="877824" cy="877824"/>
            <a:chOff x="0" y="0"/>
            <a:chExt cx="1170432" cy="117043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19050"/>
              <a:ext cx="1170432" cy="11894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11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2125980" y="3922776"/>
            <a:ext cx="6583680" cy="1344168"/>
            <a:chOff x="0" y="0"/>
            <a:chExt cx="8778240" cy="1792224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778240" cy="1792224"/>
            </a:xfrm>
            <a:custGeom>
              <a:avLst/>
              <a:gdLst/>
              <a:ahLst/>
              <a:cxnLst/>
              <a:rect r="r" b="b" t="t" l="l"/>
              <a:pathLst>
                <a:path h="1792224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1792224"/>
                  </a:lnTo>
                  <a:lnTo>
                    <a:pt x="0" y="179222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5436" r="0" b="-45436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47625"/>
              <a:ext cx="8778240" cy="18398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Filtros avanzados de búsqueda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9532620" y="3922776"/>
            <a:ext cx="8298180" cy="1344168"/>
            <a:chOff x="0" y="0"/>
            <a:chExt cx="11064240" cy="1792224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1064240" cy="1792224"/>
            </a:xfrm>
            <a:custGeom>
              <a:avLst/>
              <a:gdLst/>
              <a:ahLst/>
              <a:cxnLst/>
              <a:rect r="r" b="b" t="t" l="l"/>
              <a:pathLst>
                <a:path h="1792224" w="11064240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10936224" y="0"/>
                  </a:lnTo>
                  <a:cubicBezTo>
                    <a:pt x="11006963" y="0"/>
                    <a:pt x="11064240" y="57277"/>
                    <a:pt x="11064240" y="128016"/>
                  </a:cubicBezTo>
                  <a:lnTo>
                    <a:pt x="11064240" y="1664208"/>
                  </a:lnTo>
                  <a:cubicBezTo>
                    <a:pt x="11064240" y="1734947"/>
                    <a:pt x="11006963" y="1792224"/>
                    <a:pt x="10936224" y="1792224"/>
                  </a:cubicBezTo>
                  <a:lnTo>
                    <a:pt x="128016" y="1792224"/>
                  </a:lnTo>
                  <a:cubicBezTo>
                    <a:pt x="57277" y="1792224"/>
                    <a:pt x="0" y="1734947"/>
                    <a:pt x="0" y="1664208"/>
                  </a:cubicBezTo>
                  <a:close/>
                </a:path>
              </a:pathLst>
            </a:custGeom>
            <a:solidFill>
              <a:srgbClr val="E8F3EC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9806940" y="4155948"/>
            <a:ext cx="877824" cy="877824"/>
            <a:chOff x="0" y="0"/>
            <a:chExt cx="1170432" cy="117043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585216"/>
                  </a:moveTo>
                  <a:cubicBezTo>
                    <a:pt x="0" y="262001"/>
                    <a:pt x="262001" y="0"/>
                    <a:pt x="585216" y="0"/>
                  </a:cubicBezTo>
                  <a:cubicBezTo>
                    <a:pt x="908431" y="0"/>
                    <a:pt x="1170432" y="262001"/>
                    <a:pt x="1170432" y="585216"/>
                  </a:cubicBezTo>
                  <a:cubicBezTo>
                    <a:pt x="1170432" y="908431"/>
                    <a:pt x="908431" y="1170432"/>
                    <a:pt x="585216" y="1170432"/>
                  </a:cubicBezTo>
                  <a:cubicBezTo>
                    <a:pt x="262001" y="1170432"/>
                    <a:pt x="0" y="908431"/>
                    <a:pt x="0" y="585216"/>
                  </a:cubicBez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9806940" y="4155948"/>
            <a:ext cx="877824" cy="877824"/>
            <a:chOff x="0" y="0"/>
            <a:chExt cx="1170432" cy="1170432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19050"/>
              <a:ext cx="1170432" cy="11894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12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0972800" y="3922776"/>
            <a:ext cx="6583680" cy="1344168"/>
            <a:chOff x="0" y="0"/>
            <a:chExt cx="8778240" cy="1792224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8778240" cy="1792224"/>
            </a:xfrm>
            <a:custGeom>
              <a:avLst/>
              <a:gdLst/>
              <a:ahLst/>
              <a:cxnLst/>
              <a:rect r="r" b="b" t="t" l="l"/>
              <a:pathLst>
                <a:path h="1792224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1792224"/>
                  </a:lnTo>
                  <a:lnTo>
                    <a:pt x="0" y="179222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5436" r="0" b="-45436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47625"/>
              <a:ext cx="8778240" cy="18398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Auditoría de cambios administrativos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685800" y="5513832"/>
            <a:ext cx="8298180" cy="1344168"/>
            <a:chOff x="0" y="0"/>
            <a:chExt cx="11064240" cy="1792224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1064240" cy="1792224"/>
            </a:xfrm>
            <a:custGeom>
              <a:avLst/>
              <a:gdLst/>
              <a:ahLst/>
              <a:cxnLst/>
              <a:rect r="r" b="b" t="t" l="l"/>
              <a:pathLst>
                <a:path h="1792224" w="11064240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10936224" y="0"/>
                  </a:lnTo>
                  <a:cubicBezTo>
                    <a:pt x="11006963" y="0"/>
                    <a:pt x="11064240" y="57277"/>
                    <a:pt x="11064240" y="128016"/>
                  </a:cubicBezTo>
                  <a:lnTo>
                    <a:pt x="11064240" y="1664208"/>
                  </a:lnTo>
                  <a:cubicBezTo>
                    <a:pt x="11064240" y="1734947"/>
                    <a:pt x="11006963" y="1792224"/>
                    <a:pt x="10936224" y="1792224"/>
                  </a:cubicBezTo>
                  <a:lnTo>
                    <a:pt x="128016" y="1792224"/>
                  </a:lnTo>
                  <a:cubicBezTo>
                    <a:pt x="57277" y="1792224"/>
                    <a:pt x="0" y="1734947"/>
                    <a:pt x="0" y="1664208"/>
                  </a:cubicBezTo>
                  <a:close/>
                </a:path>
              </a:pathLst>
            </a:custGeom>
            <a:solidFill>
              <a:srgbClr val="E8F3EC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960120" y="5747004"/>
            <a:ext cx="877824" cy="877824"/>
            <a:chOff x="0" y="0"/>
            <a:chExt cx="1170432" cy="1170432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585216"/>
                  </a:moveTo>
                  <a:cubicBezTo>
                    <a:pt x="0" y="262001"/>
                    <a:pt x="262001" y="0"/>
                    <a:pt x="585216" y="0"/>
                  </a:cubicBezTo>
                  <a:cubicBezTo>
                    <a:pt x="908431" y="0"/>
                    <a:pt x="1170432" y="262001"/>
                    <a:pt x="1170432" y="585216"/>
                  </a:cubicBezTo>
                  <a:cubicBezTo>
                    <a:pt x="1170432" y="908431"/>
                    <a:pt x="908431" y="1170432"/>
                    <a:pt x="585216" y="1170432"/>
                  </a:cubicBezTo>
                  <a:cubicBezTo>
                    <a:pt x="262001" y="1170432"/>
                    <a:pt x="0" y="908431"/>
                    <a:pt x="0" y="585216"/>
                  </a:cubicBez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960120" y="5747004"/>
            <a:ext cx="877824" cy="877824"/>
            <a:chOff x="0" y="0"/>
            <a:chExt cx="1170432" cy="117043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19050"/>
              <a:ext cx="1170432" cy="11894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13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2125980" y="5513832"/>
            <a:ext cx="6583680" cy="1344168"/>
            <a:chOff x="0" y="0"/>
            <a:chExt cx="8778240" cy="1792224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8778240" cy="1792224"/>
            </a:xfrm>
            <a:custGeom>
              <a:avLst/>
              <a:gdLst/>
              <a:ahLst/>
              <a:cxnLst/>
              <a:rect r="r" b="b" t="t" l="l"/>
              <a:pathLst>
                <a:path h="1792224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1792224"/>
                  </a:lnTo>
                  <a:lnTo>
                    <a:pt x="0" y="179222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5436" r="0" b="-45436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47625"/>
              <a:ext cx="8778240" cy="18398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Auditoría de inicio de sesión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9532620" y="5513832"/>
            <a:ext cx="8298180" cy="1344168"/>
            <a:chOff x="0" y="0"/>
            <a:chExt cx="11064240" cy="1792224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1064240" cy="1792224"/>
            </a:xfrm>
            <a:custGeom>
              <a:avLst/>
              <a:gdLst/>
              <a:ahLst/>
              <a:cxnLst/>
              <a:rect r="r" b="b" t="t" l="l"/>
              <a:pathLst>
                <a:path h="1792224" w="11064240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10936224" y="0"/>
                  </a:lnTo>
                  <a:cubicBezTo>
                    <a:pt x="11006963" y="0"/>
                    <a:pt x="11064240" y="57277"/>
                    <a:pt x="11064240" y="128016"/>
                  </a:cubicBezTo>
                  <a:lnTo>
                    <a:pt x="11064240" y="1664208"/>
                  </a:lnTo>
                  <a:cubicBezTo>
                    <a:pt x="11064240" y="1734947"/>
                    <a:pt x="11006963" y="1792224"/>
                    <a:pt x="10936224" y="1792224"/>
                  </a:cubicBezTo>
                  <a:lnTo>
                    <a:pt x="128016" y="1792224"/>
                  </a:lnTo>
                  <a:cubicBezTo>
                    <a:pt x="57277" y="1792224"/>
                    <a:pt x="0" y="1734947"/>
                    <a:pt x="0" y="1664208"/>
                  </a:cubicBezTo>
                  <a:close/>
                </a:path>
              </a:pathLst>
            </a:custGeom>
            <a:solidFill>
              <a:srgbClr val="E8F3EC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9806940" y="5747004"/>
            <a:ext cx="877824" cy="877824"/>
            <a:chOff x="0" y="0"/>
            <a:chExt cx="1170432" cy="1170432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585216"/>
                  </a:moveTo>
                  <a:cubicBezTo>
                    <a:pt x="0" y="262001"/>
                    <a:pt x="262001" y="0"/>
                    <a:pt x="585216" y="0"/>
                  </a:cubicBezTo>
                  <a:cubicBezTo>
                    <a:pt x="908431" y="0"/>
                    <a:pt x="1170432" y="262001"/>
                    <a:pt x="1170432" y="585216"/>
                  </a:cubicBezTo>
                  <a:cubicBezTo>
                    <a:pt x="1170432" y="908431"/>
                    <a:pt x="908431" y="1170432"/>
                    <a:pt x="585216" y="1170432"/>
                  </a:cubicBezTo>
                  <a:cubicBezTo>
                    <a:pt x="262001" y="1170432"/>
                    <a:pt x="0" y="908431"/>
                    <a:pt x="0" y="585216"/>
                  </a:cubicBez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9806940" y="5747004"/>
            <a:ext cx="877824" cy="877824"/>
            <a:chOff x="0" y="0"/>
            <a:chExt cx="1170432" cy="1170432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19050"/>
              <a:ext cx="1170432" cy="11894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14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0972800" y="5513832"/>
            <a:ext cx="6583680" cy="1344168"/>
            <a:chOff x="0" y="0"/>
            <a:chExt cx="8778240" cy="1792224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8778240" cy="1792224"/>
            </a:xfrm>
            <a:custGeom>
              <a:avLst/>
              <a:gdLst/>
              <a:ahLst/>
              <a:cxnLst/>
              <a:rect r="r" b="b" t="t" l="l"/>
              <a:pathLst>
                <a:path h="1792224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1792224"/>
                  </a:lnTo>
                  <a:lnTo>
                    <a:pt x="0" y="179222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5436" r="0" b="-45436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47625"/>
              <a:ext cx="8778240" cy="18398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Historial de accesos grupo-puerta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685800" y="7104888"/>
            <a:ext cx="8298180" cy="1344168"/>
            <a:chOff x="0" y="0"/>
            <a:chExt cx="11064240" cy="1792224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1064240" cy="1792224"/>
            </a:xfrm>
            <a:custGeom>
              <a:avLst/>
              <a:gdLst/>
              <a:ahLst/>
              <a:cxnLst/>
              <a:rect r="r" b="b" t="t" l="l"/>
              <a:pathLst>
                <a:path h="1792224" w="11064240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10936224" y="0"/>
                  </a:lnTo>
                  <a:cubicBezTo>
                    <a:pt x="11006963" y="0"/>
                    <a:pt x="11064240" y="57277"/>
                    <a:pt x="11064240" y="128016"/>
                  </a:cubicBezTo>
                  <a:lnTo>
                    <a:pt x="11064240" y="1664208"/>
                  </a:lnTo>
                  <a:cubicBezTo>
                    <a:pt x="11064240" y="1734947"/>
                    <a:pt x="11006963" y="1792224"/>
                    <a:pt x="10936224" y="1792224"/>
                  </a:cubicBezTo>
                  <a:lnTo>
                    <a:pt x="128016" y="1792224"/>
                  </a:lnTo>
                  <a:cubicBezTo>
                    <a:pt x="57277" y="1792224"/>
                    <a:pt x="0" y="1734947"/>
                    <a:pt x="0" y="1664208"/>
                  </a:cubicBezTo>
                  <a:close/>
                </a:path>
              </a:pathLst>
            </a:custGeom>
            <a:solidFill>
              <a:srgbClr val="E8F3EC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960120" y="7338060"/>
            <a:ext cx="877824" cy="877824"/>
            <a:chOff x="0" y="0"/>
            <a:chExt cx="1170432" cy="1170432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585216"/>
                  </a:moveTo>
                  <a:cubicBezTo>
                    <a:pt x="0" y="262001"/>
                    <a:pt x="262001" y="0"/>
                    <a:pt x="585216" y="0"/>
                  </a:cubicBezTo>
                  <a:cubicBezTo>
                    <a:pt x="908431" y="0"/>
                    <a:pt x="1170432" y="262001"/>
                    <a:pt x="1170432" y="585216"/>
                  </a:cubicBezTo>
                  <a:cubicBezTo>
                    <a:pt x="1170432" y="908431"/>
                    <a:pt x="908431" y="1170432"/>
                    <a:pt x="585216" y="1170432"/>
                  </a:cubicBezTo>
                  <a:cubicBezTo>
                    <a:pt x="262001" y="1170432"/>
                    <a:pt x="0" y="908431"/>
                    <a:pt x="0" y="585216"/>
                  </a:cubicBez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960120" y="7338060"/>
            <a:ext cx="877824" cy="877824"/>
            <a:chOff x="0" y="0"/>
            <a:chExt cx="1170432" cy="1170432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19050"/>
              <a:ext cx="1170432" cy="11894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15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2125980" y="7104888"/>
            <a:ext cx="6583680" cy="1344168"/>
            <a:chOff x="0" y="0"/>
            <a:chExt cx="8778240" cy="1792224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8778240" cy="1792224"/>
            </a:xfrm>
            <a:custGeom>
              <a:avLst/>
              <a:gdLst/>
              <a:ahLst/>
              <a:cxnLst/>
              <a:rect r="r" b="b" t="t" l="l"/>
              <a:pathLst>
                <a:path h="1792224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1792224"/>
                  </a:lnTo>
                  <a:lnTo>
                    <a:pt x="0" y="179222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5436" r="0" b="-45436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47625"/>
              <a:ext cx="8778240" cy="18398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Gestión de roles y permisos (4 roles)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9532620" y="7104888"/>
            <a:ext cx="8298180" cy="1344168"/>
            <a:chOff x="0" y="0"/>
            <a:chExt cx="11064240" cy="1792224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11064240" cy="1792224"/>
            </a:xfrm>
            <a:custGeom>
              <a:avLst/>
              <a:gdLst/>
              <a:ahLst/>
              <a:cxnLst/>
              <a:rect r="r" b="b" t="t" l="l"/>
              <a:pathLst>
                <a:path h="1792224" w="11064240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10936224" y="0"/>
                  </a:lnTo>
                  <a:cubicBezTo>
                    <a:pt x="11006963" y="0"/>
                    <a:pt x="11064240" y="57277"/>
                    <a:pt x="11064240" y="128016"/>
                  </a:cubicBezTo>
                  <a:lnTo>
                    <a:pt x="11064240" y="1664208"/>
                  </a:lnTo>
                  <a:cubicBezTo>
                    <a:pt x="11064240" y="1734947"/>
                    <a:pt x="11006963" y="1792224"/>
                    <a:pt x="10936224" y="1792224"/>
                  </a:cubicBezTo>
                  <a:lnTo>
                    <a:pt x="128016" y="1792224"/>
                  </a:lnTo>
                  <a:cubicBezTo>
                    <a:pt x="57277" y="1792224"/>
                    <a:pt x="0" y="1734947"/>
                    <a:pt x="0" y="1664208"/>
                  </a:cubicBezTo>
                  <a:close/>
                </a:path>
              </a:pathLst>
            </a:custGeom>
            <a:solidFill>
              <a:srgbClr val="E8F3EC"/>
            </a:solid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9806940" y="7338060"/>
            <a:ext cx="877824" cy="877824"/>
            <a:chOff x="0" y="0"/>
            <a:chExt cx="1170432" cy="1170432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585216"/>
                  </a:moveTo>
                  <a:cubicBezTo>
                    <a:pt x="0" y="262001"/>
                    <a:pt x="262001" y="0"/>
                    <a:pt x="585216" y="0"/>
                  </a:cubicBezTo>
                  <a:cubicBezTo>
                    <a:pt x="908431" y="0"/>
                    <a:pt x="1170432" y="262001"/>
                    <a:pt x="1170432" y="585216"/>
                  </a:cubicBezTo>
                  <a:cubicBezTo>
                    <a:pt x="1170432" y="908431"/>
                    <a:pt x="908431" y="1170432"/>
                    <a:pt x="585216" y="1170432"/>
                  </a:cubicBezTo>
                  <a:cubicBezTo>
                    <a:pt x="262001" y="1170432"/>
                    <a:pt x="0" y="908431"/>
                    <a:pt x="0" y="585216"/>
                  </a:cubicBez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9806940" y="7338060"/>
            <a:ext cx="877824" cy="877824"/>
            <a:chOff x="0" y="0"/>
            <a:chExt cx="1170432" cy="1170432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19050"/>
              <a:ext cx="1170432" cy="11894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16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10972800" y="7104888"/>
            <a:ext cx="6583680" cy="1344168"/>
            <a:chOff x="0" y="0"/>
            <a:chExt cx="8778240" cy="1792224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8778240" cy="1792224"/>
            </a:xfrm>
            <a:custGeom>
              <a:avLst/>
              <a:gdLst/>
              <a:ahLst/>
              <a:cxnLst/>
              <a:rect r="r" b="b" t="t" l="l"/>
              <a:pathLst>
                <a:path h="1792224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1792224"/>
                  </a:lnTo>
                  <a:lnTo>
                    <a:pt x="0" y="179222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5436" r="0" b="-45436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47625"/>
              <a:ext cx="8778240" cy="18398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Búsqueda y filtrado en los registros de auditoría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685800" y="9738360"/>
            <a:ext cx="4114800" cy="411480"/>
            <a:chOff x="0" y="0"/>
            <a:chExt cx="5486400" cy="54864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548640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28575"/>
              <a:ext cx="5486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B6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ASTRO SYSTEMS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6911828" y="9738360"/>
            <a:ext cx="685800" cy="411480"/>
            <a:chOff x="0" y="0"/>
            <a:chExt cx="914400" cy="54864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754380" cy="754380"/>
            <a:chOff x="0" y="0"/>
            <a:chExt cx="1005840" cy="1005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91540" y="822960"/>
            <a:ext cx="342900" cy="342900"/>
            <a:chOff x="0" y="0"/>
            <a:chExt cx="457200" cy="457200"/>
          </a:xfrm>
        </p:grpSpPr>
        <p:sp>
          <p:nvSpPr>
            <p:cNvPr name="Freeform 5" id="5" descr="img/icons/cogs_white.png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45920" y="576072"/>
            <a:ext cx="10972800" cy="411480"/>
            <a:chOff x="0" y="0"/>
            <a:chExt cx="14630400" cy="5486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99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 · REQUERIMIENTOS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645920" y="960120"/>
            <a:ext cx="15910560" cy="822960"/>
            <a:chOff x="0" y="0"/>
            <a:chExt cx="21214080" cy="10972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2140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214080">
                  <a:moveTo>
                    <a:pt x="0" y="0"/>
                  </a:moveTo>
                  <a:lnTo>
                    <a:pt x="21214080" y="0"/>
                  </a:lnTo>
                  <a:lnTo>
                    <a:pt x="212140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26710" r="0" b="-32671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2121408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A1A1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Requerimientos no funcionales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76275" y="2390775"/>
            <a:ext cx="5368290" cy="2419350"/>
            <a:chOff x="0" y="0"/>
            <a:chExt cx="7157720" cy="3225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157720" cy="3225800"/>
            </a:xfrm>
            <a:custGeom>
              <a:avLst/>
              <a:gdLst/>
              <a:ahLst/>
              <a:cxnLst/>
              <a:rect r="r" b="b" t="t" l="l"/>
              <a:pathLst>
                <a:path h="3225800" w="7157720">
                  <a:moveTo>
                    <a:pt x="0" y="147447"/>
                  </a:moveTo>
                  <a:cubicBezTo>
                    <a:pt x="0" y="66040"/>
                    <a:pt x="66040" y="0"/>
                    <a:pt x="147447" y="0"/>
                  </a:cubicBezTo>
                  <a:lnTo>
                    <a:pt x="7010273" y="0"/>
                  </a:lnTo>
                  <a:cubicBezTo>
                    <a:pt x="7091680" y="0"/>
                    <a:pt x="7157720" y="66040"/>
                    <a:pt x="7157720" y="147447"/>
                  </a:cubicBezTo>
                  <a:lnTo>
                    <a:pt x="7157720" y="3078353"/>
                  </a:lnTo>
                  <a:cubicBezTo>
                    <a:pt x="7157720" y="3159760"/>
                    <a:pt x="7091680" y="3225800"/>
                    <a:pt x="7010273" y="3225800"/>
                  </a:cubicBezTo>
                  <a:lnTo>
                    <a:pt x="147447" y="3225800"/>
                  </a:lnTo>
                  <a:cubicBezTo>
                    <a:pt x="66040" y="3225800"/>
                    <a:pt x="0" y="3159760"/>
                    <a:pt x="0" y="3078353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8FBFA3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028700" y="2647188"/>
            <a:ext cx="4663440" cy="548640"/>
            <a:chOff x="0" y="0"/>
            <a:chExt cx="6217920" cy="7315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217920" cy="731520"/>
            </a:xfrm>
            <a:custGeom>
              <a:avLst/>
              <a:gdLst/>
              <a:ahLst/>
              <a:cxnLst/>
              <a:rect r="r" b="b" t="t" l="l"/>
              <a:pathLst>
                <a:path h="73152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5622" r="0" b="-115622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62179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 b="true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Rendimiento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028700" y="3498342"/>
            <a:ext cx="4663440" cy="314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9"/>
              </a:lnSpc>
            </a:pPr>
            <a:r>
              <a:rPr lang="en-US" sz="1824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Respuesta menor a 2 segundos por operación.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409563" y="2390775"/>
            <a:ext cx="5368290" cy="2419350"/>
            <a:chOff x="0" y="0"/>
            <a:chExt cx="7157720" cy="3225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157720" cy="3225800"/>
            </a:xfrm>
            <a:custGeom>
              <a:avLst/>
              <a:gdLst/>
              <a:ahLst/>
              <a:cxnLst/>
              <a:rect r="r" b="b" t="t" l="l"/>
              <a:pathLst>
                <a:path h="3225800" w="7157720">
                  <a:moveTo>
                    <a:pt x="0" y="147447"/>
                  </a:moveTo>
                  <a:cubicBezTo>
                    <a:pt x="0" y="66040"/>
                    <a:pt x="66040" y="0"/>
                    <a:pt x="147447" y="0"/>
                  </a:cubicBezTo>
                  <a:lnTo>
                    <a:pt x="7010273" y="0"/>
                  </a:lnTo>
                  <a:cubicBezTo>
                    <a:pt x="7091680" y="0"/>
                    <a:pt x="7157720" y="66040"/>
                    <a:pt x="7157720" y="147447"/>
                  </a:cubicBezTo>
                  <a:lnTo>
                    <a:pt x="7157720" y="3078353"/>
                  </a:lnTo>
                  <a:cubicBezTo>
                    <a:pt x="7157720" y="3159760"/>
                    <a:pt x="7091680" y="3225800"/>
                    <a:pt x="7010273" y="3225800"/>
                  </a:cubicBezTo>
                  <a:lnTo>
                    <a:pt x="147447" y="3225800"/>
                  </a:lnTo>
                  <a:cubicBezTo>
                    <a:pt x="66040" y="3225800"/>
                    <a:pt x="0" y="3159760"/>
                    <a:pt x="0" y="3078353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8FBFA3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6761988" y="2647188"/>
            <a:ext cx="4663440" cy="548640"/>
            <a:chOff x="0" y="0"/>
            <a:chExt cx="6217920" cy="7315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217920" cy="731520"/>
            </a:xfrm>
            <a:custGeom>
              <a:avLst/>
              <a:gdLst/>
              <a:ahLst/>
              <a:cxnLst/>
              <a:rect r="r" b="b" t="t" l="l"/>
              <a:pathLst>
                <a:path h="73152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5622" r="0" b="-115622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62179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 b="true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Seguridad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6761988" y="3498342"/>
            <a:ext cx="4663440" cy="590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9"/>
              </a:lnSpc>
            </a:pPr>
            <a:r>
              <a:rPr lang="en-US" sz="1824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Contraseñas con BCrypt, sesiones con JWT firmado, HTTPS.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2142851" y="2390775"/>
            <a:ext cx="5368290" cy="2419350"/>
            <a:chOff x="0" y="0"/>
            <a:chExt cx="7157720" cy="3225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157720" cy="3225800"/>
            </a:xfrm>
            <a:custGeom>
              <a:avLst/>
              <a:gdLst/>
              <a:ahLst/>
              <a:cxnLst/>
              <a:rect r="r" b="b" t="t" l="l"/>
              <a:pathLst>
                <a:path h="3225800" w="7157720">
                  <a:moveTo>
                    <a:pt x="0" y="147447"/>
                  </a:moveTo>
                  <a:cubicBezTo>
                    <a:pt x="0" y="66040"/>
                    <a:pt x="66040" y="0"/>
                    <a:pt x="147447" y="0"/>
                  </a:cubicBezTo>
                  <a:lnTo>
                    <a:pt x="7010273" y="0"/>
                  </a:lnTo>
                  <a:cubicBezTo>
                    <a:pt x="7091680" y="0"/>
                    <a:pt x="7157720" y="66040"/>
                    <a:pt x="7157720" y="147447"/>
                  </a:cubicBezTo>
                  <a:lnTo>
                    <a:pt x="7157720" y="3078353"/>
                  </a:lnTo>
                  <a:cubicBezTo>
                    <a:pt x="7157720" y="3159760"/>
                    <a:pt x="7091680" y="3225800"/>
                    <a:pt x="7010273" y="3225800"/>
                  </a:cubicBezTo>
                  <a:lnTo>
                    <a:pt x="147447" y="3225800"/>
                  </a:lnTo>
                  <a:cubicBezTo>
                    <a:pt x="66040" y="3225800"/>
                    <a:pt x="0" y="3159760"/>
                    <a:pt x="0" y="3078353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8FBFA3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2495276" y="2647188"/>
            <a:ext cx="4663440" cy="548640"/>
            <a:chOff x="0" y="0"/>
            <a:chExt cx="6217920" cy="7315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217920" cy="731520"/>
            </a:xfrm>
            <a:custGeom>
              <a:avLst/>
              <a:gdLst/>
              <a:ahLst/>
              <a:cxnLst/>
              <a:rect r="r" b="b" t="t" l="l"/>
              <a:pathLst>
                <a:path h="73152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5622" r="0" b="-115622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62179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 b="true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Usabilidad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2495276" y="3498342"/>
            <a:ext cx="4663440" cy="590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9"/>
              </a:lnSpc>
            </a:pPr>
            <a:r>
              <a:rPr lang="en-US" sz="1824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Interfaz intuitiva con retroalimentación clara ante errores.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676275" y="5800725"/>
            <a:ext cx="5368290" cy="2419350"/>
            <a:chOff x="0" y="0"/>
            <a:chExt cx="7157720" cy="3225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157720" cy="3225800"/>
            </a:xfrm>
            <a:custGeom>
              <a:avLst/>
              <a:gdLst/>
              <a:ahLst/>
              <a:cxnLst/>
              <a:rect r="r" b="b" t="t" l="l"/>
              <a:pathLst>
                <a:path h="3225800" w="7157720">
                  <a:moveTo>
                    <a:pt x="0" y="147447"/>
                  </a:moveTo>
                  <a:cubicBezTo>
                    <a:pt x="0" y="66040"/>
                    <a:pt x="66040" y="0"/>
                    <a:pt x="147447" y="0"/>
                  </a:cubicBezTo>
                  <a:lnTo>
                    <a:pt x="7010273" y="0"/>
                  </a:lnTo>
                  <a:cubicBezTo>
                    <a:pt x="7091680" y="0"/>
                    <a:pt x="7157720" y="66040"/>
                    <a:pt x="7157720" y="147447"/>
                  </a:cubicBezTo>
                  <a:lnTo>
                    <a:pt x="7157720" y="3078353"/>
                  </a:lnTo>
                  <a:cubicBezTo>
                    <a:pt x="7157720" y="3159760"/>
                    <a:pt x="7091680" y="3225800"/>
                    <a:pt x="7010273" y="3225800"/>
                  </a:cubicBezTo>
                  <a:lnTo>
                    <a:pt x="147447" y="3225800"/>
                  </a:lnTo>
                  <a:cubicBezTo>
                    <a:pt x="66040" y="3225800"/>
                    <a:pt x="0" y="3159760"/>
                    <a:pt x="0" y="3078353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8FBFA3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1028700" y="6057138"/>
            <a:ext cx="4663440" cy="548640"/>
            <a:chOff x="0" y="0"/>
            <a:chExt cx="6217920" cy="7315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217920" cy="731520"/>
            </a:xfrm>
            <a:custGeom>
              <a:avLst/>
              <a:gdLst/>
              <a:ahLst/>
              <a:cxnLst/>
              <a:rect r="r" b="b" t="t" l="l"/>
              <a:pathLst>
                <a:path h="73152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5622" r="0" b="-115622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62179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 b="true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Fiabilidad</a:t>
              </a: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1028700" y="6813042"/>
            <a:ext cx="4663440" cy="590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9"/>
              </a:lnSpc>
            </a:pPr>
            <a:r>
              <a:rPr lang="en-US" sz="1824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Disponibilidad del 99% y transacciones automaticas.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6409563" y="5800725"/>
            <a:ext cx="5368290" cy="2419350"/>
            <a:chOff x="0" y="0"/>
            <a:chExt cx="7157720" cy="32258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157720" cy="3225800"/>
            </a:xfrm>
            <a:custGeom>
              <a:avLst/>
              <a:gdLst/>
              <a:ahLst/>
              <a:cxnLst/>
              <a:rect r="r" b="b" t="t" l="l"/>
              <a:pathLst>
                <a:path h="3225800" w="7157720">
                  <a:moveTo>
                    <a:pt x="0" y="147447"/>
                  </a:moveTo>
                  <a:cubicBezTo>
                    <a:pt x="0" y="66040"/>
                    <a:pt x="66040" y="0"/>
                    <a:pt x="147447" y="0"/>
                  </a:cubicBezTo>
                  <a:lnTo>
                    <a:pt x="7010273" y="0"/>
                  </a:lnTo>
                  <a:cubicBezTo>
                    <a:pt x="7091680" y="0"/>
                    <a:pt x="7157720" y="66040"/>
                    <a:pt x="7157720" y="147447"/>
                  </a:cubicBezTo>
                  <a:lnTo>
                    <a:pt x="7157720" y="3078353"/>
                  </a:lnTo>
                  <a:cubicBezTo>
                    <a:pt x="7157720" y="3159760"/>
                    <a:pt x="7091680" y="3225800"/>
                    <a:pt x="7010273" y="3225800"/>
                  </a:cubicBezTo>
                  <a:lnTo>
                    <a:pt x="147447" y="3225800"/>
                  </a:lnTo>
                  <a:cubicBezTo>
                    <a:pt x="66040" y="3225800"/>
                    <a:pt x="0" y="3159760"/>
                    <a:pt x="0" y="3078353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8FBFA3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6761988" y="6057138"/>
            <a:ext cx="4663440" cy="548640"/>
            <a:chOff x="0" y="0"/>
            <a:chExt cx="6217920" cy="7315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217920" cy="731520"/>
            </a:xfrm>
            <a:custGeom>
              <a:avLst/>
              <a:gdLst/>
              <a:ahLst/>
              <a:cxnLst/>
              <a:rect r="r" b="b" t="t" l="l"/>
              <a:pathLst>
                <a:path h="73152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5622" r="0" b="-115622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62179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 b="true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Mantenibilidad</a:t>
              </a: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6761988" y="6813042"/>
            <a:ext cx="4663440" cy="314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9"/>
              </a:lnSpc>
            </a:pPr>
            <a:r>
              <a:rPr lang="en-US" sz="1824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Arquitectura modular siguiendo el patrón MVC.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12142851" y="5800725"/>
            <a:ext cx="5368290" cy="2419350"/>
            <a:chOff x="0" y="0"/>
            <a:chExt cx="7157720" cy="32258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7157720" cy="3225800"/>
            </a:xfrm>
            <a:custGeom>
              <a:avLst/>
              <a:gdLst/>
              <a:ahLst/>
              <a:cxnLst/>
              <a:rect r="r" b="b" t="t" l="l"/>
              <a:pathLst>
                <a:path h="3225800" w="7157720">
                  <a:moveTo>
                    <a:pt x="0" y="147447"/>
                  </a:moveTo>
                  <a:cubicBezTo>
                    <a:pt x="0" y="66040"/>
                    <a:pt x="66040" y="0"/>
                    <a:pt x="147447" y="0"/>
                  </a:cubicBezTo>
                  <a:lnTo>
                    <a:pt x="7010273" y="0"/>
                  </a:lnTo>
                  <a:cubicBezTo>
                    <a:pt x="7091680" y="0"/>
                    <a:pt x="7157720" y="66040"/>
                    <a:pt x="7157720" y="147447"/>
                  </a:cubicBezTo>
                  <a:lnTo>
                    <a:pt x="7157720" y="3078353"/>
                  </a:lnTo>
                  <a:cubicBezTo>
                    <a:pt x="7157720" y="3159760"/>
                    <a:pt x="7091680" y="3225800"/>
                    <a:pt x="7010273" y="3225800"/>
                  </a:cubicBezTo>
                  <a:lnTo>
                    <a:pt x="147447" y="3225800"/>
                  </a:lnTo>
                  <a:cubicBezTo>
                    <a:pt x="66040" y="3225800"/>
                    <a:pt x="0" y="3159760"/>
                    <a:pt x="0" y="3078353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8FBFA3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2495276" y="6057138"/>
            <a:ext cx="4663440" cy="548640"/>
            <a:chOff x="0" y="0"/>
            <a:chExt cx="6217920" cy="7315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217920" cy="731520"/>
            </a:xfrm>
            <a:custGeom>
              <a:avLst/>
              <a:gdLst/>
              <a:ahLst/>
              <a:cxnLst/>
              <a:rect r="r" b="b" t="t" l="l"/>
              <a:pathLst>
                <a:path h="73152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5622" r="0" b="-115622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62179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 b="true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Escalabilidad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12495276" y="6813042"/>
            <a:ext cx="4663440" cy="590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9"/>
              </a:lnSpc>
            </a:pPr>
            <a:r>
              <a:rPr lang="en-US" sz="1824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Soporta crecimiento de usuarios y puertas sin cambios mayores.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685800" y="9738360"/>
            <a:ext cx="4114800" cy="411480"/>
            <a:chOff x="0" y="0"/>
            <a:chExt cx="5486400" cy="54864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548640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28575"/>
              <a:ext cx="5486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B6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ASTRO SYSTEMS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6911828" y="9738360"/>
            <a:ext cx="685800" cy="411480"/>
            <a:chOff x="0" y="0"/>
            <a:chExt cx="914400" cy="54864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8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754380" cy="754380"/>
            <a:chOff x="0" y="0"/>
            <a:chExt cx="1005840" cy="1005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91540" y="822960"/>
            <a:ext cx="342900" cy="342900"/>
            <a:chOff x="0" y="0"/>
            <a:chExt cx="457200" cy="457200"/>
          </a:xfrm>
        </p:grpSpPr>
        <p:sp>
          <p:nvSpPr>
            <p:cNvPr name="Freeform 5" id="5" descr="img/icons/userShield_white.png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45920" y="576072"/>
            <a:ext cx="10972800" cy="411480"/>
            <a:chOff x="0" y="0"/>
            <a:chExt cx="14630400" cy="5486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99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 · REQUERIMIENTOS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645920" y="960120"/>
            <a:ext cx="15910560" cy="822960"/>
            <a:chOff x="0" y="0"/>
            <a:chExt cx="21214080" cy="10972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2140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214080">
                  <a:moveTo>
                    <a:pt x="0" y="0"/>
                  </a:moveTo>
                  <a:lnTo>
                    <a:pt x="21214080" y="0"/>
                  </a:lnTo>
                  <a:lnTo>
                    <a:pt x="212140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26710" r="0" b="-32671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2121408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A1A1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Roles y permisos del sistema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85800" y="2468880"/>
            <a:ext cx="3977640" cy="6172200"/>
            <a:chOff x="0" y="0"/>
            <a:chExt cx="5303520" cy="82296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303520" cy="8229600"/>
            </a:xfrm>
            <a:custGeom>
              <a:avLst/>
              <a:gdLst/>
              <a:ahLst/>
              <a:cxnLst/>
              <a:rect r="r" b="b" t="t" l="l"/>
              <a:pathLst>
                <a:path h="8229600" w="53035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157216" y="0"/>
                  </a:lnTo>
                  <a:cubicBezTo>
                    <a:pt x="5237988" y="0"/>
                    <a:pt x="5303520" y="65532"/>
                    <a:pt x="5303520" y="146304"/>
                  </a:cubicBezTo>
                  <a:lnTo>
                    <a:pt x="5303520" y="8083296"/>
                  </a:lnTo>
                  <a:cubicBezTo>
                    <a:pt x="5303520" y="8164068"/>
                    <a:pt x="5237988" y="8229600"/>
                    <a:pt x="5157216" y="8229600"/>
                  </a:cubicBezTo>
                  <a:lnTo>
                    <a:pt x="146304" y="8229600"/>
                  </a:lnTo>
                  <a:cubicBezTo>
                    <a:pt x="65532" y="8229600"/>
                    <a:pt x="0" y="8164068"/>
                    <a:pt x="0" y="8083296"/>
                  </a:cubicBezTo>
                  <a:close/>
                </a:path>
              </a:pathLst>
            </a:custGeom>
            <a:solidFill>
              <a:srgbClr val="E8F3EC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685800" y="2468880"/>
            <a:ext cx="3977640" cy="754380"/>
            <a:chOff x="0" y="0"/>
            <a:chExt cx="5303520" cy="10058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303520" cy="1005840"/>
            </a:xfrm>
            <a:custGeom>
              <a:avLst/>
              <a:gdLst/>
              <a:ahLst/>
              <a:cxnLst/>
              <a:rect r="r" b="b" t="t" l="l"/>
              <a:pathLst>
                <a:path h="1005840" w="53035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157216" y="0"/>
                  </a:lnTo>
                  <a:cubicBezTo>
                    <a:pt x="5237988" y="0"/>
                    <a:pt x="5303520" y="65532"/>
                    <a:pt x="5303520" y="146304"/>
                  </a:cubicBezTo>
                  <a:lnTo>
                    <a:pt x="5303520" y="859536"/>
                  </a:lnTo>
                  <a:cubicBezTo>
                    <a:pt x="5303520" y="940308"/>
                    <a:pt x="5237988" y="1005840"/>
                    <a:pt x="5157216" y="1005840"/>
                  </a:cubicBezTo>
                  <a:lnTo>
                    <a:pt x="146304" y="1005840"/>
                  </a:lnTo>
                  <a:cubicBezTo>
                    <a:pt x="65532" y="1005840"/>
                    <a:pt x="0" y="940308"/>
                    <a:pt x="0" y="859536"/>
                  </a:cubicBez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685800" y="2852928"/>
            <a:ext cx="3977640" cy="370332"/>
            <a:chOff x="0" y="0"/>
            <a:chExt cx="5303520" cy="49377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303520" cy="493776"/>
            </a:xfrm>
            <a:custGeom>
              <a:avLst/>
              <a:gdLst/>
              <a:ahLst/>
              <a:cxnLst/>
              <a:rect r="r" b="b" t="t" l="l"/>
              <a:pathLst>
                <a:path h="493776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493776"/>
                  </a:lnTo>
                  <a:lnTo>
                    <a:pt x="0" y="493776"/>
                  </a:ln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685800" y="2468880"/>
            <a:ext cx="3977640" cy="754380"/>
            <a:chOff x="0" y="0"/>
            <a:chExt cx="5303520" cy="10058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303520" cy="1005840"/>
            </a:xfrm>
            <a:custGeom>
              <a:avLst/>
              <a:gdLst/>
              <a:ahLst/>
              <a:cxnLst/>
              <a:rect r="r" b="b" t="t" l="l"/>
              <a:pathLst>
                <a:path h="1005840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2739" r="0" b="-52739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5303520" cy="10153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ADMIN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987552" y="3596640"/>
            <a:ext cx="3374136" cy="3896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070"/>
              </a:lnSpc>
            </a:pPr>
            <a:r>
              <a:rPr lang="en-US" sz="1725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Control total: usuarios, grupos, accesos, auditorías y configuración.</a:t>
            </a:r>
          </a:p>
          <a:p>
            <a:pPr algn="just">
              <a:lnSpc>
                <a:spcPts val="2070"/>
              </a:lnSpc>
            </a:pPr>
          </a:p>
          <a:p>
            <a:pPr algn="just" marL="372428" indent="-186214" lvl="1">
              <a:lnSpc>
                <a:spcPts val="2070"/>
              </a:lnSpc>
              <a:buFont typeface="Arial"/>
              <a:buChar char="•"/>
            </a:pPr>
            <a:r>
              <a:rPr lang="en-US" sz="1725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Crear, editar, habilitar e inhabilitar usuarios y grupos.</a:t>
            </a:r>
          </a:p>
          <a:p>
            <a:pPr algn="just">
              <a:lnSpc>
                <a:spcPts val="2070"/>
              </a:lnSpc>
            </a:pPr>
          </a:p>
          <a:p>
            <a:pPr algn="just" marL="372428" indent="-186214" lvl="1">
              <a:lnSpc>
                <a:spcPts val="2070"/>
              </a:lnSpc>
              <a:buFont typeface="Arial"/>
              <a:buChar char="•"/>
            </a:pPr>
            <a:r>
              <a:rPr lang="en-US" sz="1725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Configurar accesos entre grupos y puertas.</a:t>
            </a:r>
          </a:p>
          <a:p>
            <a:pPr algn="just">
              <a:lnSpc>
                <a:spcPts val="2070"/>
              </a:lnSpc>
            </a:pPr>
          </a:p>
          <a:p>
            <a:pPr algn="just" marL="372428" indent="-186214" lvl="1">
              <a:lnSpc>
                <a:spcPts val="2070"/>
              </a:lnSpc>
              <a:buFont typeface="Arial"/>
              <a:buChar char="•"/>
            </a:pPr>
            <a:r>
              <a:rPr lang="en-US" sz="1725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Consultar auditoría de login y de cambios.</a:t>
            </a:r>
          </a:p>
          <a:p>
            <a:pPr algn="just">
              <a:lnSpc>
                <a:spcPts val="2070"/>
              </a:lnSpc>
            </a:pPr>
          </a:p>
          <a:p>
            <a:pPr algn="just" marL="372428" indent="-186214" lvl="1">
              <a:lnSpc>
                <a:spcPts val="2070"/>
              </a:lnSpc>
              <a:buFont typeface="Arial"/>
              <a:buChar char="•"/>
            </a:pPr>
            <a:r>
              <a:rPr lang="en-US" sz="1725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Único rol con acceso a la configuración del sistema.</a:t>
            </a:r>
          </a:p>
          <a:p>
            <a:pPr algn="just">
              <a:lnSpc>
                <a:spcPts val="2070"/>
              </a:lnSpc>
            </a:pPr>
          </a:p>
        </p:txBody>
      </p:sp>
      <p:grpSp>
        <p:nvGrpSpPr>
          <p:cNvPr name="Group 22" id="22"/>
          <p:cNvGrpSpPr/>
          <p:nvPr/>
        </p:nvGrpSpPr>
        <p:grpSpPr>
          <a:xfrm rot="0">
            <a:off x="4992624" y="2468880"/>
            <a:ext cx="3977640" cy="6172200"/>
            <a:chOff x="0" y="0"/>
            <a:chExt cx="5303520" cy="82296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303520" cy="8229600"/>
            </a:xfrm>
            <a:custGeom>
              <a:avLst/>
              <a:gdLst/>
              <a:ahLst/>
              <a:cxnLst/>
              <a:rect r="r" b="b" t="t" l="l"/>
              <a:pathLst>
                <a:path h="8229600" w="53035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157216" y="0"/>
                  </a:lnTo>
                  <a:cubicBezTo>
                    <a:pt x="5237988" y="0"/>
                    <a:pt x="5303520" y="65532"/>
                    <a:pt x="5303520" y="146304"/>
                  </a:cubicBezTo>
                  <a:lnTo>
                    <a:pt x="5303520" y="8083296"/>
                  </a:lnTo>
                  <a:cubicBezTo>
                    <a:pt x="5303520" y="8164068"/>
                    <a:pt x="5237988" y="8229600"/>
                    <a:pt x="5157216" y="8229600"/>
                  </a:cubicBezTo>
                  <a:lnTo>
                    <a:pt x="146304" y="8229600"/>
                  </a:lnTo>
                  <a:cubicBezTo>
                    <a:pt x="65532" y="8229600"/>
                    <a:pt x="0" y="8164068"/>
                    <a:pt x="0" y="8083296"/>
                  </a:cubicBezTo>
                  <a:close/>
                </a:path>
              </a:pathLst>
            </a:custGeom>
            <a:solidFill>
              <a:srgbClr val="E8F3EC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4992624" y="2468880"/>
            <a:ext cx="3977640" cy="754380"/>
            <a:chOff x="0" y="0"/>
            <a:chExt cx="5303520" cy="10058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303520" cy="1005840"/>
            </a:xfrm>
            <a:custGeom>
              <a:avLst/>
              <a:gdLst/>
              <a:ahLst/>
              <a:cxnLst/>
              <a:rect r="r" b="b" t="t" l="l"/>
              <a:pathLst>
                <a:path h="1005840" w="53035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157216" y="0"/>
                  </a:lnTo>
                  <a:cubicBezTo>
                    <a:pt x="5237988" y="0"/>
                    <a:pt x="5303520" y="65532"/>
                    <a:pt x="5303520" y="146304"/>
                  </a:cubicBezTo>
                  <a:lnTo>
                    <a:pt x="5303520" y="859536"/>
                  </a:lnTo>
                  <a:cubicBezTo>
                    <a:pt x="5303520" y="940308"/>
                    <a:pt x="5237988" y="1005840"/>
                    <a:pt x="5157216" y="1005840"/>
                  </a:cubicBezTo>
                  <a:lnTo>
                    <a:pt x="146304" y="1005840"/>
                  </a:lnTo>
                  <a:cubicBezTo>
                    <a:pt x="65532" y="1005840"/>
                    <a:pt x="0" y="940308"/>
                    <a:pt x="0" y="859536"/>
                  </a:cubicBez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4992624" y="2852928"/>
            <a:ext cx="3977640" cy="370332"/>
            <a:chOff x="0" y="0"/>
            <a:chExt cx="5303520" cy="49377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303520" cy="493776"/>
            </a:xfrm>
            <a:custGeom>
              <a:avLst/>
              <a:gdLst/>
              <a:ahLst/>
              <a:cxnLst/>
              <a:rect r="r" b="b" t="t" l="l"/>
              <a:pathLst>
                <a:path h="493776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493776"/>
                  </a:lnTo>
                  <a:lnTo>
                    <a:pt x="0" y="493776"/>
                  </a:ln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4992624" y="2468880"/>
            <a:ext cx="3977640" cy="754380"/>
            <a:chOff x="0" y="0"/>
            <a:chExt cx="5303520" cy="10058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303520" cy="1005840"/>
            </a:xfrm>
            <a:custGeom>
              <a:avLst/>
              <a:gdLst/>
              <a:ahLst/>
              <a:cxnLst/>
              <a:rect r="r" b="b" t="t" l="l"/>
              <a:pathLst>
                <a:path h="1005840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2739" r="0" b="-52739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"/>
              <a:ext cx="5303520" cy="10153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USER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5294376" y="3596640"/>
            <a:ext cx="3374136" cy="2867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070"/>
              </a:lnSpc>
            </a:pPr>
            <a:r>
              <a:rPr lang="en-US" sz="1725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Uso general del panel según los módulos habilitados para su cuenta.</a:t>
            </a:r>
          </a:p>
          <a:p>
            <a:pPr algn="just">
              <a:lnSpc>
                <a:spcPts val="2070"/>
              </a:lnSpc>
            </a:pPr>
          </a:p>
          <a:p>
            <a:pPr algn="just" marL="372428" indent="-186214" lvl="1">
              <a:lnSpc>
                <a:spcPts val="2070"/>
              </a:lnSpc>
              <a:buFont typeface="Arial"/>
              <a:buChar char="•"/>
            </a:pPr>
            <a:r>
              <a:rPr lang="en-US" sz="1725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Accede a su propio dashboard.</a:t>
            </a:r>
          </a:p>
          <a:p>
            <a:pPr algn="just">
              <a:lnSpc>
                <a:spcPts val="2070"/>
              </a:lnSpc>
            </a:pPr>
          </a:p>
          <a:p>
            <a:pPr algn="just" marL="372428" indent="-186214" lvl="1">
              <a:lnSpc>
                <a:spcPts val="2070"/>
              </a:lnSpc>
              <a:buFont typeface="Arial"/>
              <a:buChar char="•"/>
            </a:pPr>
            <a:r>
              <a:rPr lang="en-US" sz="1725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Consulta información según los permisos asignados a su grupo.</a:t>
            </a:r>
          </a:p>
          <a:p>
            <a:pPr algn="just">
              <a:lnSpc>
                <a:spcPts val="2070"/>
              </a:lnSpc>
            </a:pPr>
          </a:p>
          <a:p>
            <a:pPr algn="just" marL="372428" indent="-186214" lvl="1">
              <a:lnSpc>
                <a:spcPts val="2070"/>
              </a:lnSpc>
              <a:buFont typeface="Arial"/>
              <a:buChar char="•"/>
            </a:pPr>
            <a:r>
              <a:rPr lang="en-US" sz="1725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No puede modificar usuarios, grupos ni accesos.</a:t>
            </a:r>
          </a:p>
          <a:p>
            <a:pPr algn="just">
              <a:lnSpc>
                <a:spcPts val="2070"/>
              </a:lnSpc>
            </a:pPr>
          </a:p>
        </p:txBody>
      </p:sp>
      <p:grpSp>
        <p:nvGrpSpPr>
          <p:cNvPr name="Group 32" id="32"/>
          <p:cNvGrpSpPr/>
          <p:nvPr/>
        </p:nvGrpSpPr>
        <p:grpSpPr>
          <a:xfrm rot="0">
            <a:off x="9299448" y="2468880"/>
            <a:ext cx="3977640" cy="6172200"/>
            <a:chOff x="0" y="0"/>
            <a:chExt cx="5303520" cy="82296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303520" cy="8229600"/>
            </a:xfrm>
            <a:custGeom>
              <a:avLst/>
              <a:gdLst/>
              <a:ahLst/>
              <a:cxnLst/>
              <a:rect r="r" b="b" t="t" l="l"/>
              <a:pathLst>
                <a:path h="8229600" w="53035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157216" y="0"/>
                  </a:lnTo>
                  <a:cubicBezTo>
                    <a:pt x="5237988" y="0"/>
                    <a:pt x="5303520" y="65532"/>
                    <a:pt x="5303520" y="146304"/>
                  </a:cubicBezTo>
                  <a:lnTo>
                    <a:pt x="5303520" y="8083296"/>
                  </a:lnTo>
                  <a:cubicBezTo>
                    <a:pt x="5303520" y="8164068"/>
                    <a:pt x="5237988" y="8229600"/>
                    <a:pt x="5157216" y="8229600"/>
                  </a:cubicBezTo>
                  <a:lnTo>
                    <a:pt x="146304" y="8229600"/>
                  </a:lnTo>
                  <a:cubicBezTo>
                    <a:pt x="65532" y="8229600"/>
                    <a:pt x="0" y="8164068"/>
                    <a:pt x="0" y="8083296"/>
                  </a:cubicBezTo>
                  <a:close/>
                </a:path>
              </a:pathLst>
            </a:custGeom>
            <a:solidFill>
              <a:srgbClr val="E8F3EC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9299448" y="2468880"/>
            <a:ext cx="3977640" cy="754380"/>
            <a:chOff x="0" y="0"/>
            <a:chExt cx="5303520" cy="10058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303520" cy="1005840"/>
            </a:xfrm>
            <a:custGeom>
              <a:avLst/>
              <a:gdLst/>
              <a:ahLst/>
              <a:cxnLst/>
              <a:rect r="r" b="b" t="t" l="l"/>
              <a:pathLst>
                <a:path h="1005840" w="53035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157216" y="0"/>
                  </a:lnTo>
                  <a:cubicBezTo>
                    <a:pt x="5237988" y="0"/>
                    <a:pt x="5303520" y="65532"/>
                    <a:pt x="5303520" y="146304"/>
                  </a:cubicBezTo>
                  <a:lnTo>
                    <a:pt x="5303520" y="859536"/>
                  </a:lnTo>
                  <a:cubicBezTo>
                    <a:pt x="5303520" y="940308"/>
                    <a:pt x="5237988" y="1005840"/>
                    <a:pt x="5157216" y="1005840"/>
                  </a:cubicBezTo>
                  <a:lnTo>
                    <a:pt x="146304" y="1005840"/>
                  </a:lnTo>
                  <a:cubicBezTo>
                    <a:pt x="65532" y="1005840"/>
                    <a:pt x="0" y="940308"/>
                    <a:pt x="0" y="859536"/>
                  </a:cubicBezTo>
                  <a:close/>
                </a:path>
              </a:pathLst>
            </a:custGeom>
            <a:solidFill>
              <a:srgbClr val="8FBFA3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9299448" y="2852928"/>
            <a:ext cx="3977640" cy="370332"/>
            <a:chOff x="0" y="0"/>
            <a:chExt cx="5303520" cy="49377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303520" cy="493776"/>
            </a:xfrm>
            <a:custGeom>
              <a:avLst/>
              <a:gdLst/>
              <a:ahLst/>
              <a:cxnLst/>
              <a:rect r="r" b="b" t="t" l="l"/>
              <a:pathLst>
                <a:path h="493776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493776"/>
                  </a:lnTo>
                  <a:lnTo>
                    <a:pt x="0" y="493776"/>
                  </a:lnTo>
                  <a:close/>
                </a:path>
              </a:pathLst>
            </a:custGeom>
            <a:solidFill>
              <a:srgbClr val="8FBFA3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9299448" y="2468880"/>
            <a:ext cx="3977640" cy="754380"/>
            <a:chOff x="0" y="0"/>
            <a:chExt cx="5303520" cy="10058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303520" cy="1005840"/>
            </a:xfrm>
            <a:custGeom>
              <a:avLst/>
              <a:gdLst/>
              <a:ahLst/>
              <a:cxnLst/>
              <a:rect r="r" b="b" t="t" l="l"/>
              <a:pathLst>
                <a:path h="1005840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2739" r="0" b="-52739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9525"/>
              <a:ext cx="5303520" cy="10153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1A1A1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AUDITOR</a:t>
              </a: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9601200" y="3596640"/>
            <a:ext cx="3374136" cy="3381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Solo consulta los registros de auditoría de login y de cambios.</a:t>
            </a:r>
          </a:p>
          <a:p>
            <a:pPr algn="l">
              <a:lnSpc>
                <a:spcPts val="2070"/>
              </a:lnSpc>
            </a:pPr>
          </a:p>
          <a:p>
            <a:pPr algn="l" marL="372428" indent="-186214" lvl="1">
              <a:lnSpc>
                <a:spcPts val="2070"/>
              </a:lnSpc>
              <a:buFont typeface="Arial"/>
              <a:buChar char="•"/>
            </a:pPr>
            <a:r>
              <a:rPr lang="en-US" sz="1725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Ve quién inició sesión, cuándo y con qué resultado.</a:t>
            </a:r>
          </a:p>
          <a:p>
            <a:pPr algn="l">
              <a:lnSpc>
                <a:spcPts val="2070"/>
              </a:lnSpc>
            </a:pPr>
          </a:p>
          <a:p>
            <a:pPr algn="l" marL="372428" indent="-186214" lvl="1">
              <a:lnSpc>
                <a:spcPts val="2070"/>
              </a:lnSpc>
              <a:buFont typeface="Arial"/>
              <a:buChar char="•"/>
            </a:pPr>
            <a:r>
              <a:rPr lang="en-US" sz="1725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Ve qué cambió cada administrador, cuándo y en qué entidad.</a:t>
            </a:r>
          </a:p>
          <a:p>
            <a:pPr algn="l">
              <a:lnSpc>
                <a:spcPts val="2070"/>
              </a:lnSpc>
            </a:pPr>
          </a:p>
          <a:p>
            <a:pPr algn="l" marL="372428" indent="-186214" lvl="1">
              <a:lnSpc>
                <a:spcPts val="2070"/>
              </a:lnSpc>
              <a:buFont typeface="Arial"/>
              <a:buChar char="•"/>
            </a:pPr>
            <a:r>
              <a:rPr lang="en-US" sz="1725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No puede editar ni crear ningún registro, solo visualizar.</a:t>
            </a:r>
          </a:p>
          <a:p>
            <a:pPr algn="l">
              <a:lnSpc>
                <a:spcPts val="2070"/>
              </a:lnSpc>
            </a:pPr>
          </a:p>
        </p:txBody>
      </p:sp>
      <p:grpSp>
        <p:nvGrpSpPr>
          <p:cNvPr name="Group 42" id="42"/>
          <p:cNvGrpSpPr/>
          <p:nvPr/>
        </p:nvGrpSpPr>
        <p:grpSpPr>
          <a:xfrm rot="0">
            <a:off x="13606272" y="2468880"/>
            <a:ext cx="3977640" cy="6172200"/>
            <a:chOff x="0" y="0"/>
            <a:chExt cx="5303520" cy="82296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303520" cy="8229600"/>
            </a:xfrm>
            <a:custGeom>
              <a:avLst/>
              <a:gdLst/>
              <a:ahLst/>
              <a:cxnLst/>
              <a:rect r="r" b="b" t="t" l="l"/>
              <a:pathLst>
                <a:path h="8229600" w="53035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157216" y="0"/>
                  </a:lnTo>
                  <a:cubicBezTo>
                    <a:pt x="5237988" y="0"/>
                    <a:pt x="5303520" y="65532"/>
                    <a:pt x="5303520" y="146304"/>
                  </a:cubicBezTo>
                  <a:lnTo>
                    <a:pt x="5303520" y="8083296"/>
                  </a:lnTo>
                  <a:cubicBezTo>
                    <a:pt x="5303520" y="8164068"/>
                    <a:pt x="5237988" y="8229600"/>
                    <a:pt x="5157216" y="8229600"/>
                  </a:cubicBezTo>
                  <a:lnTo>
                    <a:pt x="146304" y="8229600"/>
                  </a:lnTo>
                  <a:cubicBezTo>
                    <a:pt x="65532" y="8229600"/>
                    <a:pt x="0" y="8164068"/>
                    <a:pt x="0" y="8083296"/>
                  </a:cubicBezTo>
                  <a:close/>
                </a:path>
              </a:pathLst>
            </a:custGeom>
            <a:solidFill>
              <a:srgbClr val="E8F3EC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3606272" y="2468880"/>
            <a:ext cx="3977640" cy="754380"/>
            <a:chOff x="0" y="0"/>
            <a:chExt cx="5303520" cy="10058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303520" cy="1005840"/>
            </a:xfrm>
            <a:custGeom>
              <a:avLst/>
              <a:gdLst/>
              <a:ahLst/>
              <a:cxnLst/>
              <a:rect r="r" b="b" t="t" l="l"/>
              <a:pathLst>
                <a:path h="1005840" w="53035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157216" y="0"/>
                  </a:lnTo>
                  <a:cubicBezTo>
                    <a:pt x="5237988" y="0"/>
                    <a:pt x="5303520" y="65532"/>
                    <a:pt x="5303520" y="146304"/>
                  </a:cubicBezTo>
                  <a:lnTo>
                    <a:pt x="5303520" y="859536"/>
                  </a:lnTo>
                  <a:cubicBezTo>
                    <a:pt x="5303520" y="940308"/>
                    <a:pt x="5237988" y="1005840"/>
                    <a:pt x="5157216" y="1005840"/>
                  </a:cubicBezTo>
                  <a:lnTo>
                    <a:pt x="146304" y="1005840"/>
                  </a:lnTo>
                  <a:cubicBezTo>
                    <a:pt x="65532" y="1005840"/>
                    <a:pt x="0" y="940308"/>
                    <a:pt x="0" y="859536"/>
                  </a:cubicBezTo>
                  <a:close/>
                </a:path>
              </a:pathLst>
            </a:custGeom>
            <a:solidFill>
              <a:srgbClr val="E9C46A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3606272" y="2852928"/>
            <a:ext cx="3977640" cy="370332"/>
            <a:chOff x="0" y="0"/>
            <a:chExt cx="5303520" cy="493776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5303520" cy="493776"/>
            </a:xfrm>
            <a:custGeom>
              <a:avLst/>
              <a:gdLst/>
              <a:ahLst/>
              <a:cxnLst/>
              <a:rect r="r" b="b" t="t" l="l"/>
              <a:pathLst>
                <a:path h="493776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493776"/>
                  </a:lnTo>
                  <a:lnTo>
                    <a:pt x="0" y="493776"/>
                  </a:lnTo>
                  <a:close/>
                </a:path>
              </a:pathLst>
            </a:custGeom>
            <a:solidFill>
              <a:srgbClr val="E9C46A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3606272" y="2468880"/>
            <a:ext cx="3977640" cy="754380"/>
            <a:chOff x="0" y="0"/>
            <a:chExt cx="5303520" cy="100584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5303520" cy="1005840"/>
            </a:xfrm>
            <a:custGeom>
              <a:avLst/>
              <a:gdLst/>
              <a:ahLst/>
              <a:cxnLst/>
              <a:rect r="r" b="b" t="t" l="l"/>
              <a:pathLst>
                <a:path h="1005840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2739" r="0" b="-52739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9525"/>
              <a:ext cx="5303520" cy="10153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CONSULTOR</a:t>
              </a:r>
            </a:p>
          </p:txBody>
        </p:sp>
      </p:grpSp>
      <p:sp>
        <p:nvSpPr>
          <p:cNvPr name="TextBox 51" id="51"/>
          <p:cNvSpPr txBox="true"/>
          <p:nvPr/>
        </p:nvSpPr>
        <p:spPr>
          <a:xfrm rot="0">
            <a:off x="13908024" y="3596640"/>
            <a:ext cx="3374136" cy="2352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070"/>
              </a:lnSpc>
            </a:pPr>
            <a:r>
              <a:rPr lang="en-US" sz="1725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Solo puede ejecutar consultas dinámicas con filtros, sin editar nada.</a:t>
            </a:r>
          </a:p>
          <a:p>
            <a:pPr algn="just">
              <a:lnSpc>
                <a:spcPts val="2070"/>
              </a:lnSpc>
            </a:pPr>
          </a:p>
          <a:p>
            <a:pPr algn="just" marL="372428" indent="-186214" lvl="1">
              <a:lnSpc>
                <a:spcPts val="2070"/>
              </a:lnSpc>
              <a:buFont typeface="Arial"/>
              <a:buChar char="•"/>
            </a:pPr>
            <a:r>
              <a:rPr lang="en-US" sz="1725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Aplica filtros combinados sobre usuarios, grupos y accesos.</a:t>
            </a:r>
          </a:p>
          <a:p>
            <a:pPr algn="just">
              <a:lnSpc>
                <a:spcPts val="2070"/>
              </a:lnSpc>
            </a:pPr>
          </a:p>
          <a:p>
            <a:pPr algn="just" marL="372428" indent="-186214" lvl="1">
              <a:lnSpc>
                <a:spcPts val="2070"/>
              </a:lnSpc>
              <a:buFont typeface="Arial"/>
              <a:buChar char="•"/>
            </a:pPr>
            <a:r>
              <a:rPr lang="en-US" sz="1725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No tiene acceso a módulos de edición ni de auditoría.</a:t>
            </a:r>
          </a:p>
          <a:p>
            <a:pPr algn="just">
              <a:lnSpc>
                <a:spcPts val="2070"/>
              </a:lnSpc>
            </a:pPr>
          </a:p>
        </p:txBody>
      </p:sp>
      <p:grpSp>
        <p:nvGrpSpPr>
          <p:cNvPr name="Group 52" id="52"/>
          <p:cNvGrpSpPr/>
          <p:nvPr/>
        </p:nvGrpSpPr>
        <p:grpSpPr>
          <a:xfrm rot="0">
            <a:off x="685800" y="9738360"/>
            <a:ext cx="4114800" cy="411480"/>
            <a:chOff x="0" y="0"/>
            <a:chExt cx="5486400" cy="54864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548640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28575"/>
              <a:ext cx="5486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B6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ASTRO SYSTEMS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6911828" y="9738360"/>
            <a:ext cx="685800" cy="411480"/>
            <a:chOff x="0" y="0"/>
            <a:chExt cx="914400" cy="54864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9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754380" cy="754380"/>
            <a:chOff x="0" y="0"/>
            <a:chExt cx="1005840" cy="1005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91540" y="822960"/>
            <a:ext cx="342900" cy="342900"/>
            <a:chOff x="0" y="0"/>
            <a:chExt cx="457200" cy="457200"/>
          </a:xfrm>
        </p:grpSpPr>
        <p:sp>
          <p:nvSpPr>
            <p:cNvPr name="Freeform 5" id="5" descr="img/icons/sitemap_white.png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45920" y="576072"/>
            <a:ext cx="10972800" cy="411480"/>
            <a:chOff x="0" y="0"/>
            <a:chExt cx="14630400" cy="5486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99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 · DIAGRAMAS UML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645920" y="960120"/>
            <a:ext cx="15910560" cy="822960"/>
            <a:chOff x="0" y="0"/>
            <a:chExt cx="21214080" cy="10972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2140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214080">
                  <a:moveTo>
                    <a:pt x="0" y="0"/>
                  </a:moveTo>
                  <a:lnTo>
                    <a:pt x="21214080" y="0"/>
                  </a:lnTo>
                  <a:lnTo>
                    <a:pt x="212140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26710" r="0" b="-32671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2121408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A1A1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Diagrama de casos de uso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522357" y="2040255"/>
            <a:ext cx="5952744" cy="7440930"/>
            <a:chOff x="0" y="0"/>
            <a:chExt cx="7534656" cy="9418320"/>
          </a:xfrm>
        </p:grpSpPr>
        <p:sp>
          <p:nvSpPr>
            <p:cNvPr name="Freeform 13" id="13" descr="img/casos_uso.png"/>
            <p:cNvSpPr/>
            <p:nvPr/>
          </p:nvSpPr>
          <p:spPr>
            <a:xfrm flipH="false" flipV="false" rot="0">
              <a:off x="0" y="0"/>
              <a:ext cx="7534656" cy="9418320"/>
            </a:xfrm>
            <a:custGeom>
              <a:avLst/>
              <a:gdLst/>
              <a:ahLst/>
              <a:cxnLst/>
              <a:rect r="r" b="b" t="t" l="l"/>
              <a:pathLst>
                <a:path h="9418320" w="7534656">
                  <a:moveTo>
                    <a:pt x="0" y="0"/>
                  </a:moveTo>
                  <a:lnTo>
                    <a:pt x="7534656" y="0"/>
                  </a:lnTo>
                  <a:lnTo>
                    <a:pt x="7534656" y="9418320"/>
                  </a:lnTo>
                  <a:lnTo>
                    <a:pt x="0" y="9418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1658600" y="2400300"/>
            <a:ext cx="5897880" cy="480060"/>
            <a:chOff x="0" y="0"/>
            <a:chExt cx="7863840" cy="6400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863840" cy="640080"/>
            </a:xfrm>
            <a:custGeom>
              <a:avLst/>
              <a:gdLst/>
              <a:ahLst/>
              <a:cxnLst/>
              <a:rect r="r" b="b" t="t" l="l"/>
              <a:pathLst>
                <a:path h="640080" w="7863840">
                  <a:moveTo>
                    <a:pt x="0" y="0"/>
                  </a:moveTo>
                  <a:lnTo>
                    <a:pt x="7863840" y="0"/>
                  </a:lnTo>
                  <a:lnTo>
                    <a:pt x="78638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89387" r="0" b="-189387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786384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¿Qué representa?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1658600" y="2910840"/>
            <a:ext cx="5897880" cy="2781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Muestra las acciones que puede realizar cada rol (Administrador, Auditor, Consultor, Usuario regular) dentro del sistema.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1658600" y="5897880"/>
            <a:ext cx="5897880" cy="480060"/>
            <a:chOff x="0" y="0"/>
            <a:chExt cx="7863840" cy="6400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863840" cy="640080"/>
            </a:xfrm>
            <a:custGeom>
              <a:avLst/>
              <a:gdLst/>
              <a:ahLst/>
              <a:cxnLst/>
              <a:rect r="r" b="b" t="t" l="l"/>
              <a:pathLst>
                <a:path h="640080" w="7863840">
                  <a:moveTo>
                    <a:pt x="0" y="0"/>
                  </a:moveTo>
                  <a:lnTo>
                    <a:pt x="7863840" y="0"/>
                  </a:lnTo>
                  <a:lnTo>
                    <a:pt x="78638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89387" r="0" b="-189387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786384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¿Por qué es importante?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1658600" y="6408420"/>
            <a:ext cx="5897880" cy="2506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Define el alcance funcional real del sistema y sirvió de base para validar los requerimientos funcionales frente al profesor y entre el equipo.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685800" y="9738360"/>
            <a:ext cx="4114800" cy="411480"/>
            <a:chOff x="0" y="0"/>
            <a:chExt cx="5486400" cy="5486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48640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5486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B6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ASTRO SYSTEMS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6911828" y="9738360"/>
            <a:ext cx="685800" cy="411480"/>
            <a:chOff x="0" y="0"/>
            <a:chExt cx="914400" cy="5486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754380" cy="754380"/>
            <a:chOff x="0" y="0"/>
            <a:chExt cx="1005840" cy="1005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91540" y="822960"/>
            <a:ext cx="342900" cy="342900"/>
            <a:chOff x="0" y="0"/>
            <a:chExt cx="457200" cy="457200"/>
          </a:xfrm>
        </p:grpSpPr>
        <p:sp>
          <p:nvSpPr>
            <p:cNvPr name="Freeform 5" id="5" descr="img/icons/sitemap_white.png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45920" y="576072"/>
            <a:ext cx="10972800" cy="411480"/>
            <a:chOff x="0" y="0"/>
            <a:chExt cx="14630400" cy="5486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99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 · DIAGRAMAS UML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645920" y="960120"/>
            <a:ext cx="15910560" cy="822960"/>
            <a:chOff x="0" y="0"/>
            <a:chExt cx="21214080" cy="10972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2140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214080">
                  <a:moveTo>
                    <a:pt x="0" y="0"/>
                  </a:moveTo>
                  <a:lnTo>
                    <a:pt x="21214080" y="0"/>
                  </a:lnTo>
                  <a:lnTo>
                    <a:pt x="212140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26710" r="0" b="-32671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2121408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A1A1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Diagrama de clases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43965" y="2169795"/>
            <a:ext cx="8990209" cy="7063740"/>
            <a:chOff x="0" y="0"/>
            <a:chExt cx="11986946" cy="9418320"/>
          </a:xfrm>
        </p:grpSpPr>
        <p:sp>
          <p:nvSpPr>
            <p:cNvPr name="Freeform 13" id="13" descr="img/clases.png"/>
            <p:cNvSpPr/>
            <p:nvPr/>
          </p:nvSpPr>
          <p:spPr>
            <a:xfrm flipH="false" flipV="false" rot="0">
              <a:off x="0" y="0"/>
              <a:ext cx="11986895" cy="9418320"/>
            </a:xfrm>
            <a:custGeom>
              <a:avLst/>
              <a:gdLst/>
              <a:ahLst/>
              <a:cxnLst/>
              <a:rect r="r" b="b" t="t" l="l"/>
              <a:pathLst>
                <a:path h="9418320" w="11986895">
                  <a:moveTo>
                    <a:pt x="0" y="0"/>
                  </a:moveTo>
                  <a:lnTo>
                    <a:pt x="11986895" y="0"/>
                  </a:lnTo>
                  <a:lnTo>
                    <a:pt x="11986895" y="9418320"/>
                  </a:lnTo>
                  <a:lnTo>
                    <a:pt x="0" y="9418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1658600" y="2400300"/>
            <a:ext cx="5897880" cy="480060"/>
            <a:chOff x="0" y="0"/>
            <a:chExt cx="7863840" cy="6400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863840" cy="640080"/>
            </a:xfrm>
            <a:custGeom>
              <a:avLst/>
              <a:gdLst/>
              <a:ahLst/>
              <a:cxnLst/>
              <a:rect r="r" b="b" t="t" l="l"/>
              <a:pathLst>
                <a:path h="640080" w="7863840">
                  <a:moveTo>
                    <a:pt x="0" y="0"/>
                  </a:moveTo>
                  <a:lnTo>
                    <a:pt x="7863840" y="0"/>
                  </a:lnTo>
                  <a:lnTo>
                    <a:pt x="78638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89387" r="0" b="-189387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786384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¿Qué representa?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1658600" y="2910840"/>
            <a:ext cx="5897880" cy="2781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Representa las 8 entidades del modelo de datos (Usuario, Grupo, Área, Puerta, AccesoGrupo, UsuarioAcceso, AuditoriaLogin, AuditoriaEdicion) y sus relaciones.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1658600" y="5897880"/>
            <a:ext cx="5897880" cy="480060"/>
            <a:chOff x="0" y="0"/>
            <a:chExt cx="7863840" cy="6400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863840" cy="640080"/>
            </a:xfrm>
            <a:custGeom>
              <a:avLst/>
              <a:gdLst/>
              <a:ahLst/>
              <a:cxnLst/>
              <a:rect r="r" b="b" t="t" l="l"/>
              <a:pathLst>
                <a:path h="640080" w="7863840">
                  <a:moveTo>
                    <a:pt x="0" y="0"/>
                  </a:moveTo>
                  <a:lnTo>
                    <a:pt x="7863840" y="0"/>
                  </a:lnTo>
                  <a:lnTo>
                    <a:pt x="78638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89387" r="0" b="-189387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786384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¿Por qué es importante?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1658600" y="6408420"/>
            <a:ext cx="5897880" cy="2506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Fue la base directa para el diseño de la base de datos MySQL y las entidades JPA del backend en Spring Boot.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685800" y="9738360"/>
            <a:ext cx="4114800" cy="411480"/>
            <a:chOff x="0" y="0"/>
            <a:chExt cx="5486400" cy="5486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48640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5486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B6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ASTRO SYSTEMS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6911828" y="9738360"/>
            <a:ext cx="685800" cy="411480"/>
            <a:chOff x="0" y="0"/>
            <a:chExt cx="914400" cy="5486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11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754380" cy="754380"/>
            <a:chOff x="0" y="0"/>
            <a:chExt cx="1005840" cy="1005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91540" y="822960"/>
            <a:ext cx="342900" cy="342900"/>
            <a:chOff x="0" y="0"/>
            <a:chExt cx="457200" cy="457200"/>
          </a:xfrm>
        </p:grpSpPr>
        <p:sp>
          <p:nvSpPr>
            <p:cNvPr name="Freeform 5" id="5" descr="img/icons/sitemap_white.png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45920" y="576072"/>
            <a:ext cx="10972800" cy="411480"/>
            <a:chOff x="0" y="0"/>
            <a:chExt cx="14630400" cy="5486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99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 · DIAGRAMAS UML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645920" y="960120"/>
            <a:ext cx="15910560" cy="822960"/>
            <a:chOff x="0" y="0"/>
            <a:chExt cx="21214080" cy="10972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2140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214080">
                  <a:moveTo>
                    <a:pt x="0" y="0"/>
                  </a:moveTo>
                  <a:lnTo>
                    <a:pt x="21214080" y="0"/>
                  </a:lnTo>
                  <a:lnTo>
                    <a:pt x="212140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26710" r="0" b="-32671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2121408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A1A1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Diagrama de secuencia (1/2)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168577" y="2228850"/>
            <a:ext cx="8211703" cy="7063740"/>
            <a:chOff x="0" y="0"/>
            <a:chExt cx="10948937" cy="9418320"/>
          </a:xfrm>
        </p:grpSpPr>
        <p:sp>
          <p:nvSpPr>
            <p:cNvPr name="Freeform 13" id="13" descr="img/secuencia_top.png"/>
            <p:cNvSpPr/>
            <p:nvPr/>
          </p:nvSpPr>
          <p:spPr>
            <a:xfrm flipH="false" flipV="false" rot="0">
              <a:off x="0" y="0"/>
              <a:ext cx="10948924" cy="9418320"/>
            </a:xfrm>
            <a:custGeom>
              <a:avLst/>
              <a:gdLst/>
              <a:ahLst/>
              <a:cxnLst/>
              <a:rect r="r" b="b" t="t" l="l"/>
              <a:pathLst>
                <a:path h="9418320" w="10948924">
                  <a:moveTo>
                    <a:pt x="0" y="0"/>
                  </a:moveTo>
                  <a:lnTo>
                    <a:pt x="10948924" y="0"/>
                  </a:lnTo>
                  <a:lnTo>
                    <a:pt x="10948924" y="9418320"/>
                  </a:lnTo>
                  <a:lnTo>
                    <a:pt x="0" y="9418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1658600" y="2400300"/>
            <a:ext cx="5897880" cy="480060"/>
            <a:chOff x="0" y="0"/>
            <a:chExt cx="7863840" cy="6400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863840" cy="640080"/>
            </a:xfrm>
            <a:custGeom>
              <a:avLst/>
              <a:gdLst/>
              <a:ahLst/>
              <a:cxnLst/>
              <a:rect r="r" b="b" t="t" l="l"/>
              <a:pathLst>
                <a:path h="640080" w="7863840">
                  <a:moveTo>
                    <a:pt x="0" y="0"/>
                  </a:moveTo>
                  <a:lnTo>
                    <a:pt x="7863840" y="0"/>
                  </a:lnTo>
                  <a:lnTo>
                    <a:pt x="78638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89387" r="0" b="-189387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786384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¿Qué representa?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1658600" y="2910840"/>
            <a:ext cx="5897880" cy="11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Flujo de Inicio de sesión: valida credenciales, genera el token JWT y registra la auditoría de login. Flujo de Configuración de accesos: valida grupo y puerta, guarda el permiso y extrae el admin del JWT.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1658600" y="5897880"/>
            <a:ext cx="5897880" cy="480060"/>
            <a:chOff x="0" y="0"/>
            <a:chExt cx="7863840" cy="6400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863840" cy="640080"/>
            </a:xfrm>
            <a:custGeom>
              <a:avLst/>
              <a:gdLst/>
              <a:ahLst/>
              <a:cxnLst/>
              <a:rect r="r" b="b" t="t" l="l"/>
              <a:pathLst>
                <a:path h="640080" w="7863840">
                  <a:moveTo>
                    <a:pt x="0" y="0"/>
                  </a:moveTo>
                  <a:lnTo>
                    <a:pt x="7863840" y="0"/>
                  </a:lnTo>
                  <a:lnTo>
                    <a:pt x="78638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89387" r="0" b="-189387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786384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¿Por qué es importante?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1658600" y="6408420"/>
            <a:ext cx="5897880" cy="2506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Estos dos flujos muestran cómo cada operación queda ligada a un administrador identificado, no a un usuario anónimo.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685800" y="9738360"/>
            <a:ext cx="4114800" cy="411480"/>
            <a:chOff x="0" y="0"/>
            <a:chExt cx="5486400" cy="5486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48640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5486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B6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ASTRO SYSTEMS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6911828" y="9738360"/>
            <a:ext cx="685800" cy="411480"/>
            <a:chOff x="0" y="0"/>
            <a:chExt cx="914400" cy="5486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12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754380" cy="754380"/>
            <a:chOff x="0" y="0"/>
            <a:chExt cx="1005840" cy="1005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91540" y="822960"/>
            <a:ext cx="342900" cy="342900"/>
            <a:chOff x="0" y="0"/>
            <a:chExt cx="457200" cy="457200"/>
          </a:xfrm>
        </p:grpSpPr>
        <p:sp>
          <p:nvSpPr>
            <p:cNvPr name="Freeform 5" id="5" descr="img/icons/sitemap_white.png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45920" y="576072"/>
            <a:ext cx="10972800" cy="411480"/>
            <a:chOff x="0" y="0"/>
            <a:chExt cx="14630400" cy="5486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99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 · DIAGRAMAS UML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645920" y="960120"/>
            <a:ext cx="15910560" cy="822960"/>
            <a:chOff x="0" y="0"/>
            <a:chExt cx="21214080" cy="10972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2140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214080">
                  <a:moveTo>
                    <a:pt x="0" y="0"/>
                  </a:moveTo>
                  <a:lnTo>
                    <a:pt x="21214080" y="0"/>
                  </a:lnTo>
                  <a:lnTo>
                    <a:pt x="212140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26710" r="0" b="-32671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2121408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A1A1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Diagrama de secuencia (2/2)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30912" y="2228850"/>
            <a:ext cx="8365512" cy="7063740"/>
            <a:chOff x="0" y="0"/>
            <a:chExt cx="11154016" cy="9418320"/>
          </a:xfrm>
        </p:grpSpPr>
        <p:sp>
          <p:nvSpPr>
            <p:cNvPr name="Freeform 13" id="13" descr="img/secuencia_bottom.png"/>
            <p:cNvSpPr/>
            <p:nvPr/>
          </p:nvSpPr>
          <p:spPr>
            <a:xfrm flipH="false" flipV="false" rot="0">
              <a:off x="0" y="0"/>
              <a:ext cx="11154029" cy="9418320"/>
            </a:xfrm>
            <a:custGeom>
              <a:avLst/>
              <a:gdLst/>
              <a:ahLst/>
              <a:cxnLst/>
              <a:rect r="r" b="b" t="t" l="l"/>
              <a:pathLst>
                <a:path h="9418320" w="11154029">
                  <a:moveTo>
                    <a:pt x="0" y="0"/>
                  </a:moveTo>
                  <a:lnTo>
                    <a:pt x="11154029" y="0"/>
                  </a:lnTo>
                  <a:lnTo>
                    <a:pt x="11154029" y="9418320"/>
                  </a:lnTo>
                  <a:lnTo>
                    <a:pt x="0" y="9418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1658600" y="2400300"/>
            <a:ext cx="5897880" cy="480060"/>
            <a:chOff x="0" y="0"/>
            <a:chExt cx="7863840" cy="6400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863840" cy="640080"/>
            </a:xfrm>
            <a:custGeom>
              <a:avLst/>
              <a:gdLst/>
              <a:ahLst/>
              <a:cxnLst/>
              <a:rect r="r" b="b" t="t" l="l"/>
              <a:pathLst>
                <a:path h="640080" w="7863840">
                  <a:moveTo>
                    <a:pt x="0" y="0"/>
                  </a:moveTo>
                  <a:lnTo>
                    <a:pt x="7863840" y="0"/>
                  </a:lnTo>
                  <a:lnTo>
                    <a:pt x="78638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89387" r="0" b="-189387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786384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¿Qué representa?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1658600" y="2910840"/>
            <a:ext cx="5897880" cy="2781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Flujo de Edición de acceso físico: busca el registro, extrae el admin del token y registra el cambio antes de guardar. Flujo de Consulta cruzada: aplica filtros directo contra la base de datos, sin capa de servicio intermedia.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1658600" y="5897880"/>
            <a:ext cx="5897880" cy="480060"/>
            <a:chOff x="0" y="0"/>
            <a:chExt cx="7863840" cy="6400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863840" cy="640080"/>
            </a:xfrm>
            <a:custGeom>
              <a:avLst/>
              <a:gdLst/>
              <a:ahLst/>
              <a:cxnLst/>
              <a:rect r="r" b="b" t="t" l="l"/>
              <a:pathLst>
                <a:path h="640080" w="7863840">
                  <a:moveTo>
                    <a:pt x="0" y="0"/>
                  </a:moveTo>
                  <a:lnTo>
                    <a:pt x="7863840" y="0"/>
                  </a:lnTo>
                  <a:lnTo>
                    <a:pt x="78638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89387" r="0" b="-189387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786384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¿Por qué es importante?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1658600" y="6408420"/>
            <a:ext cx="5897880" cy="2506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Aquí se corrigió el error real del proyecto: antes el campo de administrador quedaba vacío en la auditoría de cambios.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685800" y="9738360"/>
            <a:ext cx="4114800" cy="411480"/>
            <a:chOff x="0" y="0"/>
            <a:chExt cx="5486400" cy="5486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48640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5486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B6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ASTRO SYSTEMS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6911828" y="9738360"/>
            <a:ext cx="685800" cy="411480"/>
            <a:chOff x="0" y="0"/>
            <a:chExt cx="914400" cy="5486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13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754380" cy="754380"/>
            <a:chOff x="0" y="0"/>
            <a:chExt cx="1005840" cy="1005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91540" y="822960"/>
            <a:ext cx="342900" cy="342900"/>
            <a:chOff x="0" y="0"/>
            <a:chExt cx="457200" cy="457200"/>
          </a:xfrm>
        </p:grpSpPr>
        <p:sp>
          <p:nvSpPr>
            <p:cNvPr name="Freeform 5" id="5" descr="img/icons/sitemap_white.png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45920" y="576072"/>
            <a:ext cx="10972800" cy="411480"/>
            <a:chOff x="0" y="0"/>
            <a:chExt cx="14630400" cy="5486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99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 · DIAGRAMAS UML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645920" y="960120"/>
            <a:ext cx="15910560" cy="822960"/>
            <a:chOff x="0" y="0"/>
            <a:chExt cx="21214080" cy="10972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2140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214080">
                  <a:moveTo>
                    <a:pt x="0" y="0"/>
                  </a:moveTo>
                  <a:lnTo>
                    <a:pt x="21214080" y="0"/>
                  </a:lnTo>
                  <a:lnTo>
                    <a:pt x="212140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26710" r="0" b="-32671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2121408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A1A1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Diagrama de actividad (1/2)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53490" y="2228850"/>
            <a:ext cx="9053379" cy="7063740"/>
            <a:chOff x="0" y="0"/>
            <a:chExt cx="12071172" cy="9418320"/>
          </a:xfrm>
        </p:grpSpPr>
        <p:sp>
          <p:nvSpPr>
            <p:cNvPr name="Freeform 13" id="13" descr="img/actividad_top.png"/>
            <p:cNvSpPr/>
            <p:nvPr/>
          </p:nvSpPr>
          <p:spPr>
            <a:xfrm flipH="false" flipV="false" rot="0">
              <a:off x="0" y="0"/>
              <a:ext cx="12071223" cy="9418320"/>
            </a:xfrm>
            <a:custGeom>
              <a:avLst/>
              <a:gdLst/>
              <a:ahLst/>
              <a:cxnLst/>
              <a:rect r="r" b="b" t="t" l="l"/>
              <a:pathLst>
                <a:path h="9418320" w="12071223">
                  <a:moveTo>
                    <a:pt x="0" y="0"/>
                  </a:moveTo>
                  <a:lnTo>
                    <a:pt x="12071223" y="0"/>
                  </a:lnTo>
                  <a:lnTo>
                    <a:pt x="12071223" y="9418320"/>
                  </a:lnTo>
                  <a:lnTo>
                    <a:pt x="0" y="9418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1658600" y="2400300"/>
            <a:ext cx="5897880" cy="480060"/>
            <a:chOff x="0" y="0"/>
            <a:chExt cx="7863840" cy="6400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863840" cy="640080"/>
            </a:xfrm>
            <a:custGeom>
              <a:avLst/>
              <a:gdLst/>
              <a:ahLst/>
              <a:cxnLst/>
              <a:rect r="r" b="b" t="t" l="l"/>
              <a:pathLst>
                <a:path h="640080" w="7863840">
                  <a:moveTo>
                    <a:pt x="0" y="0"/>
                  </a:moveTo>
                  <a:lnTo>
                    <a:pt x="7863840" y="0"/>
                  </a:lnTo>
                  <a:lnTo>
                    <a:pt x="78638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89387" r="0" b="-189387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786384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¿Qué representa?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1658600" y="2910840"/>
            <a:ext cx="5897880" cy="2781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Flujo de Autenticación: valida credenciales, registra la auditoría de login y genera el JWT antes de redirigir al dashboard. Flujo de Configuración de acceso: verifica que el permiso no exista antes de guardarlo.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1658600" y="5897880"/>
            <a:ext cx="5897880" cy="480060"/>
            <a:chOff x="0" y="0"/>
            <a:chExt cx="7863840" cy="6400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863840" cy="640080"/>
            </a:xfrm>
            <a:custGeom>
              <a:avLst/>
              <a:gdLst/>
              <a:ahLst/>
              <a:cxnLst/>
              <a:rect r="r" b="b" t="t" l="l"/>
              <a:pathLst>
                <a:path h="640080" w="7863840">
                  <a:moveTo>
                    <a:pt x="0" y="0"/>
                  </a:moveTo>
                  <a:lnTo>
                    <a:pt x="7863840" y="0"/>
                  </a:lnTo>
                  <a:lnTo>
                    <a:pt x="78638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89387" r="0" b="-189387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786384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¿Por qué es importante?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1658600" y="6408420"/>
            <a:ext cx="5897880" cy="2506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Ambos flujos muestran un camino de error con retorno (líneas punteadas), no solo el camino feliz.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685800" y="9738360"/>
            <a:ext cx="4114800" cy="411480"/>
            <a:chOff x="0" y="0"/>
            <a:chExt cx="5486400" cy="5486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48640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5486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B6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ASTRO SYSTEMS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6911828" y="9738360"/>
            <a:ext cx="685800" cy="411480"/>
            <a:chOff x="0" y="0"/>
            <a:chExt cx="914400" cy="5486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14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754380" cy="754380"/>
            <a:chOff x="0" y="0"/>
            <a:chExt cx="1005840" cy="1005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91540" y="822960"/>
            <a:ext cx="342900" cy="342900"/>
            <a:chOff x="0" y="0"/>
            <a:chExt cx="457200" cy="457200"/>
          </a:xfrm>
        </p:grpSpPr>
        <p:sp>
          <p:nvSpPr>
            <p:cNvPr name="Freeform 5" id="5" descr="img/icons/sitemap_white.png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45920" y="576072"/>
            <a:ext cx="10972800" cy="411480"/>
            <a:chOff x="0" y="0"/>
            <a:chExt cx="14630400" cy="5486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99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 · DIAGRAMAS UML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645920" y="960120"/>
            <a:ext cx="15910560" cy="822960"/>
            <a:chOff x="0" y="0"/>
            <a:chExt cx="21214080" cy="10972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2140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214080">
                  <a:moveTo>
                    <a:pt x="0" y="0"/>
                  </a:moveTo>
                  <a:lnTo>
                    <a:pt x="21214080" y="0"/>
                  </a:lnTo>
                  <a:lnTo>
                    <a:pt x="212140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26710" r="0" b="-32671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2121408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A1A1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Diagrama de actividad (2/2)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895596" y="2160270"/>
            <a:ext cx="8051444" cy="7063740"/>
            <a:chOff x="0" y="0"/>
            <a:chExt cx="10735259" cy="9418320"/>
          </a:xfrm>
        </p:grpSpPr>
        <p:sp>
          <p:nvSpPr>
            <p:cNvPr name="Freeform 13" id="13" descr="img/actividad_bottom.png"/>
            <p:cNvSpPr/>
            <p:nvPr/>
          </p:nvSpPr>
          <p:spPr>
            <a:xfrm flipH="false" flipV="false" rot="0">
              <a:off x="0" y="0"/>
              <a:ext cx="10735310" cy="9418320"/>
            </a:xfrm>
            <a:custGeom>
              <a:avLst/>
              <a:gdLst/>
              <a:ahLst/>
              <a:cxnLst/>
              <a:rect r="r" b="b" t="t" l="l"/>
              <a:pathLst>
                <a:path h="9418320" w="10735310">
                  <a:moveTo>
                    <a:pt x="0" y="0"/>
                  </a:moveTo>
                  <a:lnTo>
                    <a:pt x="10735310" y="0"/>
                  </a:lnTo>
                  <a:lnTo>
                    <a:pt x="10735310" y="9418320"/>
                  </a:lnTo>
                  <a:lnTo>
                    <a:pt x="0" y="9418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1658600" y="2400300"/>
            <a:ext cx="5897880" cy="480060"/>
            <a:chOff x="0" y="0"/>
            <a:chExt cx="7863840" cy="6400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863840" cy="640080"/>
            </a:xfrm>
            <a:custGeom>
              <a:avLst/>
              <a:gdLst/>
              <a:ahLst/>
              <a:cxnLst/>
              <a:rect r="r" b="b" t="t" l="l"/>
              <a:pathLst>
                <a:path h="640080" w="7863840">
                  <a:moveTo>
                    <a:pt x="0" y="0"/>
                  </a:moveTo>
                  <a:lnTo>
                    <a:pt x="7863840" y="0"/>
                  </a:lnTo>
                  <a:lnTo>
                    <a:pt x="78638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89387" r="0" b="-189387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786384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¿Qué representa?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1658600" y="2910840"/>
            <a:ext cx="5897880" cy="2781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Flujo de Gestión de datos: valida el formulario, extrae el admin del JWT y registra la auditoría antes de persistir en base de datos. Flujo de Consultas: aplica filtros y muestra resultados, sin paso de exportación.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1658600" y="5897880"/>
            <a:ext cx="5897880" cy="480060"/>
            <a:chOff x="0" y="0"/>
            <a:chExt cx="7863840" cy="6400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863840" cy="640080"/>
            </a:xfrm>
            <a:custGeom>
              <a:avLst/>
              <a:gdLst/>
              <a:ahLst/>
              <a:cxnLst/>
              <a:rect r="r" b="b" t="t" l="l"/>
              <a:pathLst>
                <a:path h="640080" w="7863840">
                  <a:moveTo>
                    <a:pt x="0" y="0"/>
                  </a:moveTo>
                  <a:lnTo>
                    <a:pt x="7863840" y="0"/>
                  </a:lnTo>
                  <a:lnTo>
                    <a:pt x="78638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89387" r="0" b="-189387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786384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¿Por qué es importante?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1658600" y="6408420"/>
            <a:ext cx="5897880" cy="2506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Confirma que toda operación crítica del sistema termina en un nodo de auditoría, sin excepciones.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685800" y="9738360"/>
            <a:ext cx="4114800" cy="411480"/>
            <a:chOff x="0" y="0"/>
            <a:chExt cx="5486400" cy="5486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48640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5486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B6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ASTRO SYSTEMS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6911828" y="9738360"/>
            <a:ext cx="685800" cy="411480"/>
            <a:chOff x="0" y="0"/>
            <a:chExt cx="914400" cy="5486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15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754380" cy="754380"/>
            <a:chOff x="0" y="0"/>
            <a:chExt cx="1005840" cy="1005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91540" y="822960"/>
            <a:ext cx="342900" cy="342900"/>
            <a:chOff x="0" y="0"/>
            <a:chExt cx="457200" cy="457200"/>
          </a:xfrm>
        </p:grpSpPr>
        <p:sp>
          <p:nvSpPr>
            <p:cNvPr name="Freeform 5" id="5" descr="img/icons/layerGroup_white.png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45920" y="576072"/>
            <a:ext cx="10972800" cy="411480"/>
            <a:chOff x="0" y="0"/>
            <a:chExt cx="14630400" cy="5486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99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05 · ARQUITECTURA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645920" y="960120"/>
            <a:ext cx="15910560" cy="822960"/>
            <a:chOff x="0" y="0"/>
            <a:chExt cx="21214080" cy="10972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2140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214080">
                  <a:moveTo>
                    <a:pt x="0" y="0"/>
                  </a:moveTo>
                  <a:lnTo>
                    <a:pt x="21214080" y="0"/>
                  </a:lnTo>
                  <a:lnTo>
                    <a:pt x="212140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26710" r="0" b="-32671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2121408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A1A1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Modelo de arquitectura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85800" y="2400300"/>
            <a:ext cx="16911828" cy="1851660"/>
            <a:chOff x="0" y="0"/>
            <a:chExt cx="22549104" cy="24688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549104" cy="2468880"/>
            </a:xfrm>
            <a:custGeom>
              <a:avLst/>
              <a:gdLst/>
              <a:ahLst/>
              <a:cxnLst/>
              <a:rect r="r" b="b" t="t" l="l"/>
              <a:pathLst>
                <a:path h="2468880" w="22549104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2402800" y="0"/>
                  </a:lnTo>
                  <a:cubicBezTo>
                    <a:pt x="22483572" y="0"/>
                    <a:pt x="22549104" y="65532"/>
                    <a:pt x="22549104" y="146304"/>
                  </a:cubicBezTo>
                  <a:lnTo>
                    <a:pt x="22549104" y="2322576"/>
                  </a:lnTo>
                  <a:cubicBezTo>
                    <a:pt x="22549104" y="2403348"/>
                    <a:pt x="22483572" y="2468880"/>
                    <a:pt x="22402800" y="2468880"/>
                  </a:cubicBezTo>
                  <a:lnTo>
                    <a:pt x="146304" y="2468880"/>
                  </a:lnTo>
                  <a:cubicBezTo>
                    <a:pt x="65532" y="2468880"/>
                    <a:pt x="0" y="2403348"/>
                    <a:pt x="0" y="2322576"/>
                  </a:cubicBezTo>
                  <a:close/>
                </a:path>
              </a:pathLst>
            </a:custGeom>
            <a:solidFill>
              <a:srgbClr val="E8F3EC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165860" y="2400300"/>
            <a:ext cx="4389120" cy="1851660"/>
            <a:chOff x="0" y="0"/>
            <a:chExt cx="5852160" cy="24688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852160" cy="2468880"/>
            </a:xfrm>
            <a:custGeom>
              <a:avLst/>
              <a:gdLst/>
              <a:ahLst/>
              <a:cxnLst/>
              <a:rect r="r" b="b" t="t" l="l"/>
              <a:pathLst>
                <a:path h="246888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2468880"/>
                  </a:lnTo>
                  <a:lnTo>
                    <a:pt x="0" y="24688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128" t="0" r="-4128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5852160" cy="2478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 b="true">
                  <a:solidFill>
                    <a:srgbClr val="2D6A4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Presentación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760720" y="2400300"/>
            <a:ext cx="11425428" cy="1851660"/>
            <a:chOff x="0" y="0"/>
            <a:chExt cx="15233904" cy="24688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5233904" cy="2468880"/>
            </a:xfrm>
            <a:custGeom>
              <a:avLst/>
              <a:gdLst/>
              <a:ahLst/>
              <a:cxnLst/>
              <a:rect r="r" b="b" t="t" l="l"/>
              <a:pathLst>
                <a:path h="2468880" w="15233904">
                  <a:moveTo>
                    <a:pt x="0" y="0"/>
                  </a:moveTo>
                  <a:lnTo>
                    <a:pt x="15233904" y="0"/>
                  </a:lnTo>
                  <a:lnTo>
                    <a:pt x="15233904" y="2468880"/>
                  </a:lnTo>
                  <a:lnTo>
                    <a:pt x="0" y="24688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0229" r="0" b="-70229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5233904" cy="25069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HTML5, CSS3 y JavaScript vanilla, servidos con Live Server durante el desarrollo.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85800" y="4636008"/>
            <a:ext cx="16911828" cy="1851660"/>
            <a:chOff x="0" y="0"/>
            <a:chExt cx="22549104" cy="24688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2549104" cy="2468880"/>
            </a:xfrm>
            <a:custGeom>
              <a:avLst/>
              <a:gdLst/>
              <a:ahLst/>
              <a:cxnLst/>
              <a:rect r="r" b="b" t="t" l="l"/>
              <a:pathLst>
                <a:path h="2468880" w="22549104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2402800" y="0"/>
                  </a:lnTo>
                  <a:cubicBezTo>
                    <a:pt x="22483572" y="0"/>
                    <a:pt x="22549104" y="65532"/>
                    <a:pt x="22549104" y="146304"/>
                  </a:cubicBezTo>
                  <a:lnTo>
                    <a:pt x="22549104" y="2322576"/>
                  </a:lnTo>
                  <a:cubicBezTo>
                    <a:pt x="22549104" y="2403348"/>
                    <a:pt x="22483572" y="2468880"/>
                    <a:pt x="22402800" y="2468880"/>
                  </a:cubicBezTo>
                  <a:lnTo>
                    <a:pt x="146304" y="2468880"/>
                  </a:lnTo>
                  <a:cubicBezTo>
                    <a:pt x="65532" y="2468880"/>
                    <a:pt x="0" y="2403348"/>
                    <a:pt x="0" y="2322576"/>
                  </a:cubicBez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165860" y="4636008"/>
            <a:ext cx="4389120" cy="1851660"/>
            <a:chOff x="0" y="0"/>
            <a:chExt cx="5852160" cy="24688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852160" cy="2468880"/>
            </a:xfrm>
            <a:custGeom>
              <a:avLst/>
              <a:gdLst/>
              <a:ahLst/>
              <a:cxnLst/>
              <a:rect r="r" b="b" t="t" l="l"/>
              <a:pathLst>
                <a:path h="246888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2468880"/>
                  </a:lnTo>
                  <a:lnTo>
                    <a:pt x="0" y="24688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128" t="0" r="-4128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5852160" cy="2478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 b="true">
                  <a:solidFill>
                    <a:srgbClr val="E9C46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Lógica de negocio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5760720" y="4636008"/>
            <a:ext cx="11425428" cy="1851660"/>
            <a:chOff x="0" y="0"/>
            <a:chExt cx="15233904" cy="24688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5233904" cy="2468880"/>
            </a:xfrm>
            <a:custGeom>
              <a:avLst/>
              <a:gdLst/>
              <a:ahLst/>
              <a:cxnLst/>
              <a:rect r="r" b="b" t="t" l="l"/>
              <a:pathLst>
                <a:path h="2468880" w="15233904">
                  <a:moveTo>
                    <a:pt x="0" y="0"/>
                  </a:moveTo>
                  <a:lnTo>
                    <a:pt x="15233904" y="0"/>
                  </a:lnTo>
                  <a:lnTo>
                    <a:pt x="15233904" y="2468880"/>
                  </a:lnTo>
                  <a:lnTo>
                    <a:pt x="0" y="24688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0229" r="0" b="-70229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15233904" cy="25069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Spring Boot (Java): controllers, services y seguridad con JWT + BCrypt.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685800" y="6871716"/>
            <a:ext cx="16911828" cy="1851660"/>
            <a:chOff x="0" y="0"/>
            <a:chExt cx="22549104" cy="24688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2549104" cy="2468880"/>
            </a:xfrm>
            <a:custGeom>
              <a:avLst/>
              <a:gdLst/>
              <a:ahLst/>
              <a:cxnLst/>
              <a:rect r="r" b="b" t="t" l="l"/>
              <a:pathLst>
                <a:path h="2468880" w="22549104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2402800" y="0"/>
                  </a:lnTo>
                  <a:cubicBezTo>
                    <a:pt x="22483572" y="0"/>
                    <a:pt x="22549104" y="65532"/>
                    <a:pt x="22549104" y="146304"/>
                  </a:cubicBezTo>
                  <a:lnTo>
                    <a:pt x="22549104" y="2322576"/>
                  </a:lnTo>
                  <a:cubicBezTo>
                    <a:pt x="22549104" y="2403348"/>
                    <a:pt x="22483572" y="2468880"/>
                    <a:pt x="22402800" y="2468880"/>
                  </a:cubicBezTo>
                  <a:lnTo>
                    <a:pt x="146304" y="2468880"/>
                  </a:lnTo>
                  <a:cubicBezTo>
                    <a:pt x="65532" y="2468880"/>
                    <a:pt x="0" y="2403348"/>
                    <a:pt x="0" y="2322576"/>
                  </a:cubicBezTo>
                  <a:close/>
                </a:path>
              </a:pathLst>
            </a:custGeom>
            <a:solidFill>
              <a:srgbClr val="E8F3EC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165860" y="6871716"/>
            <a:ext cx="4389120" cy="1851660"/>
            <a:chOff x="0" y="0"/>
            <a:chExt cx="5852160" cy="246888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852160" cy="2468880"/>
            </a:xfrm>
            <a:custGeom>
              <a:avLst/>
              <a:gdLst/>
              <a:ahLst/>
              <a:cxnLst/>
              <a:rect r="r" b="b" t="t" l="l"/>
              <a:pathLst>
                <a:path h="246888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2468880"/>
                  </a:lnTo>
                  <a:lnTo>
                    <a:pt x="0" y="24688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128" t="0" r="-4128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"/>
              <a:ext cx="5852160" cy="2478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 b="true">
                  <a:solidFill>
                    <a:srgbClr val="2D6A4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Datos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5760720" y="6871716"/>
            <a:ext cx="11425428" cy="1851660"/>
            <a:chOff x="0" y="0"/>
            <a:chExt cx="15233904" cy="246888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5233904" cy="2468880"/>
            </a:xfrm>
            <a:custGeom>
              <a:avLst/>
              <a:gdLst/>
              <a:ahLst/>
              <a:cxnLst/>
              <a:rect r="r" b="b" t="t" l="l"/>
              <a:pathLst>
                <a:path h="2468880" w="15233904">
                  <a:moveTo>
                    <a:pt x="0" y="0"/>
                  </a:moveTo>
                  <a:lnTo>
                    <a:pt x="15233904" y="0"/>
                  </a:lnTo>
                  <a:lnTo>
                    <a:pt x="15233904" y="2468880"/>
                  </a:lnTo>
                  <a:lnTo>
                    <a:pt x="0" y="24688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0229" r="0" b="-70229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15233904" cy="25069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MySQL 8.0, accedido mediante JPA / Hibernate. Sin ejecución de SQL manual desde la interfaz.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685800" y="9738360"/>
            <a:ext cx="4114800" cy="411480"/>
            <a:chOff x="0" y="0"/>
            <a:chExt cx="5486400" cy="54864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48640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28575"/>
              <a:ext cx="5486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B6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ASTRO SYSTEMS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6911828" y="9738360"/>
            <a:ext cx="685800" cy="411480"/>
            <a:chOff x="0" y="0"/>
            <a:chExt cx="914400" cy="5486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16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754380" cy="754380"/>
            <a:chOff x="0" y="0"/>
            <a:chExt cx="1005840" cy="1005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91540" y="822960"/>
            <a:ext cx="342900" cy="342900"/>
            <a:chOff x="0" y="0"/>
            <a:chExt cx="457200" cy="457200"/>
          </a:xfrm>
        </p:grpSpPr>
        <p:sp>
          <p:nvSpPr>
            <p:cNvPr name="Freeform 5" id="5" descr="img/icons/code_white.png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45920" y="576072"/>
            <a:ext cx="10972800" cy="411480"/>
            <a:chOff x="0" y="0"/>
            <a:chExt cx="14630400" cy="5486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99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05 · ARQUITECTURA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645920" y="960120"/>
            <a:ext cx="15910560" cy="822960"/>
            <a:chOff x="0" y="0"/>
            <a:chExt cx="21214080" cy="10972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2140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214080">
                  <a:moveTo>
                    <a:pt x="0" y="0"/>
                  </a:moveTo>
                  <a:lnTo>
                    <a:pt x="21214080" y="0"/>
                  </a:lnTo>
                  <a:lnTo>
                    <a:pt x="212140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26710" r="0" b="-32671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2121408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A1A1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Tecnologías y justificación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85800" y="2400300"/>
            <a:ext cx="3977640" cy="6309360"/>
            <a:chOff x="0" y="0"/>
            <a:chExt cx="5303520" cy="84124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303520" cy="8412480"/>
            </a:xfrm>
            <a:custGeom>
              <a:avLst/>
              <a:gdLst/>
              <a:ahLst/>
              <a:cxnLst/>
              <a:rect r="r" b="b" t="t" l="l"/>
              <a:pathLst>
                <a:path h="8412480" w="53035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157216" y="0"/>
                  </a:lnTo>
                  <a:cubicBezTo>
                    <a:pt x="5237988" y="0"/>
                    <a:pt x="5303520" y="65532"/>
                    <a:pt x="5303520" y="146304"/>
                  </a:cubicBezTo>
                  <a:lnTo>
                    <a:pt x="5303520" y="8266176"/>
                  </a:lnTo>
                  <a:cubicBezTo>
                    <a:pt x="5303520" y="8346948"/>
                    <a:pt x="5237988" y="8412480"/>
                    <a:pt x="5157216" y="8412480"/>
                  </a:cubicBezTo>
                  <a:lnTo>
                    <a:pt x="146304" y="8412480"/>
                  </a:lnTo>
                  <a:cubicBezTo>
                    <a:pt x="65532" y="8412480"/>
                    <a:pt x="0" y="8346948"/>
                    <a:pt x="0" y="8266176"/>
                  </a:cubicBezTo>
                  <a:close/>
                </a:path>
              </a:pathLst>
            </a:custGeom>
            <a:solidFill>
              <a:srgbClr val="E8F3EC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194560" y="2811780"/>
            <a:ext cx="960120" cy="960120"/>
            <a:chOff x="0" y="0"/>
            <a:chExt cx="1280160" cy="12801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2414016" y="3031236"/>
            <a:ext cx="521208" cy="521208"/>
            <a:chOff x="0" y="0"/>
            <a:chExt cx="694944" cy="694944"/>
          </a:xfrm>
        </p:grpSpPr>
        <p:sp>
          <p:nvSpPr>
            <p:cNvPr name="Freeform 17" id="17" descr="img/icons/server_white.png"/>
            <p:cNvSpPr/>
            <p:nvPr/>
          </p:nvSpPr>
          <p:spPr>
            <a:xfrm flipH="false" flipV="false" rot="0">
              <a:off x="0" y="0"/>
              <a:ext cx="694944" cy="694944"/>
            </a:xfrm>
            <a:custGeom>
              <a:avLst/>
              <a:gdLst/>
              <a:ahLst/>
              <a:cxnLst/>
              <a:rect r="r" b="b" t="t" l="l"/>
              <a:pathLst>
                <a:path h="694944" w="694944">
                  <a:moveTo>
                    <a:pt x="0" y="0"/>
                  </a:moveTo>
                  <a:lnTo>
                    <a:pt x="694944" y="0"/>
                  </a:lnTo>
                  <a:lnTo>
                    <a:pt x="694944" y="694944"/>
                  </a:lnTo>
                  <a:lnTo>
                    <a:pt x="0" y="6949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891540" y="3977640"/>
            <a:ext cx="3566160" cy="685800"/>
            <a:chOff x="0" y="0"/>
            <a:chExt cx="4754880" cy="9144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754880" cy="914400"/>
            </a:xfrm>
            <a:custGeom>
              <a:avLst/>
              <a:gdLst/>
              <a:ahLst/>
              <a:cxnLst/>
              <a:rect r="r" b="b" t="t" l="l"/>
              <a:pathLst>
                <a:path h="91440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1322" r="0" b="-51322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475488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Spring Boot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987552" y="5189220"/>
            <a:ext cx="3374136" cy="3790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>
                <a:solidFill>
                  <a:srgbClr val="5B6B63"/>
                </a:solidFill>
                <a:latin typeface="Calibri (MS)"/>
                <a:ea typeface="Calibri (MS)"/>
                <a:cs typeface="Calibri (MS)"/>
                <a:sym typeface="Calibri (MS)"/>
              </a:rPr>
              <a:t>Framework Java robusto, con soporte nativo para seguridad, inyección de dependencias y una curva de aprendizaje adecuada para el equipo.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4992624" y="2400300"/>
            <a:ext cx="3977640" cy="6309360"/>
            <a:chOff x="0" y="0"/>
            <a:chExt cx="5303520" cy="84124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303520" cy="8412480"/>
            </a:xfrm>
            <a:custGeom>
              <a:avLst/>
              <a:gdLst/>
              <a:ahLst/>
              <a:cxnLst/>
              <a:rect r="r" b="b" t="t" l="l"/>
              <a:pathLst>
                <a:path h="8412480" w="53035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157216" y="0"/>
                  </a:lnTo>
                  <a:cubicBezTo>
                    <a:pt x="5237988" y="0"/>
                    <a:pt x="5303520" y="65532"/>
                    <a:pt x="5303520" y="146304"/>
                  </a:cubicBezTo>
                  <a:lnTo>
                    <a:pt x="5303520" y="8266176"/>
                  </a:lnTo>
                  <a:cubicBezTo>
                    <a:pt x="5303520" y="8346948"/>
                    <a:pt x="5237988" y="8412480"/>
                    <a:pt x="5157216" y="8412480"/>
                  </a:cubicBezTo>
                  <a:lnTo>
                    <a:pt x="146304" y="8412480"/>
                  </a:lnTo>
                  <a:cubicBezTo>
                    <a:pt x="65532" y="8412480"/>
                    <a:pt x="0" y="8346948"/>
                    <a:pt x="0" y="8266176"/>
                  </a:cubicBezTo>
                  <a:close/>
                </a:path>
              </a:pathLst>
            </a:custGeom>
            <a:solidFill>
              <a:srgbClr val="E8F3EC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6501384" y="2811780"/>
            <a:ext cx="960120" cy="960120"/>
            <a:chOff x="0" y="0"/>
            <a:chExt cx="1280160" cy="128016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6720840" y="3031236"/>
            <a:ext cx="521208" cy="521208"/>
            <a:chOff x="0" y="0"/>
            <a:chExt cx="694944" cy="694944"/>
          </a:xfrm>
        </p:grpSpPr>
        <p:sp>
          <p:nvSpPr>
            <p:cNvPr name="Freeform 27" id="27" descr="img/icons/database_white.png"/>
            <p:cNvSpPr/>
            <p:nvPr/>
          </p:nvSpPr>
          <p:spPr>
            <a:xfrm flipH="false" flipV="false" rot="0">
              <a:off x="0" y="0"/>
              <a:ext cx="694944" cy="694944"/>
            </a:xfrm>
            <a:custGeom>
              <a:avLst/>
              <a:gdLst/>
              <a:ahLst/>
              <a:cxnLst/>
              <a:rect r="r" b="b" t="t" l="l"/>
              <a:pathLst>
                <a:path h="694944" w="694944">
                  <a:moveTo>
                    <a:pt x="0" y="0"/>
                  </a:moveTo>
                  <a:lnTo>
                    <a:pt x="694944" y="0"/>
                  </a:lnTo>
                  <a:lnTo>
                    <a:pt x="694944" y="694944"/>
                  </a:lnTo>
                  <a:lnTo>
                    <a:pt x="0" y="6949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5198364" y="3977640"/>
            <a:ext cx="3566160" cy="685800"/>
            <a:chOff x="0" y="0"/>
            <a:chExt cx="4754880" cy="9144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754880" cy="914400"/>
            </a:xfrm>
            <a:custGeom>
              <a:avLst/>
              <a:gdLst/>
              <a:ahLst/>
              <a:cxnLst/>
              <a:rect r="r" b="b" t="t" l="l"/>
              <a:pathLst>
                <a:path h="91440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1322" r="0" b="-51322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475488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MySQL 8.0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5294376" y="5189220"/>
            <a:ext cx="3374136" cy="3790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>
                <a:solidFill>
                  <a:srgbClr val="5B6B63"/>
                </a:solidFill>
                <a:latin typeface="Calibri (MS)"/>
                <a:ea typeface="Calibri (MS)"/>
                <a:cs typeface="Calibri (MS)"/>
                <a:sym typeface="Calibri (MS)"/>
              </a:rPr>
              <a:t>Motor relacional confiable para modelar las relaciones entre usuarios, grupos, puertas y áreas.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9299448" y="2400300"/>
            <a:ext cx="3977640" cy="6309360"/>
            <a:chOff x="0" y="0"/>
            <a:chExt cx="5303520" cy="841248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303520" cy="8412480"/>
            </a:xfrm>
            <a:custGeom>
              <a:avLst/>
              <a:gdLst/>
              <a:ahLst/>
              <a:cxnLst/>
              <a:rect r="r" b="b" t="t" l="l"/>
              <a:pathLst>
                <a:path h="8412480" w="53035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157216" y="0"/>
                  </a:lnTo>
                  <a:cubicBezTo>
                    <a:pt x="5237988" y="0"/>
                    <a:pt x="5303520" y="65532"/>
                    <a:pt x="5303520" y="146304"/>
                  </a:cubicBezTo>
                  <a:lnTo>
                    <a:pt x="5303520" y="8266176"/>
                  </a:lnTo>
                  <a:cubicBezTo>
                    <a:pt x="5303520" y="8346948"/>
                    <a:pt x="5237988" y="8412480"/>
                    <a:pt x="5157216" y="8412480"/>
                  </a:cubicBezTo>
                  <a:lnTo>
                    <a:pt x="146304" y="8412480"/>
                  </a:lnTo>
                  <a:cubicBezTo>
                    <a:pt x="65532" y="8412480"/>
                    <a:pt x="0" y="8346948"/>
                    <a:pt x="0" y="8266176"/>
                  </a:cubicBezTo>
                  <a:close/>
                </a:path>
              </a:pathLst>
            </a:custGeom>
            <a:solidFill>
              <a:srgbClr val="E8F3EC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0808208" y="2811780"/>
            <a:ext cx="960120" cy="960120"/>
            <a:chOff x="0" y="0"/>
            <a:chExt cx="1280160" cy="128016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1027664" y="3031236"/>
            <a:ext cx="521208" cy="521208"/>
            <a:chOff x="0" y="0"/>
            <a:chExt cx="694944" cy="694944"/>
          </a:xfrm>
        </p:grpSpPr>
        <p:sp>
          <p:nvSpPr>
            <p:cNvPr name="Freeform 37" id="37" descr="img/icons/key_white.png"/>
            <p:cNvSpPr/>
            <p:nvPr/>
          </p:nvSpPr>
          <p:spPr>
            <a:xfrm flipH="false" flipV="false" rot="0">
              <a:off x="0" y="0"/>
              <a:ext cx="694944" cy="694944"/>
            </a:xfrm>
            <a:custGeom>
              <a:avLst/>
              <a:gdLst/>
              <a:ahLst/>
              <a:cxnLst/>
              <a:rect r="r" b="b" t="t" l="l"/>
              <a:pathLst>
                <a:path h="694944" w="694944">
                  <a:moveTo>
                    <a:pt x="0" y="0"/>
                  </a:moveTo>
                  <a:lnTo>
                    <a:pt x="694944" y="0"/>
                  </a:lnTo>
                  <a:lnTo>
                    <a:pt x="694944" y="694944"/>
                  </a:lnTo>
                  <a:lnTo>
                    <a:pt x="0" y="6949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9505188" y="3977640"/>
            <a:ext cx="3566160" cy="685800"/>
            <a:chOff x="0" y="0"/>
            <a:chExt cx="4754880" cy="9144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754880" cy="914400"/>
            </a:xfrm>
            <a:custGeom>
              <a:avLst/>
              <a:gdLst/>
              <a:ahLst/>
              <a:cxnLst/>
              <a:rect r="r" b="b" t="t" l="l"/>
              <a:pathLst>
                <a:path h="91440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1322" r="0" b="-51322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475488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JWT + BCrypt</a:t>
              </a: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9601200" y="5189220"/>
            <a:ext cx="3374136" cy="3790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>
                <a:solidFill>
                  <a:srgbClr val="5B6B63"/>
                </a:solidFill>
                <a:latin typeface="Calibri (MS)"/>
                <a:ea typeface="Calibri (MS)"/>
                <a:cs typeface="Calibri (MS)"/>
                <a:sym typeface="Calibri (MS)"/>
              </a:rPr>
              <a:t>Autenticación sin estado y cifrado de contraseñas, estándar de la industria para APIs REST.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13606272" y="2400300"/>
            <a:ext cx="3977640" cy="6309360"/>
            <a:chOff x="0" y="0"/>
            <a:chExt cx="5303520" cy="841248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303520" cy="8412480"/>
            </a:xfrm>
            <a:custGeom>
              <a:avLst/>
              <a:gdLst/>
              <a:ahLst/>
              <a:cxnLst/>
              <a:rect r="r" b="b" t="t" l="l"/>
              <a:pathLst>
                <a:path h="8412480" w="53035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157216" y="0"/>
                  </a:lnTo>
                  <a:cubicBezTo>
                    <a:pt x="5237988" y="0"/>
                    <a:pt x="5303520" y="65532"/>
                    <a:pt x="5303520" y="146304"/>
                  </a:cubicBezTo>
                  <a:lnTo>
                    <a:pt x="5303520" y="8266176"/>
                  </a:lnTo>
                  <a:cubicBezTo>
                    <a:pt x="5303520" y="8346948"/>
                    <a:pt x="5237988" y="8412480"/>
                    <a:pt x="5157216" y="8412480"/>
                  </a:cubicBezTo>
                  <a:lnTo>
                    <a:pt x="146304" y="8412480"/>
                  </a:lnTo>
                  <a:cubicBezTo>
                    <a:pt x="65532" y="8412480"/>
                    <a:pt x="0" y="8346948"/>
                    <a:pt x="0" y="8266176"/>
                  </a:cubicBezTo>
                  <a:close/>
                </a:path>
              </a:pathLst>
            </a:custGeom>
            <a:solidFill>
              <a:srgbClr val="E8F3EC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5115032" y="2811780"/>
            <a:ext cx="960120" cy="960120"/>
            <a:chOff x="0" y="0"/>
            <a:chExt cx="1280160" cy="128016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5334488" y="3031236"/>
            <a:ext cx="521208" cy="521208"/>
            <a:chOff x="0" y="0"/>
            <a:chExt cx="694944" cy="694944"/>
          </a:xfrm>
        </p:grpSpPr>
        <p:sp>
          <p:nvSpPr>
            <p:cNvPr name="Freeform 47" id="47" descr="img/icons/desktop_white.png"/>
            <p:cNvSpPr/>
            <p:nvPr/>
          </p:nvSpPr>
          <p:spPr>
            <a:xfrm flipH="false" flipV="false" rot="0">
              <a:off x="0" y="0"/>
              <a:ext cx="694944" cy="694944"/>
            </a:xfrm>
            <a:custGeom>
              <a:avLst/>
              <a:gdLst/>
              <a:ahLst/>
              <a:cxnLst/>
              <a:rect r="r" b="b" t="t" l="l"/>
              <a:pathLst>
                <a:path h="694944" w="694944">
                  <a:moveTo>
                    <a:pt x="0" y="0"/>
                  </a:moveTo>
                  <a:lnTo>
                    <a:pt x="694944" y="0"/>
                  </a:lnTo>
                  <a:lnTo>
                    <a:pt x="694944" y="694944"/>
                  </a:lnTo>
                  <a:lnTo>
                    <a:pt x="0" y="6949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3812012" y="3977640"/>
            <a:ext cx="3566160" cy="685800"/>
            <a:chOff x="0" y="0"/>
            <a:chExt cx="4754880" cy="9144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754880" cy="914400"/>
            </a:xfrm>
            <a:custGeom>
              <a:avLst/>
              <a:gdLst/>
              <a:ahLst/>
              <a:cxnLst/>
              <a:rect r="r" b="b" t="t" l="l"/>
              <a:pathLst>
                <a:path h="91440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1322" r="0" b="-51322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47625"/>
              <a:ext cx="475488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HTML / CSS / JS</a:t>
              </a:r>
            </a:p>
          </p:txBody>
        </p:sp>
      </p:grpSp>
      <p:sp>
        <p:nvSpPr>
          <p:cNvPr name="TextBox 51" id="51"/>
          <p:cNvSpPr txBox="true"/>
          <p:nvPr/>
        </p:nvSpPr>
        <p:spPr>
          <a:xfrm rot="0">
            <a:off x="13908024" y="5189220"/>
            <a:ext cx="3374136" cy="3790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>
                <a:solidFill>
                  <a:srgbClr val="5B6B63"/>
                </a:solidFill>
                <a:latin typeface="Calibri (MS)"/>
                <a:ea typeface="Calibri (MS)"/>
                <a:cs typeface="Calibri (MS)"/>
                <a:sym typeface="Calibri (MS)"/>
              </a:rPr>
              <a:t>Frontend ligero, sin dependencias de frameworks, ideal para el alcance del proyecto académico.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685800" y="9738360"/>
            <a:ext cx="4114800" cy="411480"/>
            <a:chOff x="0" y="0"/>
            <a:chExt cx="5486400" cy="54864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548640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28575"/>
              <a:ext cx="5486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B6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ASTRO SYSTEMS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6911828" y="9738360"/>
            <a:ext cx="685800" cy="411480"/>
            <a:chOff x="0" y="0"/>
            <a:chExt cx="914400" cy="54864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17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754380" cy="754380"/>
            <a:chOff x="0" y="0"/>
            <a:chExt cx="1005840" cy="1005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91540" y="822960"/>
            <a:ext cx="342900" cy="342900"/>
            <a:chOff x="0" y="0"/>
            <a:chExt cx="457200" cy="457200"/>
          </a:xfrm>
        </p:grpSpPr>
        <p:sp>
          <p:nvSpPr>
            <p:cNvPr name="Freeform 5" id="5" descr="img/icons/cogs_white.png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45920" y="576072"/>
            <a:ext cx="10972800" cy="411480"/>
            <a:chOff x="0" y="0"/>
            <a:chExt cx="14630400" cy="5486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99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05 · ARQUITECTURA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645920" y="960120"/>
            <a:ext cx="15910560" cy="822960"/>
            <a:chOff x="0" y="0"/>
            <a:chExt cx="21214080" cy="10972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2140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214080">
                  <a:moveTo>
                    <a:pt x="0" y="0"/>
                  </a:moveTo>
                  <a:lnTo>
                    <a:pt x="21214080" y="0"/>
                  </a:lnTo>
                  <a:lnTo>
                    <a:pt x="212140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26710" r="0" b="-32671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2121408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A1A1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Metodología de desarrollo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685800" y="3189455"/>
            <a:ext cx="9875520" cy="433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07194" indent="-203597" lvl="1">
              <a:lnSpc>
                <a:spcPts val="3104"/>
              </a:lnSpc>
              <a:buFont typeface="Arial"/>
              <a:buChar char="•"/>
            </a:pPr>
            <a:r>
              <a:rPr lang="en-US" sz="2250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Metodología híbrida entre Cascada e Incremental, combinando documentación formal con desarrollo progresivo de módulos.</a:t>
            </a:r>
          </a:p>
          <a:p>
            <a:pPr algn="l">
              <a:lnSpc>
                <a:spcPts val="3104"/>
              </a:lnSpc>
            </a:pPr>
          </a:p>
          <a:p>
            <a:pPr algn="l" marL="407194" indent="-203597" lvl="1">
              <a:lnSpc>
                <a:spcPts val="3104"/>
              </a:lnSpc>
              <a:buFont typeface="Arial"/>
              <a:buChar char="•"/>
            </a:pPr>
            <a:r>
              <a:rPr lang="en-US" sz="2250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Fase de documentación formal (DRS, diagramas UML) antes de iniciar el desarrollo, siguiendo el modelo en cascada.</a:t>
            </a:r>
          </a:p>
          <a:p>
            <a:pPr algn="l">
              <a:lnSpc>
                <a:spcPts val="3104"/>
              </a:lnSpc>
            </a:pPr>
          </a:p>
          <a:p>
            <a:pPr algn="l" marL="407194" indent="-203597" lvl="1">
              <a:lnSpc>
                <a:spcPts val="3104"/>
              </a:lnSpc>
              <a:buFont typeface="Arial"/>
              <a:buChar char="•"/>
            </a:pPr>
            <a:r>
              <a:rPr lang="en-US" sz="2250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Construcción incremental del backend: autenticación, luego usuarios y grupos, luego accesos, luego auditoría.</a:t>
            </a:r>
          </a:p>
          <a:p>
            <a:pPr algn="l">
              <a:lnSpc>
                <a:spcPts val="3104"/>
              </a:lnSpc>
            </a:pPr>
          </a:p>
          <a:p>
            <a:pPr algn="l" marL="407194" indent="-203597" lvl="1">
              <a:lnSpc>
                <a:spcPts val="3104"/>
              </a:lnSpc>
              <a:buFont typeface="Arial"/>
              <a:buChar char="•"/>
            </a:pPr>
            <a:r>
              <a:rPr lang="en-US" sz="2250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Iteraciones cortas de diseño de interfaz, validadas por el equipo antes de pasar al siguiente módulo.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1109960" y="2606040"/>
            <a:ext cx="6446520" cy="1440180"/>
            <a:chOff x="0" y="0"/>
            <a:chExt cx="8595360" cy="19202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595360" cy="1920240"/>
            </a:xfrm>
            <a:custGeom>
              <a:avLst/>
              <a:gdLst/>
              <a:ahLst/>
              <a:cxnLst/>
              <a:rect r="r" b="b" t="t" l="l"/>
              <a:pathLst>
                <a:path h="1920240" w="8595360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8467344" y="0"/>
                  </a:lnTo>
                  <a:cubicBezTo>
                    <a:pt x="8538083" y="0"/>
                    <a:pt x="8595360" y="57277"/>
                    <a:pt x="8595360" y="128016"/>
                  </a:cubicBezTo>
                  <a:lnTo>
                    <a:pt x="8595360" y="1792224"/>
                  </a:lnTo>
                  <a:cubicBezTo>
                    <a:pt x="8595360" y="1862963"/>
                    <a:pt x="8538083" y="1920240"/>
                    <a:pt x="8467344" y="1920240"/>
                  </a:cubicBezTo>
                  <a:lnTo>
                    <a:pt x="128016" y="1920240"/>
                  </a:lnTo>
                  <a:cubicBezTo>
                    <a:pt x="57277" y="1920240"/>
                    <a:pt x="0" y="1862963"/>
                    <a:pt x="0" y="1792224"/>
                  </a:cubicBez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1315700" y="2606040"/>
            <a:ext cx="822960" cy="1440180"/>
            <a:chOff x="0" y="0"/>
            <a:chExt cx="1097280" cy="19202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97280" cy="1920240"/>
            </a:xfrm>
            <a:custGeom>
              <a:avLst/>
              <a:gdLst/>
              <a:ahLst/>
              <a:cxnLst/>
              <a:rect r="r" b="b" t="t" l="l"/>
              <a:pathLst>
                <a:path h="19202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74531" t="0" r="-174531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1097280" cy="19297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E9C46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275820" y="2606040"/>
            <a:ext cx="5074920" cy="1440180"/>
            <a:chOff x="0" y="0"/>
            <a:chExt cx="6766560" cy="19202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766560" cy="1920240"/>
            </a:xfrm>
            <a:custGeom>
              <a:avLst/>
              <a:gdLst/>
              <a:ahLst/>
              <a:cxnLst/>
              <a:rect r="r" b="b" t="t" l="l"/>
              <a:pathLst>
                <a:path h="1920240" w="6766560">
                  <a:moveTo>
                    <a:pt x="0" y="0"/>
                  </a:moveTo>
                  <a:lnTo>
                    <a:pt x="6766560" y="0"/>
                  </a:lnTo>
                  <a:lnTo>
                    <a:pt x="676656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8661" r="0" b="-18661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6766560" cy="1967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Documentación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109960" y="4251960"/>
            <a:ext cx="6446520" cy="1440180"/>
            <a:chOff x="0" y="0"/>
            <a:chExt cx="8595360" cy="19202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595360" cy="1920240"/>
            </a:xfrm>
            <a:custGeom>
              <a:avLst/>
              <a:gdLst/>
              <a:ahLst/>
              <a:cxnLst/>
              <a:rect r="r" b="b" t="t" l="l"/>
              <a:pathLst>
                <a:path h="1920240" w="8595360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8467344" y="0"/>
                  </a:lnTo>
                  <a:cubicBezTo>
                    <a:pt x="8538083" y="0"/>
                    <a:pt x="8595360" y="57277"/>
                    <a:pt x="8595360" y="128016"/>
                  </a:cubicBezTo>
                  <a:lnTo>
                    <a:pt x="8595360" y="1792224"/>
                  </a:lnTo>
                  <a:cubicBezTo>
                    <a:pt x="8595360" y="1862963"/>
                    <a:pt x="8538083" y="1920240"/>
                    <a:pt x="8467344" y="1920240"/>
                  </a:cubicBezTo>
                  <a:lnTo>
                    <a:pt x="128016" y="1920240"/>
                  </a:lnTo>
                  <a:cubicBezTo>
                    <a:pt x="57277" y="1920240"/>
                    <a:pt x="0" y="1862963"/>
                    <a:pt x="0" y="1792224"/>
                  </a:cubicBez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1315700" y="4251960"/>
            <a:ext cx="822960" cy="1440180"/>
            <a:chOff x="0" y="0"/>
            <a:chExt cx="1097280" cy="19202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97280" cy="1920240"/>
            </a:xfrm>
            <a:custGeom>
              <a:avLst/>
              <a:gdLst/>
              <a:ahLst/>
              <a:cxnLst/>
              <a:rect r="r" b="b" t="t" l="l"/>
              <a:pathLst>
                <a:path h="19202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74531" t="0" r="-174531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1097280" cy="19297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E9C46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275820" y="4251960"/>
            <a:ext cx="5074920" cy="1440180"/>
            <a:chOff x="0" y="0"/>
            <a:chExt cx="6766560" cy="19202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766560" cy="1920240"/>
            </a:xfrm>
            <a:custGeom>
              <a:avLst/>
              <a:gdLst/>
              <a:ahLst/>
              <a:cxnLst/>
              <a:rect r="r" b="b" t="t" l="l"/>
              <a:pathLst>
                <a:path h="1920240" w="6766560">
                  <a:moveTo>
                    <a:pt x="0" y="0"/>
                  </a:moveTo>
                  <a:lnTo>
                    <a:pt x="6766560" y="0"/>
                  </a:lnTo>
                  <a:lnTo>
                    <a:pt x="676656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8661" r="0" b="-1866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6766560" cy="1967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Diseño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1109960" y="5897880"/>
            <a:ext cx="6446520" cy="1440180"/>
            <a:chOff x="0" y="0"/>
            <a:chExt cx="8595360" cy="19202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595360" cy="1920240"/>
            </a:xfrm>
            <a:custGeom>
              <a:avLst/>
              <a:gdLst/>
              <a:ahLst/>
              <a:cxnLst/>
              <a:rect r="r" b="b" t="t" l="l"/>
              <a:pathLst>
                <a:path h="1920240" w="8595360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8467344" y="0"/>
                  </a:lnTo>
                  <a:cubicBezTo>
                    <a:pt x="8538083" y="0"/>
                    <a:pt x="8595360" y="57277"/>
                    <a:pt x="8595360" y="128016"/>
                  </a:cubicBezTo>
                  <a:lnTo>
                    <a:pt x="8595360" y="1792224"/>
                  </a:lnTo>
                  <a:cubicBezTo>
                    <a:pt x="8595360" y="1862963"/>
                    <a:pt x="8538083" y="1920240"/>
                    <a:pt x="8467344" y="1920240"/>
                  </a:cubicBezTo>
                  <a:lnTo>
                    <a:pt x="128016" y="1920240"/>
                  </a:lnTo>
                  <a:cubicBezTo>
                    <a:pt x="57277" y="1920240"/>
                    <a:pt x="0" y="1862963"/>
                    <a:pt x="0" y="1792224"/>
                  </a:cubicBez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1315700" y="5897880"/>
            <a:ext cx="822960" cy="1440180"/>
            <a:chOff x="0" y="0"/>
            <a:chExt cx="1097280" cy="19202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97280" cy="1920240"/>
            </a:xfrm>
            <a:custGeom>
              <a:avLst/>
              <a:gdLst/>
              <a:ahLst/>
              <a:cxnLst/>
              <a:rect r="r" b="b" t="t" l="l"/>
              <a:pathLst>
                <a:path h="19202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74531" t="0" r="-174531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1097280" cy="19297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E9C46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3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2275820" y="5897880"/>
            <a:ext cx="5074920" cy="1440180"/>
            <a:chOff x="0" y="0"/>
            <a:chExt cx="6766560" cy="19202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766560" cy="1920240"/>
            </a:xfrm>
            <a:custGeom>
              <a:avLst/>
              <a:gdLst/>
              <a:ahLst/>
              <a:cxnLst/>
              <a:rect r="r" b="b" t="t" l="l"/>
              <a:pathLst>
                <a:path h="1920240" w="6766560">
                  <a:moveTo>
                    <a:pt x="0" y="0"/>
                  </a:moveTo>
                  <a:lnTo>
                    <a:pt x="6766560" y="0"/>
                  </a:lnTo>
                  <a:lnTo>
                    <a:pt x="676656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8661" r="0" b="-18661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6766560" cy="1967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Desarrollo</a:t>
              </a:r>
            </a:p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incremental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1109960" y="7543800"/>
            <a:ext cx="6446520" cy="1440180"/>
            <a:chOff x="0" y="0"/>
            <a:chExt cx="8595360" cy="19202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595360" cy="1920240"/>
            </a:xfrm>
            <a:custGeom>
              <a:avLst/>
              <a:gdLst/>
              <a:ahLst/>
              <a:cxnLst/>
              <a:rect r="r" b="b" t="t" l="l"/>
              <a:pathLst>
                <a:path h="1920240" w="8595360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8467344" y="0"/>
                  </a:lnTo>
                  <a:cubicBezTo>
                    <a:pt x="8538083" y="0"/>
                    <a:pt x="8595360" y="57277"/>
                    <a:pt x="8595360" y="128016"/>
                  </a:cubicBezTo>
                  <a:lnTo>
                    <a:pt x="8595360" y="1792224"/>
                  </a:lnTo>
                  <a:cubicBezTo>
                    <a:pt x="8595360" y="1862963"/>
                    <a:pt x="8538083" y="1920240"/>
                    <a:pt x="8467344" y="1920240"/>
                  </a:cubicBezTo>
                  <a:lnTo>
                    <a:pt x="128016" y="1920240"/>
                  </a:lnTo>
                  <a:cubicBezTo>
                    <a:pt x="57277" y="1920240"/>
                    <a:pt x="0" y="1862963"/>
                    <a:pt x="0" y="1792224"/>
                  </a:cubicBez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1315700" y="7543800"/>
            <a:ext cx="822960" cy="1440180"/>
            <a:chOff x="0" y="0"/>
            <a:chExt cx="1097280" cy="19202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97280" cy="1920240"/>
            </a:xfrm>
            <a:custGeom>
              <a:avLst/>
              <a:gdLst/>
              <a:ahLst/>
              <a:cxnLst/>
              <a:rect r="r" b="b" t="t" l="l"/>
              <a:pathLst>
                <a:path h="19202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74531" t="0" r="-174531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9525"/>
              <a:ext cx="1097280" cy="19297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E9C46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4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2275820" y="7543800"/>
            <a:ext cx="5074920" cy="1440180"/>
            <a:chOff x="0" y="0"/>
            <a:chExt cx="6766560" cy="192024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766560" cy="1920240"/>
            </a:xfrm>
            <a:custGeom>
              <a:avLst/>
              <a:gdLst/>
              <a:ahLst/>
              <a:cxnLst/>
              <a:rect r="r" b="b" t="t" l="l"/>
              <a:pathLst>
                <a:path h="1920240" w="6766560">
                  <a:moveTo>
                    <a:pt x="0" y="0"/>
                  </a:moveTo>
                  <a:lnTo>
                    <a:pt x="6766560" y="0"/>
                  </a:lnTo>
                  <a:lnTo>
                    <a:pt x="676656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8661" r="0" b="-18661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47625"/>
              <a:ext cx="6766560" cy="1967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Pruebas y</a:t>
              </a:r>
            </a:p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entrega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685800" y="9738360"/>
            <a:ext cx="4114800" cy="411480"/>
            <a:chOff x="0" y="0"/>
            <a:chExt cx="5486400" cy="54864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48640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28575"/>
              <a:ext cx="5486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B6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ASTRO SYSTEMS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6911828" y="9738360"/>
            <a:ext cx="685800" cy="411480"/>
            <a:chOff x="0" y="0"/>
            <a:chExt cx="914400" cy="54864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18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754380" cy="754380"/>
            <a:chOff x="0" y="0"/>
            <a:chExt cx="1005840" cy="1005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91540" y="822960"/>
            <a:ext cx="342900" cy="342900"/>
            <a:chOff x="0" y="0"/>
            <a:chExt cx="457200" cy="457200"/>
          </a:xfrm>
        </p:grpSpPr>
        <p:sp>
          <p:nvSpPr>
            <p:cNvPr name="Freeform 5" id="5" descr="img/icons/database_white.png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45920" y="576072"/>
            <a:ext cx="10972800" cy="411480"/>
            <a:chOff x="0" y="0"/>
            <a:chExt cx="14630400" cy="5486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99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05 · ARQUITECTURA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645920" y="960120"/>
            <a:ext cx="15910560" cy="822960"/>
            <a:chOff x="0" y="0"/>
            <a:chExt cx="21214080" cy="10972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2140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214080">
                  <a:moveTo>
                    <a:pt x="0" y="0"/>
                  </a:moveTo>
                  <a:lnTo>
                    <a:pt x="21214080" y="0"/>
                  </a:lnTo>
                  <a:lnTo>
                    <a:pt x="212140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26710" r="0" b="-32671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2121408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A1A1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Modelo de base de datos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85800" y="2331720"/>
            <a:ext cx="8298180" cy="1344168"/>
            <a:chOff x="0" y="0"/>
            <a:chExt cx="11064240" cy="179222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064240" cy="1792224"/>
            </a:xfrm>
            <a:custGeom>
              <a:avLst/>
              <a:gdLst/>
              <a:ahLst/>
              <a:cxnLst/>
              <a:rect r="r" b="b" t="t" l="l"/>
              <a:pathLst>
                <a:path h="1792224" w="11064240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10936224" y="0"/>
                  </a:lnTo>
                  <a:cubicBezTo>
                    <a:pt x="11006963" y="0"/>
                    <a:pt x="11064240" y="57277"/>
                    <a:pt x="11064240" y="128016"/>
                  </a:cubicBezTo>
                  <a:lnTo>
                    <a:pt x="11064240" y="1664208"/>
                  </a:lnTo>
                  <a:cubicBezTo>
                    <a:pt x="11064240" y="1734947"/>
                    <a:pt x="11006963" y="1792224"/>
                    <a:pt x="10936224" y="1792224"/>
                  </a:cubicBezTo>
                  <a:lnTo>
                    <a:pt x="128016" y="1792224"/>
                  </a:lnTo>
                  <a:cubicBezTo>
                    <a:pt x="57277" y="1792224"/>
                    <a:pt x="0" y="1734947"/>
                    <a:pt x="0" y="1664208"/>
                  </a:cubicBezTo>
                  <a:close/>
                </a:path>
              </a:pathLst>
            </a:custGeom>
            <a:solidFill>
              <a:srgbClr val="E8F3EC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28700" y="2468880"/>
            <a:ext cx="7612380" cy="548640"/>
            <a:chOff x="0" y="0"/>
            <a:chExt cx="10149840" cy="7315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149840" cy="731520"/>
            </a:xfrm>
            <a:custGeom>
              <a:avLst/>
              <a:gdLst/>
              <a:ahLst/>
              <a:cxnLst/>
              <a:rect r="r" b="b" t="t" l="l"/>
              <a:pathLst>
                <a:path h="731520" w="10149840">
                  <a:moveTo>
                    <a:pt x="0" y="0"/>
                  </a:moveTo>
                  <a:lnTo>
                    <a:pt x="10149840" y="0"/>
                  </a:lnTo>
                  <a:lnTo>
                    <a:pt x="101498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20354" r="0" b="-220354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01498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Usuario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28700" y="2990088"/>
            <a:ext cx="7612380" cy="617220"/>
            <a:chOff x="0" y="0"/>
            <a:chExt cx="10149840" cy="8229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149840" cy="822960"/>
            </a:xfrm>
            <a:custGeom>
              <a:avLst/>
              <a:gdLst/>
              <a:ahLst/>
              <a:cxnLst/>
              <a:rect r="r" b="b" t="t" l="l"/>
              <a:pathLst>
                <a:path h="822960" w="10149840">
                  <a:moveTo>
                    <a:pt x="0" y="0"/>
                  </a:moveTo>
                  <a:lnTo>
                    <a:pt x="10149840" y="0"/>
                  </a:lnTo>
                  <a:lnTo>
                    <a:pt x="1014984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0315" r="0" b="-190315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0149840" cy="861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09"/>
                </a:lnSpc>
              </a:pPr>
              <a:r>
                <a:rPr lang="en-US" sz="1674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Cuentas administrativas: username, password, rol, estado.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532620" y="2331720"/>
            <a:ext cx="8298180" cy="1344168"/>
            <a:chOff x="0" y="0"/>
            <a:chExt cx="11064240" cy="179222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1064240" cy="1792224"/>
            </a:xfrm>
            <a:custGeom>
              <a:avLst/>
              <a:gdLst/>
              <a:ahLst/>
              <a:cxnLst/>
              <a:rect r="r" b="b" t="t" l="l"/>
              <a:pathLst>
                <a:path h="1792224" w="11064240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10936224" y="0"/>
                  </a:lnTo>
                  <a:cubicBezTo>
                    <a:pt x="11006963" y="0"/>
                    <a:pt x="11064240" y="57277"/>
                    <a:pt x="11064240" y="128016"/>
                  </a:cubicBezTo>
                  <a:lnTo>
                    <a:pt x="11064240" y="1664208"/>
                  </a:lnTo>
                  <a:cubicBezTo>
                    <a:pt x="11064240" y="1734947"/>
                    <a:pt x="11006963" y="1792224"/>
                    <a:pt x="10936224" y="1792224"/>
                  </a:cubicBezTo>
                  <a:lnTo>
                    <a:pt x="128016" y="1792224"/>
                  </a:lnTo>
                  <a:cubicBezTo>
                    <a:pt x="57277" y="1792224"/>
                    <a:pt x="0" y="1734947"/>
                    <a:pt x="0" y="1664208"/>
                  </a:cubicBezTo>
                  <a:close/>
                </a:path>
              </a:pathLst>
            </a:custGeom>
            <a:solidFill>
              <a:srgbClr val="E8F3EC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9875520" y="2468880"/>
            <a:ext cx="7612380" cy="548640"/>
            <a:chOff x="0" y="0"/>
            <a:chExt cx="10149840" cy="7315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149840" cy="731520"/>
            </a:xfrm>
            <a:custGeom>
              <a:avLst/>
              <a:gdLst/>
              <a:ahLst/>
              <a:cxnLst/>
              <a:rect r="r" b="b" t="t" l="l"/>
              <a:pathLst>
                <a:path h="731520" w="10149840">
                  <a:moveTo>
                    <a:pt x="0" y="0"/>
                  </a:moveTo>
                  <a:lnTo>
                    <a:pt x="10149840" y="0"/>
                  </a:lnTo>
                  <a:lnTo>
                    <a:pt x="101498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20354" r="0" b="-220354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01498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Grupo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875520" y="2990088"/>
            <a:ext cx="7612380" cy="617220"/>
            <a:chOff x="0" y="0"/>
            <a:chExt cx="10149840" cy="8229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149840" cy="822960"/>
            </a:xfrm>
            <a:custGeom>
              <a:avLst/>
              <a:gdLst/>
              <a:ahLst/>
              <a:cxnLst/>
              <a:rect r="r" b="b" t="t" l="l"/>
              <a:pathLst>
                <a:path h="822960" w="10149840">
                  <a:moveTo>
                    <a:pt x="0" y="0"/>
                  </a:moveTo>
                  <a:lnTo>
                    <a:pt x="10149840" y="0"/>
                  </a:lnTo>
                  <a:lnTo>
                    <a:pt x="1014984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0315" r="0" b="-190315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10149840" cy="861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09"/>
                </a:lnSpc>
              </a:pPr>
              <a:r>
                <a:rPr lang="en-US" sz="1674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Grupos universitarios: código, nombre, estatus.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685800" y="3922776"/>
            <a:ext cx="8298180" cy="1344168"/>
            <a:chOff x="0" y="0"/>
            <a:chExt cx="11064240" cy="179222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1064240" cy="1792224"/>
            </a:xfrm>
            <a:custGeom>
              <a:avLst/>
              <a:gdLst/>
              <a:ahLst/>
              <a:cxnLst/>
              <a:rect r="r" b="b" t="t" l="l"/>
              <a:pathLst>
                <a:path h="1792224" w="11064240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10936224" y="0"/>
                  </a:lnTo>
                  <a:cubicBezTo>
                    <a:pt x="11006963" y="0"/>
                    <a:pt x="11064240" y="57277"/>
                    <a:pt x="11064240" y="128016"/>
                  </a:cubicBezTo>
                  <a:lnTo>
                    <a:pt x="11064240" y="1664208"/>
                  </a:lnTo>
                  <a:cubicBezTo>
                    <a:pt x="11064240" y="1734947"/>
                    <a:pt x="11006963" y="1792224"/>
                    <a:pt x="10936224" y="1792224"/>
                  </a:cubicBezTo>
                  <a:lnTo>
                    <a:pt x="128016" y="1792224"/>
                  </a:lnTo>
                  <a:cubicBezTo>
                    <a:pt x="57277" y="1792224"/>
                    <a:pt x="0" y="1734947"/>
                    <a:pt x="0" y="1664208"/>
                  </a:cubicBezTo>
                  <a:close/>
                </a:path>
              </a:pathLst>
            </a:custGeom>
            <a:solidFill>
              <a:srgbClr val="E8F3EC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028700" y="4059936"/>
            <a:ext cx="7612380" cy="548640"/>
            <a:chOff x="0" y="0"/>
            <a:chExt cx="10149840" cy="73152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149840" cy="731520"/>
            </a:xfrm>
            <a:custGeom>
              <a:avLst/>
              <a:gdLst/>
              <a:ahLst/>
              <a:cxnLst/>
              <a:rect r="r" b="b" t="t" l="l"/>
              <a:pathLst>
                <a:path h="731520" w="10149840">
                  <a:moveTo>
                    <a:pt x="0" y="0"/>
                  </a:moveTo>
                  <a:lnTo>
                    <a:pt x="10149840" y="0"/>
                  </a:lnTo>
                  <a:lnTo>
                    <a:pt x="101498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20354" r="0" b="-220354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101498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Area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028700" y="4581144"/>
            <a:ext cx="7612380" cy="617220"/>
            <a:chOff x="0" y="0"/>
            <a:chExt cx="10149840" cy="82296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149840" cy="822960"/>
            </a:xfrm>
            <a:custGeom>
              <a:avLst/>
              <a:gdLst/>
              <a:ahLst/>
              <a:cxnLst/>
              <a:rect r="r" b="b" t="t" l="l"/>
              <a:pathLst>
                <a:path h="822960" w="10149840">
                  <a:moveTo>
                    <a:pt x="0" y="0"/>
                  </a:moveTo>
                  <a:lnTo>
                    <a:pt x="10149840" y="0"/>
                  </a:lnTo>
                  <a:lnTo>
                    <a:pt x="1014984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0315" r="0" b="-190315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10149840" cy="861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09"/>
                </a:lnSpc>
              </a:pPr>
              <a:r>
                <a:rPr lang="en-US" sz="1674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Áreas físicas de la universidad.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9532620" y="3922776"/>
            <a:ext cx="8298180" cy="1344168"/>
            <a:chOff x="0" y="0"/>
            <a:chExt cx="11064240" cy="179222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1064240" cy="1792224"/>
            </a:xfrm>
            <a:custGeom>
              <a:avLst/>
              <a:gdLst/>
              <a:ahLst/>
              <a:cxnLst/>
              <a:rect r="r" b="b" t="t" l="l"/>
              <a:pathLst>
                <a:path h="1792224" w="11064240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10936224" y="0"/>
                  </a:lnTo>
                  <a:cubicBezTo>
                    <a:pt x="11006963" y="0"/>
                    <a:pt x="11064240" y="57277"/>
                    <a:pt x="11064240" y="128016"/>
                  </a:cubicBezTo>
                  <a:lnTo>
                    <a:pt x="11064240" y="1664208"/>
                  </a:lnTo>
                  <a:cubicBezTo>
                    <a:pt x="11064240" y="1734947"/>
                    <a:pt x="11006963" y="1792224"/>
                    <a:pt x="10936224" y="1792224"/>
                  </a:cubicBezTo>
                  <a:lnTo>
                    <a:pt x="128016" y="1792224"/>
                  </a:lnTo>
                  <a:cubicBezTo>
                    <a:pt x="57277" y="1792224"/>
                    <a:pt x="0" y="1734947"/>
                    <a:pt x="0" y="1664208"/>
                  </a:cubicBezTo>
                  <a:close/>
                </a:path>
              </a:pathLst>
            </a:custGeom>
            <a:solidFill>
              <a:srgbClr val="E8F3EC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9875520" y="4059936"/>
            <a:ext cx="7612380" cy="548640"/>
            <a:chOff x="0" y="0"/>
            <a:chExt cx="10149840" cy="7315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149840" cy="731520"/>
            </a:xfrm>
            <a:custGeom>
              <a:avLst/>
              <a:gdLst/>
              <a:ahLst/>
              <a:cxnLst/>
              <a:rect r="r" b="b" t="t" l="l"/>
              <a:pathLst>
                <a:path h="731520" w="10149840">
                  <a:moveTo>
                    <a:pt x="0" y="0"/>
                  </a:moveTo>
                  <a:lnTo>
                    <a:pt x="10149840" y="0"/>
                  </a:lnTo>
                  <a:lnTo>
                    <a:pt x="101498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20354" r="0" b="-220354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101498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Puerta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875520" y="4581144"/>
            <a:ext cx="7612380" cy="617220"/>
            <a:chOff x="0" y="0"/>
            <a:chExt cx="10149840" cy="82296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149840" cy="822960"/>
            </a:xfrm>
            <a:custGeom>
              <a:avLst/>
              <a:gdLst/>
              <a:ahLst/>
              <a:cxnLst/>
              <a:rect r="r" b="b" t="t" l="l"/>
              <a:pathLst>
                <a:path h="822960" w="10149840">
                  <a:moveTo>
                    <a:pt x="0" y="0"/>
                  </a:moveTo>
                  <a:lnTo>
                    <a:pt x="10149840" y="0"/>
                  </a:lnTo>
                  <a:lnTo>
                    <a:pt x="1014984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0315" r="0" b="-190315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10149840" cy="861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09"/>
                </a:lnSpc>
              </a:pPr>
              <a:r>
                <a:rPr lang="en-US" sz="1674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Puertas de seguridad, vinculadas a un área.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685800" y="5513832"/>
            <a:ext cx="8298180" cy="1344168"/>
            <a:chOff x="0" y="0"/>
            <a:chExt cx="11064240" cy="179222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1064240" cy="1792224"/>
            </a:xfrm>
            <a:custGeom>
              <a:avLst/>
              <a:gdLst/>
              <a:ahLst/>
              <a:cxnLst/>
              <a:rect r="r" b="b" t="t" l="l"/>
              <a:pathLst>
                <a:path h="1792224" w="11064240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10936224" y="0"/>
                  </a:lnTo>
                  <a:cubicBezTo>
                    <a:pt x="11006963" y="0"/>
                    <a:pt x="11064240" y="57277"/>
                    <a:pt x="11064240" y="128016"/>
                  </a:cubicBezTo>
                  <a:lnTo>
                    <a:pt x="11064240" y="1664208"/>
                  </a:lnTo>
                  <a:cubicBezTo>
                    <a:pt x="11064240" y="1734947"/>
                    <a:pt x="11006963" y="1792224"/>
                    <a:pt x="10936224" y="1792224"/>
                  </a:cubicBezTo>
                  <a:lnTo>
                    <a:pt x="128016" y="1792224"/>
                  </a:lnTo>
                  <a:cubicBezTo>
                    <a:pt x="57277" y="1792224"/>
                    <a:pt x="0" y="1734947"/>
                    <a:pt x="0" y="1664208"/>
                  </a:cubicBezTo>
                  <a:close/>
                </a:path>
              </a:pathLst>
            </a:custGeom>
            <a:solidFill>
              <a:srgbClr val="E8F3EC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028700" y="5650992"/>
            <a:ext cx="7612380" cy="548640"/>
            <a:chOff x="0" y="0"/>
            <a:chExt cx="10149840" cy="73152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149840" cy="731520"/>
            </a:xfrm>
            <a:custGeom>
              <a:avLst/>
              <a:gdLst/>
              <a:ahLst/>
              <a:cxnLst/>
              <a:rect r="r" b="b" t="t" l="l"/>
              <a:pathLst>
                <a:path h="731520" w="10149840">
                  <a:moveTo>
                    <a:pt x="0" y="0"/>
                  </a:moveTo>
                  <a:lnTo>
                    <a:pt x="10149840" y="0"/>
                  </a:lnTo>
                  <a:lnTo>
                    <a:pt x="101498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20354" r="0" b="-220354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101498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AccesoGrupo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028700" y="6172200"/>
            <a:ext cx="7612380" cy="617220"/>
            <a:chOff x="0" y="0"/>
            <a:chExt cx="10149840" cy="82296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0149840" cy="822960"/>
            </a:xfrm>
            <a:custGeom>
              <a:avLst/>
              <a:gdLst/>
              <a:ahLst/>
              <a:cxnLst/>
              <a:rect r="r" b="b" t="t" l="l"/>
              <a:pathLst>
                <a:path h="822960" w="10149840">
                  <a:moveTo>
                    <a:pt x="0" y="0"/>
                  </a:moveTo>
                  <a:lnTo>
                    <a:pt x="10149840" y="0"/>
                  </a:lnTo>
                  <a:lnTo>
                    <a:pt x="1014984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0315" r="0" b="-190315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10149840" cy="861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09"/>
                </a:lnSpc>
              </a:pPr>
              <a:r>
                <a:rPr lang="en-US" sz="1674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Permisos de acceso entre un grupo y una puerta.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9532620" y="5513832"/>
            <a:ext cx="8298180" cy="1344168"/>
            <a:chOff x="0" y="0"/>
            <a:chExt cx="11064240" cy="1792224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1064240" cy="1792224"/>
            </a:xfrm>
            <a:custGeom>
              <a:avLst/>
              <a:gdLst/>
              <a:ahLst/>
              <a:cxnLst/>
              <a:rect r="r" b="b" t="t" l="l"/>
              <a:pathLst>
                <a:path h="1792224" w="11064240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10936224" y="0"/>
                  </a:lnTo>
                  <a:cubicBezTo>
                    <a:pt x="11006963" y="0"/>
                    <a:pt x="11064240" y="57277"/>
                    <a:pt x="11064240" y="128016"/>
                  </a:cubicBezTo>
                  <a:lnTo>
                    <a:pt x="11064240" y="1664208"/>
                  </a:lnTo>
                  <a:cubicBezTo>
                    <a:pt x="11064240" y="1734947"/>
                    <a:pt x="11006963" y="1792224"/>
                    <a:pt x="10936224" y="1792224"/>
                  </a:cubicBezTo>
                  <a:lnTo>
                    <a:pt x="128016" y="1792224"/>
                  </a:lnTo>
                  <a:cubicBezTo>
                    <a:pt x="57277" y="1792224"/>
                    <a:pt x="0" y="1734947"/>
                    <a:pt x="0" y="1664208"/>
                  </a:cubicBezTo>
                  <a:close/>
                </a:path>
              </a:pathLst>
            </a:custGeom>
            <a:solidFill>
              <a:srgbClr val="E8F3EC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9875520" y="5650992"/>
            <a:ext cx="7612380" cy="548640"/>
            <a:chOff x="0" y="0"/>
            <a:chExt cx="10149840" cy="73152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0149840" cy="731520"/>
            </a:xfrm>
            <a:custGeom>
              <a:avLst/>
              <a:gdLst/>
              <a:ahLst/>
              <a:cxnLst/>
              <a:rect r="r" b="b" t="t" l="l"/>
              <a:pathLst>
                <a:path h="731520" w="10149840">
                  <a:moveTo>
                    <a:pt x="0" y="0"/>
                  </a:moveTo>
                  <a:lnTo>
                    <a:pt x="10149840" y="0"/>
                  </a:lnTo>
                  <a:lnTo>
                    <a:pt x="101498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20354" r="0" b="-220354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101498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UsuarioAcceso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9875520" y="6172200"/>
            <a:ext cx="7612380" cy="617220"/>
            <a:chOff x="0" y="0"/>
            <a:chExt cx="10149840" cy="82296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0149840" cy="822960"/>
            </a:xfrm>
            <a:custGeom>
              <a:avLst/>
              <a:gdLst/>
              <a:ahLst/>
              <a:cxnLst/>
              <a:rect r="r" b="b" t="t" l="l"/>
              <a:pathLst>
                <a:path h="822960" w="10149840">
                  <a:moveTo>
                    <a:pt x="0" y="0"/>
                  </a:moveTo>
                  <a:lnTo>
                    <a:pt x="10149840" y="0"/>
                  </a:lnTo>
                  <a:lnTo>
                    <a:pt x="1014984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0315" r="0" b="-190315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10149840" cy="861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09"/>
                </a:lnSpc>
              </a:pPr>
              <a:r>
                <a:rPr lang="en-US" sz="1674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Personas con acceso físico, identificadas por cédula.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685800" y="7104888"/>
            <a:ext cx="8298180" cy="1344168"/>
            <a:chOff x="0" y="0"/>
            <a:chExt cx="11064240" cy="1792224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1064240" cy="1792224"/>
            </a:xfrm>
            <a:custGeom>
              <a:avLst/>
              <a:gdLst/>
              <a:ahLst/>
              <a:cxnLst/>
              <a:rect r="r" b="b" t="t" l="l"/>
              <a:pathLst>
                <a:path h="1792224" w="11064240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10936224" y="0"/>
                  </a:lnTo>
                  <a:cubicBezTo>
                    <a:pt x="11006963" y="0"/>
                    <a:pt x="11064240" y="57277"/>
                    <a:pt x="11064240" y="128016"/>
                  </a:cubicBezTo>
                  <a:lnTo>
                    <a:pt x="11064240" y="1664208"/>
                  </a:lnTo>
                  <a:cubicBezTo>
                    <a:pt x="11064240" y="1734947"/>
                    <a:pt x="11006963" y="1792224"/>
                    <a:pt x="10936224" y="1792224"/>
                  </a:cubicBezTo>
                  <a:lnTo>
                    <a:pt x="128016" y="1792224"/>
                  </a:lnTo>
                  <a:cubicBezTo>
                    <a:pt x="57277" y="1792224"/>
                    <a:pt x="0" y="1734947"/>
                    <a:pt x="0" y="1664208"/>
                  </a:cubicBezTo>
                  <a:close/>
                </a:path>
              </a:pathLst>
            </a:custGeom>
            <a:solidFill>
              <a:srgbClr val="E8F3EC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028700" y="7242048"/>
            <a:ext cx="7612380" cy="548640"/>
            <a:chOff x="0" y="0"/>
            <a:chExt cx="10149840" cy="73152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0149840" cy="731520"/>
            </a:xfrm>
            <a:custGeom>
              <a:avLst/>
              <a:gdLst/>
              <a:ahLst/>
              <a:cxnLst/>
              <a:rect r="r" b="b" t="t" l="l"/>
              <a:pathLst>
                <a:path h="731520" w="10149840">
                  <a:moveTo>
                    <a:pt x="0" y="0"/>
                  </a:moveTo>
                  <a:lnTo>
                    <a:pt x="10149840" y="0"/>
                  </a:lnTo>
                  <a:lnTo>
                    <a:pt x="101498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20354" r="0" b="-220354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101498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AuditoriaLogin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028700" y="7763256"/>
            <a:ext cx="7612380" cy="617220"/>
            <a:chOff x="0" y="0"/>
            <a:chExt cx="10149840" cy="82296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0149840" cy="822960"/>
            </a:xfrm>
            <a:custGeom>
              <a:avLst/>
              <a:gdLst/>
              <a:ahLst/>
              <a:cxnLst/>
              <a:rect r="r" b="b" t="t" l="l"/>
              <a:pathLst>
                <a:path h="822960" w="10149840">
                  <a:moveTo>
                    <a:pt x="0" y="0"/>
                  </a:moveTo>
                  <a:lnTo>
                    <a:pt x="10149840" y="0"/>
                  </a:lnTo>
                  <a:lnTo>
                    <a:pt x="1014984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0315" r="0" b="-190315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10149840" cy="861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09"/>
                </a:lnSpc>
              </a:pPr>
              <a:r>
                <a:rPr lang="en-US" sz="1674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Registro de cada intento de inicio de sesión.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9532620" y="7104888"/>
            <a:ext cx="8298180" cy="1344168"/>
            <a:chOff x="0" y="0"/>
            <a:chExt cx="11064240" cy="1792224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1064240" cy="1792224"/>
            </a:xfrm>
            <a:custGeom>
              <a:avLst/>
              <a:gdLst/>
              <a:ahLst/>
              <a:cxnLst/>
              <a:rect r="r" b="b" t="t" l="l"/>
              <a:pathLst>
                <a:path h="1792224" w="11064240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10936224" y="0"/>
                  </a:lnTo>
                  <a:cubicBezTo>
                    <a:pt x="11006963" y="0"/>
                    <a:pt x="11064240" y="57277"/>
                    <a:pt x="11064240" y="128016"/>
                  </a:cubicBezTo>
                  <a:lnTo>
                    <a:pt x="11064240" y="1664208"/>
                  </a:lnTo>
                  <a:cubicBezTo>
                    <a:pt x="11064240" y="1734947"/>
                    <a:pt x="11006963" y="1792224"/>
                    <a:pt x="10936224" y="1792224"/>
                  </a:cubicBezTo>
                  <a:lnTo>
                    <a:pt x="128016" y="1792224"/>
                  </a:lnTo>
                  <a:cubicBezTo>
                    <a:pt x="57277" y="1792224"/>
                    <a:pt x="0" y="1734947"/>
                    <a:pt x="0" y="1664208"/>
                  </a:cubicBezTo>
                  <a:close/>
                </a:path>
              </a:pathLst>
            </a:custGeom>
            <a:solidFill>
              <a:srgbClr val="E8F3EC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9875520" y="7242048"/>
            <a:ext cx="7612380" cy="548640"/>
            <a:chOff x="0" y="0"/>
            <a:chExt cx="10149840" cy="73152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0149840" cy="731520"/>
            </a:xfrm>
            <a:custGeom>
              <a:avLst/>
              <a:gdLst/>
              <a:ahLst/>
              <a:cxnLst/>
              <a:rect r="r" b="b" t="t" l="l"/>
              <a:pathLst>
                <a:path h="731520" w="10149840">
                  <a:moveTo>
                    <a:pt x="0" y="0"/>
                  </a:moveTo>
                  <a:lnTo>
                    <a:pt x="10149840" y="0"/>
                  </a:lnTo>
                  <a:lnTo>
                    <a:pt x="101498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20354" r="0" b="-220354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38100"/>
              <a:ext cx="101498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AuditoriaEdicion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9875520" y="7763256"/>
            <a:ext cx="7612380" cy="617220"/>
            <a:chOff x="0" y="0"/>
            <a:chExt cx="10149840" cy="82296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0149840" cy="822960"/>
            </a:xfrm>
            <a:custGeom>
              <a:avLst/>
              <a:gdLst/>
              <a:ahLst/>
              <a:cxnLst/>
              <a:rect r="r" b="b" t="t" l="l"/>
              <a:pathLst>
                <a:path h="822960" w="10149840">
                  <a:moveTo>
                    <a:pt x="0" y="0"/>
                  </a:moveTo>
                  <a:lnTo>
                    <a:pt x="10149840" y="0"/>
                  </a:lnTo>
                  <a:lnTo>
                    <a:pt x="1014984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0315" r="0" b="-190315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38100"/>
              <a:ext cx="10149840" cy="861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09"/>
                </a:lnSpc>
              </a:pPr>
              <a:r>
                <a:rPr lang="en-US" sz="1674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Registro de cada cambio administrativo, con el admin responsable.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685800" y="9738360"/>
            <a:ext cx="4114800" cy="411480"/>
            <a:chOff x="0" y="0"/>
            <a:chExt cx="5486400" cy="54864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548640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28575"/>
              <a:ext cx="5486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B6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ASTRO SYSTEMS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16911828" y="9738360"/>
            <a:ext cx="685800" cy="411480"/>
            <a:chOff x="0" y="0"/>
            <a:chExt cx="914400" cy="54864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19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754380" cy="754380"/>
            <a:chOff x="0" y="0"/>
            <a:chExt cx="1005840" cy="1005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E9C46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91540" y="822960"/>
            <a:ext cx="342900" cy="342900"/>
            <a:chOff x="0" y="0"/>
            <a:chExt cx="457200" cy="457200"/>
          </a:xfrm>
        </p:grpSpPr>
        <p:sp>
          <p:nvSpPr>
            <p:cNvPr name="Freeform 5" id="5" descr="img/icons/lock_dark.png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45920" y="576072"/>
            <a:ext cx="10972800" cy="411480"/>
            <a:chOff x="0" y="0"/>
            <a:chExt cx="14630400" cy="5486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99">
                  <a:solidFill>
                    <a:srgbClr val="8FBFA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05 · ARQUITECTURA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645920" y="960120"/>
            <a:ext cx="15910560" cy="822960"/>
            <a:chOff x="0" y="0"/>
            <a:chExt cx="21214080" cy="10972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2140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214080">
                  <a:moveTo>
                    <a:pt x="0" y="0"/>
                  </a:moveTo>
                  <a:lnTo>
                    <a:pt x="21214080" y="0"/>
                  </a:lnTo>
                  <a:lnTo>
                    <a:pt x="212140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26710" r="0" b="-32671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2121408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Seguridad del sistema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85800" y="2537460"/>
            <a:ext cx="3977640" cy="6035040"/>
            <a:chOff x="0" y="0"/>
            <a:chExt cx="5303520" cy="80467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303520" cy="8046720"/>
            </a:xfrm>
            <a:custGeom>
              <a:avLst/>
              <a:gdLst/>
              <a:ahLst/>
              <a:cxnLst/>
              <a:rect r="r" b="b" t="t" l="l"/>
              <a:pathLst>
                <a:path h="8046720" w="53035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157216" y="0"/>
                  </a:lnTo>
                  <a:cubicBezTo>
                    <a:pt x="5237988" y="0"/>
                    <a:pt x="5303520" y="65532"/>
                    <a:pt x="5303520" y="146304"/>
                  </a:cubicBezTo>
                  <a:lnTo>
                    <a:pt x="5303520" y="7900416"/>
                  </a:lnTo>
                  <a:cubicBezTo>
                    <a:pt x="5303520" y="7981188"/>
                    <a:pt x="5237988" y="8046720"/>
                    <a:pt x="5157216" y="8046720"/>
                  </a:cubicBezTo>
                  <a:lnTo>
                    <a:pt x="146304" y="8046720"/>
                  </a:lnTo>
                  <a:cubicBezTo>
                    <a:pt x="65532" y="8046720"/>
                    <a:pt x="0" y="7981188"/>
                    <a:pt x="0" y="7900416"/>
                  </a:cubicBez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194560" y="2948940"/>
            <a:ext cx="960120" cy="960120"/>
            <a:chOff x="0" y="0"/>
            <a:chExt cx="1280160" cy="12801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E9C46A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2414016" y="3168396"/>
            <a:ext cx="521208" cy="521208"/>
            <a:chOff x="0" y="0"/>
            <a:chExt cx="694944" cy="694944"/>
          </a:xfrm>
        </p:grpSpPr>
        <p:sp>
          <p:nvSpPr>
            <p:cNvPr name="Freeform 17" id="17" descr="img/icons/key_dark.png"/>
            <p:cNvSpPr/>
            <p:nvPr/>
          </p:nvSpPr>
          <p:spPr>
            <a:xfrm flipH="false" flipV="false" rot="0">
              <a:off x="0" y="0"/>
              <a:ext cx="694944" cy="694944"/>
            </a:xfrm>
            <a:custGeom>
              <a:avLst/>
              <a:gdLst/>
              <a:ahLst/>
              <a:cxnLst/>
              <a:rect r="r" b="b" t="t" l="l"/>
              <a:pathLst>
                <a:path h="694944" w="694944">
                  <a:moveTo>
                    <a:pt x="0" y="0"/>
                  </a:moveTo>
                  <a:lnTo>
                    <a:pt x="694944" y="0"/>
                  </a:lnTo>
                  <a:lnTo>
                    <a:pt x="694944" y="694944"/>
                  </a:lnTo>
                  <a:lnTo>
                    <a:pt x="0" y="6949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891540" y="4114800"/>
            <a:ext cx="3566160" cy="822960"/>
            <a:chOff x="0" y="0"/>
            <a:chExt cx="4754880" cy="10972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7548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4435" r="0" b="-34435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475488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Autenticación JWT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987552" y="5444490"/>
            <a:ext cx="3374136" cy="838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9"/>
              </a:lnSpc>
            </a:pPr>
            <a:r>
              <a:rPr lang="en-US" sz="1774">
                <a:solidFill>
                  <a:srgbClr val="E8F3EC"/>
                </a:solidFill>
                <a:latin typeface="Calibri (MS)"/>
                <a:ea typeface="Calibri (MS)"/>
                <a:cs typeface="Calibri (MS)"/>
                <a:sym typeface="Calibri (MS)"/>
              </a:rPr>
              <a:t>Tokens firmados con expiración configurable; ninguna sesión persiste sin validez.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4992624" y="2537460"/>
            <a:ext cx="3977640" cy="6035040"/>
            <a:chOff x="0" y="0"/>
            <a:chExt cx="5303520" cy="80467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303520" cy="8046720"/>
            </a:xfrm>
            <a:custGeom>
              <a:avLst/>
              <a:gdLst/>
              <a:ahLst/>
              <a:cxnLst/>
              <a:rect r="r" b="b" t="t" l="l"/>
              <a:pathLst>
                <a:path h="8046720" w="53035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157216" y="0"/>
                  </a:lnTo>
                  <a:cubicBezTo>
                    <a:pt x="5237988" y="0"/>
                    <a:pt x="5303520" y="65532"/>
                    <a:pt x="5303520" y="146304"/>
                  </a:cubicBezTo>
                  <a:lnTo>
                    <a:pt x="5303520" y="7900416"/>
                  </a:lnTo>
                  <a:cubicBezTo>
                    <a:pt x="5303520" y="7981188"/>
                    <a:pt x="5237988" y="8046720"/>
                    <a:pt x="5157216" y="8046720"/>
                  </a:cubicBezTo>
                  <a:lnTo>
                    <a:pt x="146304" y="8046720"/>
                  </a:lnTo>
                  <a:cubicBezTo>
                    <a:pt x="65532" y="8046720"/>
                    <a:pt x="0" y="7981188"/>
                    <a:pt x="0" y="7900416"/>
                  </a:cubicBez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6501384" y="2948940"/>
            <a:ext cx="960120" cy="960120"/>
            <a:chOff x="0" y="0"/>
            <a:chExt cx="1280160" cy="128016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E9C46A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6720840" y="3168396"/>
            <a:ext cx="521208" cy="521208"/>
            <a:chOff x="0" y="0"/>
            <a:chExt cx="694944" cy="694944"/>
          </a:xfrm>
        </p:grpSpPr>
        <p:sp>
          <p:nvSpPr>
            <p:cNvPr name="Freeform 27" id="27" descr="img/icons/lock_dark.png"/>
            <p:cNvSpPr/>
            <p:nvPr/>
          </p:nvSpPr>
          <p:spPr>
            <a:xfrm flipH="false" flipV="false" rot="0">
              <a:off x="0" y="0"/>
              <a:ext cx="694944" cy="694944"/>
            </a:xfrm>
            <a:custGeom>
              <a:avLst/>
              <a:gdLst/>
              <a:ahLst/>
              <a:cxnLst/>
              <a:rect r="r" b="b" t="t" l="l"/>
              <a:pathLst>
                <a:path h="694944" w="694944">
                  <a:moveTo>
                    <a:pt x="0" y="0"/>
                  </a:moveTo>
                  <a:lnTo>
                    <a:pt x="694944" y="0"/>
                  </a:lnTo>
                  <a:lnTo>
                    <a:pt x="694944" y="694944"/>
                  </a:lnTo>
                  <a:lnTo>
                    <a:pt x="0" y="6949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5198364" y="4114800"/>
            <a:ext cx="3566160" cy="822960"/>
            <a:chOff x="0" y="0"/>
            <a:chExt cx="4754880" cy="10972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7548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4435" r="0" b="-34435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475488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Cifrado BCrypt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5294376" y="5444490"/>
            <a:ext cx="3374136" cy="571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9"/>
              </a:lnSpc>
            </a:pPr>
            <a:r>
              <a:rPr lang="en-US" sz="1774">
                <a:solidFill>
                  <a:srgbClr val="E8F3EC"/>
                </a:solidFill>
                <a:latin typeface="Calibri (MS)"/>
                <a:ea typeface="Calibri (MS)"/>
                <a:cs typeface="Calibri (MS)"/>
                <a:sym typeface="Calibri (MS)"/>
              </a:rPr>
              <a:t>Las contraseñas nunca se almacenan en texto plano.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9299448" y="2537460"/>
            <a:ext cx="3977640" cy="6035040"/>
            <a:chOff x="0" y="0"/>
            <a:chExt cx="5303520" cy="80467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303520" cy="8046720"/>
            </a:xfrm>
            <a:custGeom>
              <a:avLst/>
              <a:gdLst/>
              <a:ahLst/>
              <a:cxnLst/>
              <a:rect r="r" b="b" t="t" l="l"/>
              <a:pathLst>
                <a:path h="8046720" w="53035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157216" y="0"/>
                  </a:lnTo>
                  <a:cubicBezTo>
                    <a:pt x="5237988" y="0"/>
                    <a:pt x="5303520" y="65532"/>
                    <a:pt x="5303520" y="146304"/>
                  </a:cubicBezTo>
                  <a:lnTo>
                    <a:pt x="5303520" y="7900416"/>
                  </a:lnTo>
                  <a:cubicBezTo>
                    <a:pt x="5303520" y="7981188"/>
                    <a:pt x="5237988" y="8046720"/>
                    <a:pt x="5157216" y="8046720"/>
                  </a:cubicBezTo>
                  <a:lnTo>
                    <a:pt x="146304" y="8046720"/>
                  </a:lnTo>
                  <a:cubicBezTo>
                    <a:pt x="65532" y="8046720"/>
                    <a:pt x="0" y="7981188"/>
                    <a:pt x="0" y="7900416"/>
                  </a:cubicBez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0808208" y="2948940"/>
            <a:ext cx="960120" cy="960120"/>
            <a:chOff x="0" y="0"/>
            <a:chExt cx="1280160" cy="128016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E9C46A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1027664" y="3168396"/>
            <a:ext cx="521208" cy="521208"/>
            <a:chOff x="0" y="0"/>
            <a:chExt cx="694944" cy="694944"/>
          </a:xfrm>
        </p:grpSpPr>
        <p:sp>
          <p:nvSpPr>
            <p:cNvPr name="Freeform 37" id="37" descr="img/icons/userShield_dark.png"/>
            <p:cNvSpPr/>
            <p:nvPr/>
          </p:nvSpPr>
          <p:spPr>
            <a:xfrm flipH="false" flipV="false" rot="0">
              <a:off x="0" y="0"/>
              <a:ext cx="694944" cy="694944"/>
            </a:xfrm>
            <a:custGeom>
              <a:avLst/>
              <a:gdLst/>
              <a:ahLst/>
              <a:cxnLst/>
              <a:rect r="r" b="b" t="t" l="l"/>
              <a:pathLst>
                <a:path h="694944" w="694944">
                  <a:moveTo>
                    <a:pt x="0" y="0"/>
                  </a:moveTo>
                  <a:lnTo>
                    <a:pt x="694944" y="0"/>
                  </a:lnTo>
                  <a:lnTo>
                    <a:pt x="694944" y="694944"/>
                  </a:lnTo>
                  <a:lnTo>
                    <a:pt x="0" y="6949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9505188" y="4114800"/>
            <a:ext cx="3566160" cy="822960"/>
            <a:chOff x="0" y="0"/>
            <a:chExt cx="4754880" cy="109728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7548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4435" r="0" b="-34435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475488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Control por rol</a:t>
              </a: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9601200" y="5444490"/>
            <a:ext cx="3374136" cy="571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9"/>
              </a:lnSpc>
            </a:pPr>
            <a:r>
              <a:rPr lang="en-US" sz="1774">
                <a:solidFill>
                  <a:srgbClr val="E8F3EC"/>
                </a:solidFill>
                <a:latin typeface="Calibri (MS)"/>
                <a:ea typeface="Calibri (MS)"/>
                <a:cs typeface="Calibri (MS)"/>
                <a:sym typeface="Calibri (MS)"/>
              </a:rPr>
              <a:t>Cada endpoint valida el rol del token antes de ejecutar la acción.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13606272" y="2537460"/>
            <a:ext cx="3977640" cy="6035040"/>
            <a:chOff x="0" y="0"/>
            <a:chExt cx="5303520" cy="804672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303520" cy="8046720"/>
            </a:xfrm>
            <a:custGeom>
              <a:avLst/>
              <a:gdLst/>
              <a:ahLst/>
              <a:cxnLst/>
              <a:rect r="r" b="b" t="t" l="l"/>
              <a:pathLst>
                <a:path h="8046720" w="53035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157216" y="0"/>
                  </a:lnTo>
                  <a:cubicBezTo>
                    <a:pt x="5237988" y="0"/>
                    <a:pt x="5303520" y="65532"/>
                    <a:pt x="5303520" y="146304"/>
                  </a:cubicBezTo>
                  <a:lnTo>
                    <a:pt x="5303520" y="7900416"/>
                  </a:lnTo>
                  <a:cubicBezTo>
                    <a:pt x="5303520" y="7981188"/>
                    <a:pt x="5237988" y="8046720"/>
                    <a:pt x="5157216" y="8046720"/>
                  </a:cubicBezTo>
                  <a:lnTo>
                    <a:pt x="146304" y="8046720"/>
                  </a:lnTo>
                  <a:cubicBezTo>
                    <a:pt x="65532" y="8046720"/>
                    <a:pt x="0" y="7981188"/>
                    <a:pt x="0" y="7900416"/>
                  </a:cubicBez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5115032" y="2948940"/>
            <a:ext cx="960120" cy="960120"/>
            <a:chOff x="0" y="0"/>
            <a:chExt cx="1280160" cy="128016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E9C46A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5334488" y="3168396"/>
            <a:ext cx="521208" cy="521208"/>
            <a:chOff x="0" y="0"/>
            <a:chExt cx="694944" cy="694944"/>
          </a:xfrm>
        </p:grpSpPr>
        <p:sp>
          <p:nvSpPr>
            <p:cNvPr name="Freeform 47" id="47" descr="img/icons/history_dark.png"/>
            <p:cNvSpPr/>
            <p:nvPr/>
          </p:nvSpPr>
          <p:spPr>
            <a:xfrm flipH="false" flipV="false" rot="0">
              <a:off x="0" y="0"/>
              <a:ext cx="694944" cy="694944"/>
            </a:xfrm>
            <a:custGeom>
              <a:avLst/>
              <a:gdLst/>
              <a:ahLst/>
              <a:cxnLst/>
              <a:rect r="r" b="b" t="t" l="l"/>
              <a:pathLst>
                <a:path h="694944" w="694944">
                  <a:moveTo>
                    <a:pt x="0" y="0"/>
                  </a:moveTo>
                  <a:lnTo>
                    <a:pt x="694944" y="0"/>
                  </a:lnTo>
                  <a:lnTo>
                    <a:pt x="694944" y="694944"/>
                  </a:lnTo>
                  <a:lnTo>
                    <a:pt x="0" y="6949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3812012" y="4114800"/>
            <a:ext cx="3566160" cy="822960"/>
            <a:chOff x="0" y="0"/>
            <a:chExt cx="4754880" cy="109728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7548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4435" r="0" b="-34435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47625"/>
              <a:ext cx="475488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Auditoría inmutable</a:t>
              </a:r>
            </a:p>
          </p:txBody>
        </p:sp>
      </p:grpSp>
      <p:sp>
        <p:nvSpPr>
          <p:cNvPr name="TextBox 51" id="51"/>
          <p:cNvSpPr txBox="true"/>
          <p:nvPr/>
        </p:nvSpPr>
        <p:spPr>
          <a:xfrm rot="0">
            <a:off x="13908024" y="5444490"/>
            <a:ext cx="3374136" cy="838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9"/>
              </a:lnSpc>
            </a:pPr>
            <a:r>
              <a:rPr lang="en-US" sz="1774">
                <a:solidFill>
                  <a:srgbClr val="E8F3EC"/>
                </a:solidFill>
                <a:latin typeface="Calibri (MS)"/>
                <a:ea typeface="Calibri (MS)"/>
                <a:cs typeface="Calibri (MS)"/>
                <a:sym typeface="Calibri (MS)"/>
              </a:rPr>
              <a:t>Todo cambio queda registrado con el administrador responsable y la fecha.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685800" y="9738360"/>
            <a:ext cx="4114800" cy="411480"/>
            <a:chOff x="0" y="0"/>
            <a:chExt cx="5486400" cy="54864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548640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28575"/>
              <a:ext cx="5486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B6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ASTRO SYSTEMS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6911828" y="9738360"/>
            <a:ext cx="685800" cy="411480"/>
            <a:chOff x="0" y="0"/>
            <a:chExt cx="914400" cy="54864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20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754380" cy="754380"/>
            <a:chOff x="0" y="0"/>
            <a:chExt cx="1005840" cy="1005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91540" y="822960"/>
            <a:ext cx="342900" cy="342900"/>
            <a:chOff x="0" y="0"/>
            <a:chExt cx="457200" cy="457200"/>
          </a:xfrm>
        </p:grpSpPr>
        <p:sp>
          <p:nvSpPr>
            <p:cNvPr name="Freeform 5" id="5" descr="img/icons/calendar_white.png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45920" y="576072"/>
            <a:ext cx="10972800" cy="411480"/>
            <a:chOff x="0" y="0"/>
            <a:chExt cx="14630400" cy="5486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99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06 · PLANIFICACIÓN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645920" y="960120"/>
            <a:ext cx="15910560" cy="822960"/>
            <a:chOff x="0" y="0"/>
            <a:chExt cx="21214080" cy="10972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2140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214080">
                  <a:moveTo>
                    <a:pt x="0" y="0"/>
                  </a:moveTo>
                  <a:lnTo>
                    <a:pt x="21214080" y="0"/>
                  </a:lnTo>
                  <a:lnTo>
                    <a:pt x="212140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26710" r="0" b="-32671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2121408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A1A1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Cronograma de actividades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91540" y="1826866"/>
            <a:ext cx="16560940" cy="7705754"/>
            <a:chOff x="0" y="0"/>
            <a:chExt cx="20438046" cy="9509760"/>
          </a:xfrm>
        </p:grpSpPr>
        <p:sp>
          <p:nvSpPr>
            <p:cNvPr name="Freeform 13" id="13" descr="img/cronograma.png"/>
            <p:cNvSpPr/>
            <p:nvPr/>
          </p:nvSpPr>
          <p:spPr>
            <a:xfrm flipH="false" flipV="false" rot="0">
              <a:off x="0" y="0"/>
              <a:ext cx="20438111" cy="9509760"/>
            </a:xfrm>
            <a:custGeom>
              <a:avLst/>
              <a:gdLst/>
              <a:ahLst/>
              <a:cxnLst/>
              <a:rect r="r" b="b" t="t" l="l"/>
              <a:pathLst>
                <a:path h="9509760" w="20438111">
                  <a:moveTo>
                    <a:pt x="0" y="0"/>
                  </a:moveTo>
                  <a:lnTo>
                    <a:pt x="20438111" y="0"/>
                  </a:lnTo>
                  <a:lnTo>
                    <a:pt x="20438111" y="9509760"/>
                  </a:lnTo>
                  <a:lnTo>
                    <a:pt x="0" y="9509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685800" y="9738360"/>
            <a:ext cx="4114800" cy="411480"/>
            <a:chOff x="0" y="0"/>
            <a:chExt cx="5486400" cy="5486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48640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5486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B6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ASTRO SYSTEMS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6911828" y="9738360"/>
            <a:ext cx="685800" cy="411480"/>
            <a:chOff x="0" y="0"/>
            <a:chExt cx="914400" cy="5486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21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754380" cy="754380"/>
            <a:chOff x="0" y="0"/>
            <a:chExt cx="1005840" cy="1005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91540" y="822960"/>
            <a:ext cx="342900" cy="342900"/>
            <a:chOff x="0" y="0"/>
            <a:chExt cx="457200" cy="457200"/>
          </a:xfrm>
        </p:grpSpPr>
        <p:sp>
          <p:nvSpPr>
            <p:cNvPr name="Freeform 5" id="5" descr="img/icons/desktop_white.png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45920" y="576072"/>
            <a:ext cx="10972800" cy="411480"/>
            <a:chOff x="0" y="0"/>
            <a:chExt cx="14630400" cy="5486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99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07 · SISTEMA FUNCIONAL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645920" y="960120"/>
            <a:ext cx="15910560" cy="822960"/>
            <a:chOff x="0" y="0"/>
            <a:chExt cx="21214080" cy="10972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2140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214080">
                  <a:moveTo>
                    <a:pt x="0" y="0"/>
                  </a:moveTo>
                  <a:lnTo>
                    <a:pt x="21214080" y="0"/>
                  </a:lnTo>
                  <a:lnTo>
                    <a:pt x="212140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26710" r="0" b="-32671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2121408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A1A1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Del prototipo al sistema real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76275" y="3533775"/>
            <a:ext cx="4065270" cy="3242310"/>
            <a:chOff x="0" y="0"/>
            <a:chExt cx="5420360" cy="43230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420360" cy="4323080"/>
            </a:xfrm>
            <a:custGeom>
              <a:avLst/>
              <a:gdLst/>
              <a:ahLst/>
              <a:cxnLst/>
              <a:rect r="r" b="b" t="t" l="l"/>
              <a:pathLst>
                <a:path h="4323080" w="5420360">
                  <a:moveTo>
                    <a:pt x="0" y="110363"/>
                  </a:moveTo>
                  <a:cubicBezTo>
                    <a:pt x="0" y="49403"/>
                    <a:pt x="49403" y="0"/>
                    <a:pt x="110363" y="0"/>
                  </a:cubicBezTo>
                  <a:lnTo>
                    <a:pt x="5309997" y="0"/>
                  </a:lnTo>
                  <a:cubicBezTo>
                    <a:pt x="5370957" y="0"/>
                    <a:pt x="5420360" y="49403"/>
                    <a:pt x="5420360" y="110363"/>
                  </a:cubicBezTo>
                  <a:lnTo>
                    <a:pt x="5420360" y="4212717"/>
                  </a:lnTo>
                  <a:cubicBezTo>
                    <a:pt x="5420360" y="4273677"/>
                    <a:pt x="5370957" y="4323080"/>
                    <a:pt x="5309997" y="4323080"/>
                  </a:cubicBezTo>
                  <a:lnTo>
                    <a:pt x="110363" y="4323080"/>
                  </a:lnTo>
                  <a:cubicBezTo>
                    <a:pt x="49403" y="4323080"/>
                    <a:pt x="0" y="4273677"/>
                    <a:pt x="0" y="4212717"/>
                  </a:cubicBezTo>
                  <a:close/>
                </a:path>
              </a:pathLst>
            </a:custGeom>
            <a:solidFill>
              <a:srgbClr val="F7F7F5"/>
            </a:solidFill>
            <a:ln w="19050" cap="sq">
              <a:solidFill>
                <a:srgbClr val="8FBFA3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891540" y="3809848"/>
            <a:ext cx="3634740" cy="2072935"/>
            <a:chOff x="0" y="0"/>
            <a:chExt cx="4846320" cy="2763914"/>
          </a:xfrm>
        </p:grpSpPr>
        <p:sp>
          <p:nvSpPr>
            <p:cNvPr name="Freeform 15" id="15" descr="img/mockup_login.png"/>
            <p:cNvSpPr/>
            <p:nvPr/>
          </p:nvSpPr>
          <p:spPr>
            <a:xfrm flipH="false" flipV="false" rot="0">
              <a:off x="0" y="0"/>
              <a:ext cx="4846320" cy="2763901"/>
            </a:xfrm>
            <a:custGeom>
              <a:avLst/>
              <a:gdLst/>
              <a:ahLst/>
              <a:cxnLst/>
              <a:rect r="r" b="b" t="t" l="l"/>
              <a:pathLst>
                <a:path h="2763901" w="4846320">
                  <a:moveTo>
                    <a:pt x="0" y="0"/>
                  </a:moveTo>
                  <a:lnTo>
                    <a:pt x="4846320" y="0"/>
                  </a:lnTo>
                  <a:lnTo>
                    <a:pt x="4846320" y="2763901"/>
                  </a:lnTo>
                  <a:lnTo>
                    <a:pt x="0" y="27639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685800" y="6080760"/>
            <a:ext cx="4046220" cy="548640"/>
            <a:chOff x="0" y="0"/>
            <a:chExt cx="5394960" cy="7315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394960" cy="731520"/>
            </a:xfrm>
            <a:custGeom>
              <a:avLst/>
              <a:gdLst/>
              <a:ahLst/>
              <a:cxnLst/>
              <a:rect r="r" b="b" t="t" l="l"/>
              <a:pathLst>
                <a:path h="731520" w="5394960">
                  <a:moveTo>
                    <a:pt x="0" y="0"/>
                  </a:moveTo>
                  <a:lnTo>
                    <a:pt x="5394960" y="0"/>
                  </a:lnTo>
                  <a:lnTo>
                    <a:pt x="53949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3702" r="0" b="-93702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53949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Login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4996815" y="3533775"/>
            <a:ext cx="4065270" cy="3242310"/>
            <a:chOff x="0" y="0"/>
            <a:chExt cx="5420360" cy="43230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420360" cy="4323080"/>
            </a:xfrm>
            <a:custGeom>
              <a:avLst/>
              <a:gdLst/>
              <a:ahLst/>
              <a:cxnLst/>
              <a:rect r="r" b="b" t="t" l="l"/>
              <a:pathLst>
                <a:path h="4323080" w="5420360">
                  <a:moveTo>
                    <a:pt x="0" y="110363"/>
                  </a:moveTo>
                  <a:cubicBezTo>
                    <a:pt x="0" y="49403"/>
                    <a:pt x="49403" y="0"/>
                    <a:pt x="110363" y="0"/>
                  </a:cubicBezTo>
                  <a:lnTo>
                    <a:pt x="5309997" y="0"/>
                  </a:lnTo>
                  <a:cubicBezTo>
                    <a:pt x="5370957" y="0"/>
                    <a:pt x="5420360" y="49403"/>
                    <a:pt x="5420360" y="110363"/>
                  </a:cubicBezTo>
                  <a:lnTo>
                    <a:pt x="5420360" y="4212717"/>
                  </a:lnTo>
                  <a:cubicBezTo>
                    <a:pt x="5420360" y="4273677"/>
                    <a:pt x="5370957" y="4323080"/>
                    <a:pt x="5309997" y="4323080"/>
                  </a:cubicBezTo>
                  <a:lnTo>
                    <a:pt x="110363" y="4323080"/>
                  </a:lnTo>
                  <a:cubicBezTo>
                    <a:pt x="49403" y="4323080"/>
                    <a:pt x="0" y="4273677"/>
                    <a:pt x="0" y="4212717"/>
                  </a:cubicBezTo>
                  <a:close/>
                </a:path>
              </a:pathLst>
            </a:custGeom>
            <a:solidFill>
              <a:srgbClr val="F7F7F5"/>
            </a:solidFill>
            <a:ln w="19050" cap="sq">
              <a:solidFill>
                <a:srgbClr val="8FBFA3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5212080" y="3807152"/>
            <a:ext cx="3634740" cy="2078345"/>
            <a:chOff x="0" y="0"/>
            <a:chExt cx="4846320" cy="2771127"/>
          </a:xfrm>
        </p:grpSpPr>
        <p:sp>
          <p:nvSpPr>
            <p:cNvPr name="Freeform 22" id="22" descr="img/mockup_dashboard.png"/>
            <p:cNvSpPr/>
            <p:nvPr/>
          </p:nvSpPr>
          <p:spPr>
            <a:xfrm flipH="false" flipV="false" rot="0">
              <a:off x="0" y="0"/>
              <a:ext cx="4846320" cy="2771140"/>
            </a:xfrm>
            <a:custGeom>
              <a:avLst/>
              <a:gdLst/>
              <a:ahLst/>
              <a:cxnLst/>
              <a:rect r="r" b="b" t="t" l="l"/>
              <a:pathLst>
                <a:path h="2771140" w="4846320">
                  <a:moveTo>
                    <a:pt x="0" y="0"/>
                  </a:moveTo>
                  <a:lnTo>
                    <a:pt x="4846320" y="0"/>
                  </a:lnTo>
                  <a:lnTo>
                    <a:pt x="4846320" y="2771140"/>
                  </a:lnTo>
                  <a:lnTo>
                    <a:pt x="0" y="27711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5006340" y="6080760"/>
            <a:ext cx="4046220" cy="548640"/>
            <a:chOff x="0" y="0"/>
            <a:chExt cx="5394960" cy="7315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394960" cy="731520"/>
            </a:xfrm>
            <a:custGeom>
              <a:avLst/>
              <a:gdLst/>
              <a:ahLst/>
              <a:cxnLst/>
              <a:rect r="r" b="b" t="t" l="l"/>
              <a:pathLst>
                <a:path h="731520" w="5394960">
                  <a:moveTo>
                    <a:pt x="0" y="0"/>
                  </a:moveTo>
                  <a:lnTo>
                    <a:pt x="5394960" y="0"/>
                  </a:lnTo>
                  <a:lnTo>
                    <a:pt x="53949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3702" r="0" b="-93702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53949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Panel principal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317355" y="3533775"/>
            <a:ext cx="4065270" cy="3242310"/>
            <a:chOff x="0" y="0"/>
            <a:chExt cx="5420360" cy="43230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420360" cy="4323080"/>
            </a:xfrm>
            <a:custGeom>
              <a:avLst/>
              <a:gdLst/>
              <a:ahLst/>
              <a:cxnLst/>
              <a:rect r="r" b="b" t="t" l="l"/>
              <a:pathLst>
                <a:path h="4323080" w="5420360">
                  <a:moveTo>
                    <a:pt x="0" y="110363"/>
                  </a:moveTo>
                  <a:cubicBezTo>
                    <a:pt x="0" y="49403"/>
                    <a:pt x="49403" y="0"/>
                    <a:pt x="110363" y="0"/>
                  </a:cubicBezTo>
                  <a:lnTo>
                    <a:pt x="5309997" y="0"/>
                  </a:lnTo>
                  <a:cubicBezTo>
                    <a:pt x="5370957" y="0"/>
                    <a:pt x="5420360" y="49403"/>
                    <a:pt x="5420360" y="110363"/>
                  </a:cubicBezTo>
                  <a:lnTo>
                    <a:pt x="5420360" y="4212717"/>
                  </a:lnTo>
                  <a:cubicBezTo>
                    <a:pt x="5420360" y="4273677"/>
                    <a:pt x="5370957" y="4323080"/>
                    <a:pt x="5309997" y="4323080"/>
                  </a:cubicBezTo>
                  <a:lnTo>
                    <a:pt x="110363" y="4323080"/>
                  </a:lnTo>
                  <a:cubicBezTo>
                    <a:pt x="49403" y="4323080"/>
                    <a:pt x="0" y="4273677"/>
                    <a:pt x="0" y="4212717"/>
                  </a:cubicBezTo>
                  <a:close/>
                </a:path>
              </a:pathLst>
            </a:custGeom>
            <a:solidFill>
              <a:srgbClr val="F7F7F5"/>
            </a:solidFill>
            <a:ln w="19050" cap="sq">
              <a:solidFill>
                <a:srgbClr val="8FBFA3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9532620" y="3798941"/>
            <a:ext cx="3634740" cy="2094757"/>
            <a:chOff x="0" y="0"/>
            <a:chExt cx="4846320" cy="2793009"/>
          </a:xfrm>
        </p:grpSpPr>
        <p:sp>
          <p:nvSpPr>
            <p:cNvPr name="Freeform 29" id="29" descr="img/mockup_usuarios.png"/>
            <p:cNvSpPr/>
            <p:nvPr/>
          </p:nvSpPr>
          <p:spPr>
            <a:xfrm flipH="false" flipV="false" rot="0">
              <a:off x="0" y="0"/>
              <a:ext cx="4846320" cy="2792984"/>
            </a:xfrm>
            <a:custGeom>
              <a:avLst/>
              <a:gdLst/>
              <a:ahLst/>
              <a:cxnLst/>
              <a:rect r="r" b="b" t="t" l="l"/>
              <a:pathLst>
                <a:path h="2792984" w="4846320">
                  <a:moveTo>
                    <a:pt x="0" y="0"/>
                  </a:moveTo>
                  <a:lnTo>
                    <a:pt x="4846320" y="0"/>
                  </a:lnTo>
                  <a:lnTo>
                    <a:pt x="4846320" y="2792984"/>
                  </a:lnTo>
                  <a:lnTo>
                    <a:pt x="0" y="2792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9326880" y="6080760"/>
            <a:ext cx="4046220" cy="548640"/>
            <a:chOff x="0" y="0"/>
            <a:chExt cx="5394960" cy="73152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394960" cy="731520"/>
            </a:xfrm>
            <a:custGeom>
              <a:avLst/>
              <a:gdLst/>
              <a:ahLst/>
              <a:cxnLst/>
              <a:rect r="r" b="b" t="t" l="l"/>
              <a:pathLst>
                <a:path h="731520" w="5394960">
                  <a:moveTo>
                    <a:pt x="0" y="0"/>
                  </a:moveTo>
                  <a:lnTo>
                    <a:pt x="5394960" y="0"/>
                  </a:lnTo>
                  <a:lnTo>
                    <a:pt x="53949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3702" r="0" b="-93702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53949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Gestión de usuarios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3637895" y="3533775"/>
            <a:ext cx="4065270" cy="3242310"/>
            <a:chOff x="0" y="0"/>
            <a:chExt cx="5420360" cy="432308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420360" cy="4323080"/>
            </a:xfrm>
            <a:custGeom>
              <a:avLst/>
              <a:gdLst/>
              <a:ahLst/>
              <a:cxnLst/>
              <a:rect r="r" b="b" t="t" l="l"/>
              <a:pathLst>
                <a:path h="4323080" w="5420360">
                  <a:moveTo>
                    <a:pt x="0" y="110363"/>
                  </a:moveTo>
                  <a:cubicBezTo>
                    <a:pt x="0" y="49403"/>
                    <a:pt x="49403" y="0"/>
                    <a:pt x="110363" y="0"/>
                  </a:cubicBezTo>
                  <a:lnTo>
                    <a:pt x="5309997" y="0"/>
                  </a:lnTo>
                  <a:cubicBezTo>
                    <a:pt x="5370957" y="0"/>
                    <a:pt x="5420360" y="49403"/>
                    <a:pt x="5420360" y="110363"/>
                  </a:cubicBezTo>
                  <a:lnTo>
                    <a:pt x="5420360" y="4212717"/>
                  </a:lnTo>
                  <a:cubicBezTo>
                    <a:pt x="5420360" y="4273677"/>
                    <a:pt x="5370957" y="4323080"/>
                    <a:pt x="5309997" y="4323080"/>
                  </a:cubicBezTo>
                  <a:lnTo>
                    <a:pt x="110363" y="4323080"/>
                  </a:lnTo>
                  <a:cubicBezTo>
                    <a:pt x="49403" y="4323080"/>
                    <a:pt x="0" y="4273677"/>
                    <a:pt x="0" y="4212717"/>
                  </a:cubicBezTo>
                  <a:close/>
                </a:path>
              </a:pathLst>
            </a:custGeom>
            <a:solidFill>
              <a:srgbClr val="F7F7F5"/>
            </a:solidFill>
            <a:ln w="19050" cap="sq">
              <a:solidFill>
                <a:srgbClr val="8FBFA3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13853160" y="3819039"/>
            <a:ext cx="3634740" cy="2054562"/>
            <a:chOff x="0" y="0"/>
            <a:chExt cx="4846320" cy="2739415"/>
          </a:xfrm>
        </p:grpSpPr>
        <p:sp>
          <p:nvSpPr>
            <p:cNvPr name="Freeform 36" id="36" descr="img/mockup_consultas.png"/>
            <p:cNvSpPr/>
            <p:nvPr/>
          </p:nvSpPr>
          <p:spPr>
            <a:xfrm flipH="false" flipV="false" rot="0">
              <a:off x="0" y="0"/>
              <a:ext cx="4846320" cy="2739390"/>
            </a:xfrm>
            <a:custGeom>
              <a:avLst/>
              <a:gdLst/>
              <a:ahLst/>
              <a:cxnLst/>
              <a:rect r="r" b="b" t="t" l="l"/>
              <a:pathLst>
                <a:path h="2739390" w="4846320">
                  <a:moveTo>
                    <a:pt x="0" y="0"/>
                  </a:moveTo>
                  <a:lnTo>
                    <a:pt x="4846320" y="0"/>
                  </a:lnTo>
                  <a:lnTo>
                    <a:pt x="4846320" y="2739390"/>
                  </a:lnTo>
                  <a:lnTo>
                    <a:pt x="0" y="27393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3647420" y="6080760"/>
            <a:ext cx="4046220" cy="548640"/>
            <a:chOff x="0" y="0"/>
            <a:chExt cx="5394960" cy="73152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394960" cy="731520"/>
            </a:xfrm>
            <a:custGeom>
              <a:avLst/>
              <a:gdLst/>
              <a:ahLst/>
              <a:cxnLst/>
              <a:rect r="r" b="b" t="t" l="l"/>
              <a:pathLst>
                <a:path h="731520" w="5394960">
                  <a:moveTo>
                    <a:pt x="0" y="0"/>
                  </a:moveTo>
                  <a:lnTo>
                    <a:pt x="5394960" y="0"/>
                  </a:lnTo>
                  <a:lnTo>
                    <a:pt x="53949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3702" r="0" b="-93702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53949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Consultas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685800" y="8128635"/>
            <a:ext cx="16870680" cy="822960"/>
            <a:chOff x="0" y="0"/>
            <a:chExt cx="22494240" cy="109728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2494239" cy="1097280"/>
            </a:xfrm>
            <a:custGeom>
              <a:avLst/>
              <a:gdLst/>
              <a:ahLst/>
              <a:cxnLst/>
              <a:rect r="r" b="b" t="t" l="l"/>
              <a:pathLst>
                <a:path h="1097280" w="22494239">
                  <a:moveTo>
                    <a:pt x="0" y="0"/>
                  </a:moveTo>
                  <a:lnTo>
                    <a:pt x="22494239" y="0"/>
                  </a:lnTo>
                  <a:lnTo>
                    <a:pt x="22494239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49443" r="0" b="-349443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2249424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i="true">
                  <a:solidFill>
                    <a:srgbClr val="5B6B63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Mockups originales del diseño de interfaz, elaborados antes de construir las pantallas reales en HTML/CSS/JS.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685800" y="9738360"/>
            <a:ext cx="4114800" cy="411480"/>
            <a:chOff x="0" y="0"/>
            <a:chExt cx="5486400" cy="5486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48640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28575"/>
              <a:ext cx="5486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B6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ASTRO SYSTEMS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6911828" y="9738360"/>
            <a:ext cx="685800" cy="411480"/>
            <a:chOff x="0" y="0"/>
            <a:chExt cx="914400" cy="5486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22</a:t>
              </a:r>
            </a:p>
          </p:txBody>
        </p:sp>
      </p:grp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754380" cy="754380"/>
            <a:chOff x="0" y="0"/>
            <a:chExt cx="1005840" cy="1005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91540" y="822960"/>
            <a:ext cx="342900" cy="342900"/>
            <a:chOff x="0" y="0"/>
            <a:chExt cx="457200" cy="457200"/>
          </a:xfrm>
        </p:grpSpPr>
        <p:sp>
          <p:nvSpPr>
            <p:cNvPr name="Freeform 5" id="5" descr="img/icons/desktop_white.png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45920" y="576072"/>
            <a:ext cx="10972800" cy="411480"/>
            <a:chOff x="0" y="0"/>
            <a:chExt cx="14630400" cy="5486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99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07 · SISTEMA FUNCIONAL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645920" y="960120"/>
            <a:ext cx="15910560" cy="822960"/>
            <a:chOff x="0" y="0"/>
            <a:chExt cx="21214080" cy="10972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2140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214080">
                  <a:moveTo>
                    <a:pt x="0" y="0"/>
                  </a:moveTo>
                  <a:lnTo>
                    <a:pt x="21214080" y="0"/>
                  </a:lnTo>
                  <a:lnTo>
                    <a:pt x="212140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26710" r="0" b="-32671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2121408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A1A1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Vista general del sistema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73894" y="2388394"/>
            <a:ext cx="8253412" cy="3247072"/>
            <a:chOff x="0" y="0"/>
            <a:chExt cx="11004550" cy="432943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004550" cy="4329430"/>
            </a:xfrm>
            <a:custGeom>
              <a:avLst/>
              <a:gdLst/>
              <a:ahLst/>
              <a:cxnLst/>
              <a:rect r="r" b="b" t="t" l="l"/>
              <a:pathLst>
                <a:path h="4329430" w="11004550">
                  <a:moveTo>
                    <a:pt x="0" y="110490"/>
                  </a:moveTo>
                  <a:cubicBezTo>
                    <a:pt x="0" y="49530"/>
                    <a:pt x="49530" y="0"/>
                    <a:pt x="110490" y="0"/>
                  </a:cubicBezTo>
                  <a:lnTo>
                    <a:pt x="10894060" y="0"/>
                  </a:lnTo>
                  <a:cubicBezTo>
                    <a:pt x="10955147" y="0"/>
                    <a:pt x="11004550" y="49530"/>
                    <a:pt x="11004550" y="110490"/>
                  </a:cubicBezTo>
                  <a:lnTo>
                    <a:pt x="11004550" y="4218940"/>
                  </a:lnTo>
                  <a:cubicBezTo>
                    <a:pt x="11004550" y="4280027"/>
                    <a:pt x="10955020" y="4329430"/>
                    <a:pt x="10894060" y="4329430"/>
                  </a:cubicBezTo>
                  <a:lnTo>
                    <a:pt x="110490" y="4329430"/>
                  </a:lnTo>
                  <a:cubicBezTo>
                    <a:pt x="49530" y="4329430"/>
                    <a:pt x="0" y="4279900"/>
                    <a:pt x="0" y="4218940"/>
                  </a:cubicBezTo>
                  <a:close/>
                </a:path>
              </a:pathLst>
            </a:custGeom>
            <a:blipFill>
              <a:blip r:embed="rId5"/>
              <a:stretch>
                <a:fillRect l="0" t="-24268" r="0" b="-24268"/>
              </a:stretch>
            </a:blipFill>
            <a:ln w="23812" cap="sq">
              <a:solidFill>
                <a:srgbClr val="8FBFA3"/>
              </a:solidFill>
              <a:prstDash val="dash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9246394" y="2388394"/>
            <a:ext cx="8363140" cy="3247072"/>
            <a:chOff x="0" y="0"/>
            <a:chExt cx="11150854" cy="432943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150854" cy="4329430"/>
            </a:xfrm>
            <a:custGeom>
              <a:avLst/>
              <a:gdLst/>
              <a:ahLst/>
              <a:cxnLst/>
              <a:rect r="r" b="b" t="t" l="l"/>
              <a:pathLst>
                <a:path h="4329430" w="11150854">
                  <a:moveTo>
                    <a:pt x="0" y="110490"/>
                  </a:moveTo>
                  <a:cubicBezTo>
                    <a:pt x="0" y="49530"/>
                    <a:pt x="49530" y="0"/>
                    <a:pt x="110490" y="0"/>
                  </a:cubicBezTo>
                  <a:lnTo>
                    <a:pt x="11040364" y="0"/>
                  </a:lnTo>
                  <a:cubicBezTo>
                    <a:pt x="11101451" y="0"/>
                    <a:pt x="11150854" y="49530"/>
                    <a:pt x="11150854" y="110490"/>
                  </a:cubicBezTo>
                  <a:lnTo>
                    <a:pt x="11150854" y="4218940"/>
                  </a:lnTo>
                  <a:cubicBezTo>
                    <a:pt x="11150854" y="4280027"/>
                    <a:pt x="11101324" y="4329430"/>
                    <a:pt x="11040364" y="4329430"/>
                  </a:cubicBezTo>
                  <a:lnTo>
                    <a:pt x="110490" y="4329430"/>
                  </a:lnTo>
                  <a:cubicBezTo>
                    <a:pt x="49530" y="4329430"/>
                    <a:pt x="0" y="4279900"/>
                    <a:pt x="0" y="4218940"/>
                  </a:cubicBezTo>
                  <a:close/>
                </a:path>
              </a:pathLst>
            </a:custGeom>
            <a:blipFill>
              <a:blip r:embed="rId6"/>
              <a:stretch>
                <a:fillRect l="0" t="-1270" r="0" b="-1270"/>
              </a:stretch>
            </a:blipFill>
            <a:ln w="23812" cap="sq">
              <a:solidFill>
                <a:srgbClr val="8FBFA3"/>
              </a:solidFill>
              <a:prstDash val="dash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673894" y="5885974"/>
            <a:ext cx="8253412" cy="3247072"/>
            <a:chOff x="0" y="0"/>
            <a:chExt cx="11004550" cy="432943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004550" cy="4329430"/>
            </a:xfrm>
            <a:custGeom>
              <a:avLst/>
              <a:gdLst/>
              <a:ahLst/>
              <a:cxnLst/>
              <a:rect r="r" b="b" t="t" l="l"/>
              <a:pathLst>
                <a:path h="4329430" w="11004550">
                  <a:moveTo>
                    <a:pt x="0" y="110490"/>
                  </a:moveTo>
                  <a:cubicBezTo>
                    <a:pt x="0" y="49530"/>
                    <a:pt x="49530" y="0"/>
                    <a:pt x="110490" y="0"/>
                  </a:cubicBezTo>
                  <a:lnTo>
                    <a:pt x="10894060" y="0"/>
                  </a:lnTo>
                  <a:cubicBezTo>
                    <a:pt x="10955147" y="0"/>
                    <a:pt x="11004550" y="49530"/>
                    <a:pt x="11004550" y="110490"/>
                  </a:cubicBezTo>
                  <a:lnTo>
                    <a:pt x="11004550" y="4218940"/>
                  </a:lnTo>
                  <a:cubicBezTo>
                    <a:pt x="11004550" y="4280027"/>
                    <a:pt x="10955020" y="4329430"/>
                    <a:pt x="10894060" y="4329430"/>
                  </a:cubicBezTo>
                  <a:lnTo>
                    <a:pt x="110490" y="4329430"/>
                  </a:lnTo>
                  <a:cubicBezTo>
                    <a:pt x="49530" y="4329430"/>
                    <a:pt x="0" y="4279900"/>
                    <a:pt x="0" y="4218940"/>
                  </a:cubicBezTo>
                  <a:close/>
                </a:path>
              </a:pathLst>
            </a:custGeom>
            <a:blipFill>
              <a:blip r:embed="rId7"/>
              <a:stretch>
                <a:fillRect l="0" t="-24029" r="0" b="-24029"/>
              </a:stretch>
            </a:blipFill>
            <a:ln w="23812" cap="sq">
              <a:solidFill>
                <a:srgbClr val="8FBFA3"/>
              </a:solidFill>
              <a:prstDash val="dash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9246394" y="5885974"/>
            <a:ext cx="8363140" cy="3247072"/>
            <a:chOff x="0" y="0"/>
            <a:chExt cx="11150854" cy="432943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150854" cy="4329430"/>
            </a:xfrm>
            <a:custGeom>
              <a:avLst/>
              <a:gdLst/>
              <a:ahLst/>
              <a:cxnLst/>
              <a:rect r="r" b="b" t="t" l="l"/>
              <a:pathLst>
                <a:path h="4329430" w="11150854">
                  <a:moveTo>
                    <a:pt x="0" y="110490"/>
                  </a:moveTo>
                  <a:cubicBezTo>
                    <a:pt x="0" y="49530"/>
                    <a:pt x="49530" y="0"/>
                    <a:pt x="110490" y="0"/>
                  </a:cubicBezTo>
                  <a:lnTo>
                    <a:pt x="11040364" y="0"/>
                  </a:lnTo>
                  <a:cubicBezTo>
                    <a:pt x="11101451" y="0"/>
                    <a:pt x="11150854" y="49530"/>
                    <a:pt x="11150854" y="110490"/>
                  </a:cubicBezTo>
                  <a:lnTo>
                    <a:pt x="11150854" y="4218940"/>
                  </a:lnTo>
                  <a:cubicBezTo>
                    <a:pt x="11150854" y="4280027"/>
                    <a:pt x="11101324" y="4329430"/>
                    <a:pt x="11040364" y="4329430"/>
                  </a:cubicBezTo>
                  <a:lnTo>
                    <a:pt x="110490" y="4329430"/>
                  </a:lnTo>
                  <a:cubicBezTo>
                    <a:pt x="49530" y="4329430"/>
                    <a:pt x="0" y="4279900"/>
                    <a:pt x="0" y="4218940"/>
                  </a:cubicBezTo>
                  <a:close/>
                </a:path>
              </a:pathLst>
            </a:custGeom>
            <a:blipFill>
              <a:blip r:embed="rId8"/>
              <a:stretch>
                <a:fillRect l="0" t="-948" r="0" b="-948"/>
              </a:stretch>
            </a:blipFill>
            <a:ln w="23812" cap="sq">
              <a:solidFill>
                <a:srgbClr val="8FBFA3"/>
              </a:solidFill>
              <a:prstDash val="dash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685800" y="9738360"/>
            <a:ext cx="4114800" cy="411480"/>
            <a:chOff x="0" y="0"/>
            <a:chExt cx="5486400" cy="5486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48640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5486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B6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ASTRO SYSTEMS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6911828" y="9738360"/>
            <a:ext cx="685800" cy="411480"/>
            <a:chOff x="0" y="0"/>
            <a:chExt cx="914400" cy="5486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23</a:t>
              </a:r>
            </a:p>
          </p:txBody>
        </p:sp>
      </p:grp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754380" cy="754380"/>
            <a:chOff x="0" y="0"/>
            <a:chExt cx="1005840" cy="1005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91540" y="822960"/>
            <a:ext cx="342900" cy="342900"/>
            <a:chOff x="0" y="0"/>
            <a:chExt cx="457200" cy="457200"/>
          </a:xfrm>
        </p:grpSpPr>
        <p:sp>
          <p:nvSpPr>
            <p:cNvPr name="Freeform 5" id="5" descr="img/icons/desktop_white.png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45920" y="576072"/>
            <a:ext cx="10972800" cy="411480"/>
            <a:chOff x="0" y="0"/>
            <a:chExt cx="14630400" cy="5486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99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07 · SISTEMA FUNCIONAL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645920" y="960120"/>
            <a:ext cx="15910560" cy="822960"/>
            <a:chOff x="0" y="0"/>
            <a:chExt cx="21214080" cy="10972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2140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214080">
                  <a:moveTo>
                    <a:pt x="0" y="0"/>
                  </a:moveTo>
                  <a:lnTo>
                    <a:pt x="21214080" y="0"/>
                  </a:lnTo>
                  <a:lnTo>
                    <a:pt x="212140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26710" r="0" b="-32671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2121408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A1A1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Vista general del sistema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73894" y="2388394"/>
            <a:ext cx="8253412" cy="3247072"/>
            <a:chOff x="0" y="0"/>
            <a:chExt cx="11004550" cy="432943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004550" cy="4329430"/>
            </a:xfrm>
            <a:custGeom>
              <a:avLst/>
              <a:gdLst/>
              <a:ahLst/>
              <a:cxnLst/>
              <a:rect r="r" b="b" t="t" l="l"/>
              <a:pathLst>
                <a:path h="4329430" w="11004550">
                  <a:moveTo>
                    <a:pt x="0" y="110490"/>
                  </a:moveTo>
                  <a:cubicBezTo>
                    <a:pt x="0" y="49530"/>
                    <a:pt x="49530" y="0"/>
                    <a:pt x="110490" y="0"/>
                  </a:cubicBezTo>
                  <a:lnTo>
                    <a:pt x="10894060" y="0"/>
                  </a:lnTo>
                  <a:cubicBezTo>
                    <a:pt x="10955147" y="0"/>
                    <a:pt x="11004550" y="49530"/>
                    <a:pt x="11004550" y="110490"/>
                  </a:cubicBezTo>
                  <a:lnTo>
                    <a:pt x="11004550" y="4218940"/>
                  </a:lnTo>
                  <a:cubicBezTo>
                    <a:pt x="11004550" y="4280027"/>
                    <a:pt x="10955020" y="4329430"/>
                    <a:pt x="10894060" y="4329430"/>
                  </a:cubicBezTo>
                  <a:lnTo>
                    <a:pt x="110490" y="4329430"/>
                  </a:lnTo>
                  <a:cubicBezTo>
                    <a:pt x="49530" y="4329430"/>
                    <a:pt x="0" y="4279900"/>
                    <a:pt x="0" y="4218940"/>
                  </a:cubicBezTo>
                  <a:close/>
                </a:path>
              </a:pathLst>
            </a:custGeom>
            <a:blipFill>
              <a:blip r:embed="rId5"/>
              <a:stretch>
                <a:fillRect l="0" t="-24188" r="0" b="-24188"/>
              </a:stretch>
            </a:blipFill>
            <a:ln w="23812" cap="sq">
              <a:solidFill>
                <a:srgbClr val="8FBFA3"/>
              </a:solidFill>
              <a:prstDash val="dash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9246394" y="2388394"/>
            <a:ext cx="8363140" cy="3247072"/>
            <a:chOff x="0" y="0"/>
            <a:chExt cx="11150854" cy="432943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150854" cy="4329430"/>
            </a:xfrm>
            <a:custGeom>
              <a:avLst/>
              <a:gdLst/>
              <a:ahLst/>
              <a:cxnLst/>
              <a:rect r="r" b="b" t="t" l="l"/>
              <a:pathLst>
                <a:path h="4329430" w="11150854">
                  <a:moveTo>
                    <a:pt x="0" y="110490"/>
                  </a:moveTo>
                  <a:cubicBezTo>
                    <a:pt x="0" y="49530"/>
                    <a:pt x="49530" y="0"/>
                    <a:pt x="110490" y="0"/>
                  </a:cubicBezTo>
                  <a:lnTo>
                    <a:pt x="11040364" y="0"/>
                  </a:lnTo>
                  <a:cubicBezTo>
                    <a:pt x="11101451" y="0"/>
                    <a:pt x="11150854" y="49530"/>
                    <a:pt x="11150854" y="110490"/>
                  </a:cubicBezTo>
                  <a:lnTo>
                    <a:pt x="11150854" y="4218940"/>
                  </a:lnTo>
                  <a:cubicBezTo>
                    <a:pt x="11150854" y="4280027"/>
                    <a:pt x="11101324" y="4329430"/>
                    <a:pt x="11040364" y="4329430"/>
                  </a:cubicBezTo>
                  <a:lnTo>
                    <a:pt x="110490" y="4329430"/>
                  </a:lnTo>
                  <a:cubicBezTo>
                    <a:pt x="49530" y="4329430"/>
                    <a:pt x="0" y="4279900"/>
                    <a:pt x="0" y="4218940"/>
                  </a:cubicBezTo>
                  <a:close/>
                </a:path>
              </a:pathLst>
            </a:custGeom>
            <a:blipFill>
              <a:blip r:embed="rId6"/>
              <a:stretch>
                <a:fillRect l="0" t="-25014" r="0" b="-25014"/>
              </a:stretch>
            </a:blipFill>
            <a:ln w="23812" cap="sq">
              <a:solidFill>
                <a:srgbClr val="8FBFA3"/>
              </a:solidFill>
              <a:prstDash val="dash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673894" y="5885974"/>
            <a:ext cx="8253412" cy="3247072"/>
            <a:chOff x="0" y="0"/>
            <a:chExt cx="11004550" cy="432943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004550" cy="4329430"/>
            </a:xfrm>
            <a:custGeom>
              <a:avLst/>
              <a:gdLst/>
              <a:ahLst/>
              <a:cxnLst/>
              <a:rect r="r" b="b" t="t" l="l"/>
              <a:pathLst>
                <a:path h="4329430" w="11004550">
                  <a:moveTo>
                    <a:pt x="0" y="110490"/>
                  </a:moveTo>
                  <a:cubicBezTo>
                    <a:pt x="0" y="49530"/>
                    <a:pt x="49530" y="0"/>
                    <a:pt x="110490" y="0"/>
                  </a:cubicBezTo>
                  <a:lnTo>
                    <a:pt x="10894060" y="0"/>
                  </a:lnTo>
                  <a:cubicBezTo>
                    <a:pt x="10955147" y="0"/>
                    <a:pt x="11004550" y="49530"/>
                    <a:pt x="11004550" y="110490"/>
                  </a:cubicBezTo>
                  <a:lnTo>
                    <a:pt x="11004550" y="4218940"/>
                  </a:lnTo>
                  <a:cubicBezTo>
                    <a:pt x="11004550" y="4280027"/>
                    <a:pt x="10955020" y="4329430"/>
                    <a:pt x="10894060" y="4329430"/>
                  </a:cubicBezTo>
                  <a:lnTo>
                    <a:pt x="110490" y="4329430"/>
                  </a:lnTo>
                  <a:cubicBezTo>
                    <a:pt x="49530" y="4329430"/>
                    <a:pt x="0" y="4279900"/>
                    <a:pt x="0" y="4218940"/>
                  </a:cubicBezTo>
                  <a:close/>
                </a:path>
              </a:pathLst>
            </a:custGeom>
            <a:blipFill>
              <a:blip r:embed="rId7"/>
              <a:stretch>
                <a:fillRect l="0" t="-24109" r="0" b="-24109"/>
              </a:stretch>
            </a:blipFill>
            <a:ln w="23812" cap="sq">
              <a:solidFill>
                <a:srgbClr val="8FBFA3"/>
              </a:solidFill>
              <a:prstDash val="dash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9246394" y="5885974"/>
            <a:ext cx="8363140" cy="3247072"/>
            <a:chOff x="0" y="0"/>
            <a:chExt cx="11150854" cy="432943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150854" cy="4329430"/>
            </a:xfrm>
            <a:custGeom>
              <a:avLst/>
              <a:gdLst/>
              <a:ahLst/>
              <a:cxnLst/>
              <a:rect r="r" b="b" t="t" l="l"/>
              <a:pathLst>
                <a:path h="4329430" w="11150854">
                  <a:moveTo>
                    <a:pt x="0" y="110490"/>
                  </a:moveTo>
                  <a:cubicBezTo>
                    <a:pt x="0" y="49530"/>
                    <a:pt x="49530" y="0"/>
                    <a:pt x="110490" y="0"/>
                  </a:cubicBezTo>
                  <a:lnTo>
                    <a:pt x="11040364" y="0"/>
                  </a:lnTo>
                  <a:cubicBezTo>
                    <a:pt x="11101451" y="0"/>
                    <a:pt x="11150854" y="49530"/>
                    <a:pt x="11150854" y="110490"/>
                  </a:cubicBezTo>
                  <a:lnTo>
                    <a:pt x="11150854" y="4218940"/>
                  </a:lnTo>
                  <a:cubicBezTo>
                    <a:pt x="11150854" y="4280027"/>
                    <a:pt x="11101324" y="4329430"/>
                    <a:pt x="11040364" y="4329430"/>
                  </a:cubicBezTo>
                  <a:lnTo>
                    <a:pt x="110490" y="4329430"/>
                  </a:lnTo>
                  <a:cubicBezTo>
                    <a:pt x="49530" y="4329430"/>
                    <a:pt x="0" y="4279900"/>
                    <a:pt x="0" y="4218940"/>
                  </a:cubicBezTo>
                  <a:close/>
                </a:path>
              </a:pathLst>
            </a:custGeom>
            <a:blipFill>
              <a:blip r:embed="rId8"/>
              <a:stretch>
                <a:fillRect l="0" t="-25014" r="0" b="-25014"/>
              </a:stretch>
            </a:blipFill>
            <a:ln w="23812" cap="sq">
              <a:solidFill>
                <a:srgbClr val="8FBFA3"/>
              </a:solidFill>
              <a:prstDash val="dash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685800" y="9738360"/>
            <a:ext cx="4114800" cy="411480"/>
            <a:chOff x="0" y="0"/>
            <a:chExt cx="5486400" cy="5486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48640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5486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B6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ASTRO SYSTEMS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6911828" y="9738360"/>
            <a:ext cx="685800" cy="411480"/>
            <a:chOff x="0" y="0"/>
            <a:chExt cx="914400" cy="5486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23</a:t>
              </a:r>
            </a:p>
          </p:txBody>
        </p:sp>
      </p:grp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754380" cy="754380"/>
            <a:chOff x="0" y="0"/>
            <a:chExt cx="1005840" cy="1005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91540" y="822960"/>
            <a:ext cx="342900" cy="342900"/>
            <a:chOff x="0" y="0"/>
            <a:chExt cx="457200" cy="457200"/>
          </a:xfrm>
        </p:grpSpPr>
        <p:sp>
          <p:nvSpPr>
            <p:cNvPr name="Freeform 5" id="5" descr="img/icons/desktop_white.png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45920" y="576072"/>
            <a:ext cx="10972800" cy="411480"/>
            <a:chOff x="0" y="0"/>
            <a:chExt cx="14630400" cy="5486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99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07 · SISTEMA FUNCIONAL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645920" y="960120"/>
            <a:ext cx="15910560" cy="822960"/>
            <a:chOff x="0" y="0"/>
            <a:chExt cx="21214080" cy="10972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2140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214080">
                  <a:moveTo>
                    <a:pt x="0" y="0"/>
                  </a:moveTo>
                  <a:lnTo>
                    <a:pt x="21214080" y="0"/>
                  </a:lnTo>
                  <a:lnTo>
                    <a:pt x="212140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26710" r="0" b="-32671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2121408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A1A1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Vista general del sistema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4679950" y="1714956"/>
            <a:ext cx="8928101" cy="3881846"/>
            <a:chOff x="0" y="0"/>
            <a:chExt cx="9957528" cy="432943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957529" cy="4329430"/>
            </a:xfrm>
            <a:custGeom>
              <a:avLst/>
              <a:gdLst/>
              <a:ahLst/>
              <a:cxnLst/>
              <a:rect r="r" b="b" t="t" l="l"/>
              <a:pathLst>
                <a:path h="4329430" w="9957529">
                  <a:moveTo>
                    <a:pt x="0" y="110490"/>
                  </a:moveTo>
                  <a:cubicBezTo>
                    <a:pt x="0" y="49530"/>
                    <a:pt x="44817" y="0"/>
                    <a:pt x="99977" y="0"/>
                  </a:cubicBezTo>
                  <a:lnTo>
                    <a:pt x="9857551" y="0"/>
                  </a:lnTo>
                  <a:cubicBezTo>
                    <a:pt x="9912826" y="0"/>
                    <a:pt x="9957529" y="49530"/>
                    <a:pt x="9957529" y="110490"/>
                  </a:cubicBezTo>
                  <a:lnTo>
                    <a:pt x="9957529" y="4218940"/>
                  </a:lnTo>
                  <a:cubicBezTo>
                    <a:pt x="9957529" y="4280027"/>
                    <a:pt x="9912710" y="4329430"/>
                    <a:pt x="9857551" y="4329430"/>
                  </a:cubicBezTo>
                  <a:lnTo>
                    <a:pt x="99977" y="4329430"/>
                  </a:lnTo>
                  <a:cubicBezTo>
                    <a:pt x="44817" y="4329430"/>
                    <a:pt x="0" y="4279900"/>
                    <a:pt x="0" y="4218940"/>
                  </a:cubicBezTo>
                  <a:close/>
                </a:path>
              </a:pathLst>
            </a:custGeom>
            <a:blipFill>
              <a:blip r:embed="rId5"/>
              <a:stretch>
                <a:fillRect l="0" t="-17202" r="0" b="-17202"/>
              </a:stretch>
            </a:blipFill>
            <a:ln w="23812" cap="sq">
              <a:solidFill>
                <a:srgbClr val="8FBFA3"/>
              </a:solidFill>
              <a:prstDash val="dash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4679950" y="5934369"/>
            <a:ext cx="8928101" cy="3466424"/>
            <a:chOff x="0" y="0"/>
            <a:chExt cx="11150854" cy="432943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150854" cy="4329430"/>
            </a:xfrm>
            <a:custGeom>
              <a:avLst/>
              <a:gdLst/>
              <a:ahLst/>
              <a:cxnLst/>
              <a:rect r="r" b="b" t="t" l="l"/>
              <a:pathLst>
                <a:path h="4329430" w="11150854">
                  <a:moveTo>
                    <a:pt x="0" y="110490"/>
                  </a:moveTo>
                  <a:cubicBezTo>
                    <a:pt x="0" y="49530"/>
                    <a:pt x="49530" y="0"/>
                    <a:pt x="110490" y="0"/>
                  </a:cubicBezTo>
                  <a:lnTo>
                    <a:pt x="11040364" y="0"/>
                  </a:lnTo>
                  <a:cubicBezTo>
                    <a:pt x="11101451" y="0"/>
                    <a:pt x="11150854" y="49530"/>
                    <a:pt x="11150854" y="110490"/>
                  </a:cubicBezTo>
                  <a:lnTo>
                    <a:pt x="11150854" y="4218940"/>
                  </a:lnTo>
                  <a:cubicBezTo>
                    <a:pt x="11150854" y="4280027"/>
                    <a:pt x="11101324" y="4329430"/>
                    <a:pt x="11040364" y="4329430"/>
                  </a:cubicBezTo>
                  <a:lnTo>
                    <a:pt x="110490" y="4329430"/>
                  </a:lnTo>
                  <a:cubicBezTo>
                    <a:pt x="49530" y="4329430"/>
                    <a:pt x="0" y="4279900"/>
                    <a:pt x="0" y="4218940"/>
                  </a:cubicBezTo>
                  <a:close/>
                </a:path>
              </a:pathLst>
            </a:custGeom>
            <a:blipFill>
              <a:blip r:embed="rId6"/>
              <a:stretch>
                <a:fillRect l="0" t="-25094" r="0" b="-25094"/>
              </a:stretch>
            </a:blipFill>
            <a:ln w="23812" cap="sq">
              <a:solidFill>
                <a:srgbClr val="8FBFA3"/>
              </a:solidFill>
              <a:prstDash val="dash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685800" y="9738360"/>
            <a:ext cx="4114800" cy="411480"/>
            <a:chOff x="0" y="0"/>
            <a:chExt cx="5486400" cy="5486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48640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5486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B6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ASTRO SYSTEMS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6911828" y="9738360"/>
            <a:ext cx="685800" cy="411480"/>
            <a:chOff x="0" y="0"/>
            <a:chExt cx="914400" cy="5486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23</a:t>
              </a:r>
            </a:p>
          </p:txBody>
        </p:sp>
      </p:grp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754380" cy="754380"/>
            <a:chOff x="0" y="0"/>
            <a:chExt cx="1005840" cy="1005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91540" y="822960"/>
            <a:ext cx="342900" cy="342900"/>
            <a:chOff x="0" y="0"/>
            <a:chExt cx="457200" cy="457200"/>
          </a:xfrm>
        </p:grpSpPr>
        <p:sp>
          <p:nvSpPr>
            <p:cNvPr name="Freeform 5" id="5" descr="img/icons/check_white.png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45920" y="576072"/>
            <a:ext cx="10972800" cy="411480"/>
            <a:chOff x="0" y="0"/>
            <a:chExt cx="14630400" cy="5486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99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07 · SISTEMA FUNCIONAL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645920" y="960120"/>
            <a:ext cx="15910560" cy="822960"/>
            <a:chOff x="0" y="0"/>
            <a:chExt cx="21214080" cy="10972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2140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214080">
                  <a:moveTo>
                    <a:pt x="0" y="0"/>
                  </a:moveTo>
                  <a:lnTo>
                    <a:pt x="21214080" y="0"/>
                  </a:lnTo>
                  <a:lnTo>
                    <a:pt x="212140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26710" r="0" b="-32671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2121408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A1A1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Funcionalidades clave en acción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85800" y="2400300"/>
            <a:ext cx="3977640" cy="6309360"/>
            <a:chOff x="0" y="0"/>
            <a:chExt cx="5303520" cy="84124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303520" cy="8412480"/>
            </a:xfrm>
            <a:custGeom>
              <a:avLst/>
              <a:gdLst/>
              <a:ahLst/>
              <a:cxnLst/>
              <a:rect r="r" b="b" t="t" l="l"/>
              <a:pathLst>
                <a:path h="8412480" w="53035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157216" y="0"/>
                  </a:lnTo>
                  <a:cubicBezTo>
                    <a:pt x="5237988" y="0"/>
                    <a:pt x="5303520" y="65532"/>
                    <a:pt x="5303520" y="146304"/>
                  </a:cubicBezTo>
                  <a:lnTo>
                    <a:pt x="5303520" y="8266176"/>
                  </a:lnTo>
                  <a:cubicBezTo>
                    <a:pt x="5303520" y="8346948"/>
                    <a:pt x="5237988" y="8412480"/>
                    <a:pt x="5157216" y="8412480"/>
                  </a:cubicBezTo>
                  <a:lnTo>
                    <a:pt x="146304" y="8412480"/>
                  </a:lnTo>
                  <a:cubicBezTo>
                    <a:pt x="65532" y="8412480"/>
                    <a:pt x="0" y="8346948"/>
                    <a:pt x="0" y="8266176"/>
                  </a:cubicBezTo>
                  <a:close/>
                </a:path>
              </a:pathLst>
            </a:custGeom>
            <a:solidFill>
              <a:srgbClr val="E8F3EC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194560" y="2811780"/>
            <a:ext cx="960120" cy="960120"/>
            <a:chOff x="0" y="0"/>
            <a:chExt cx="1280160" cy="12801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2414016" y="3031236"/>
            <a:ext cx="521208" cy="521208"/>
            <a:chOff x="0" y="0"/>
            <a:chExt cx="694944" cy="694944"/>
          </a:xfrm>
        </p:grpSpPr>
        <p:sp>
          <p:nvSpPr>
            <p:cNvPr name="Freeform 17" id="17" descr="img/icons/userShield_white.png"/>
            <p:cNvSpPr/>
            <p:nvPr/>
          </p:nvSpPr>
          <p:spPr>
            <a:xfrm flipH="false" flipV="false" rot="0">
              <a:off x="0" y="0"/>
              <a:ext cx="694944" cy="694944"/>
            </a:xfrm>
            <a:custGeom>
              <a:avLst/>
              <a:gdLst/>
              <a:ahLst/>
              <a:cxnLst/>
              <a:rect r="r" b="b" t="t" l="l"/>
              <a:pathLst>
                <a:path h="694944" w="694944">
                  <a:moveTo>
                    <a:pt x="0" y="0"/>
                  </a:moveTo>
                  <a:lnTo>
                    <a:pt x="694944" y="0"/>
                  </a:lnTo>
                  <a:lnTo>
                    <a:pt x="694944" y="694944"/>
                  </a:lnTo>
                  <a:lnTo>
                    <a:pt x="0" y="6949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891540" y="3977640"/>
            <a:ext cx="3566160" cy="960120"/>
            <a:chOff x="0" y="0"/>
            <a:chExt cx="4754880" cy="12801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754880" cy="1280160"/>
            </a:xfrm>
            <a:custGeom>
              <a:avLst/>
              <a:gdLst/>
              <a:ahLst/>
              <a:cxnLst/>
              <a:rect r="r" b="b" t="t" l="l"/>
              <a:pathLst>
                <a:path h="128016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2372" r="0" b="-22372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4754880" cy="13277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Gestión de usuarios y grupos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987552" y="5452110"/>
            <a:ext cx="3374136" cy="866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9"/>
              </a:lnSpc>
            </a:pPr>
            <a:r>
              <a:rPr lang="en-US" sz="1874">
                <a:solidFill>
                  <a:srgbClr val="5B6B63"/>
                </a:solidFill>
                <a:latin typeface="Calibri (MS)"/>
                <a:ea typeface="Calibri (MS)"/>
                <a:cs typeface="Calibri (MS)"/>
                <a:sym typeface="Calibri (MS)"/>
              </a:rPr>
              <a:t>Registro, edición, habilitación e inhabilitación desde el panel administrativo.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4992624" y="2400300"/>
            <a:ext cx="3977640" cy="6309360"/>
            <a:chOff x="0" y="0"/>
            <a:chExt cx="5303520" cy="84124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303520" cy="8412480"/>
            </a:xfrm>
            <a:custGeom>
              <a:avLst/>
              <a:gdLst/>
              <a:ahLst/>
              <a:cxnLst/>
              <a:rect r="r" b="b" t="t" l="l"/>
              <a:pathLst>
                <a:path h="8412480" w="53035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157216" y="0"/>
                  </a:lnTo>
                  <a:cubicBezTo>
                    <a:pt x="5237988" y="0"/>
                    <a:pt x="5303520" y="65532"/>
                    <a:pt x="5303520" y="146304"/>
                  </a:cubicBezTo>
                  <a:lnTo>
                    <a:pt x="5303520" y="8266176"/>
                  </a:lnTo>
                  <a:cubicBezTo>
                    <a:pt x="5303520" y="8346948"/>
                    <a:pt x="5237988" y="8412480"/>
                    <a:pt x="5157216" y="8412480"/>
                  </a:cubicBezTo>
                  <a:lnTo>
                    <a:pt x="146304" y="8412480"/>
                  </a:lnTo>
                  <a:cubicBezTo>
                    <a:pt x="65532" y="8412480"/>
                    <a:pt x="0" y="8346948"/>
                    <a:pt x="0" y="8266176"/>
                  </a:cubicBezTo>
                  <a:close/>
                </a:path>
              </a:pathLst>
            </a:custGeom>
            <a:solidFill>
              <a:srgbClr val="E8F3EC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6501384" y="2811780"/>
            <a:ext cx="960120" cy="960120"/>
            <a:chOff x="0" y="0"/>
            <a:chExt cx="1280160" cy="128016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6720840" y="3031236"/>
            <a:ext cx="521208" cy="521208"/>
            <a:chOff x="0" y="0"/>
            <a:chExt cx="694944" cy="694944"/>
          </a:xfrm>
        </p:grpSpPr>
        <p:sp>
          <p:nvSpPr>
            <p:cNvPr name="Freeform 27" id="27" descr="img/icons/door_white.png"/>
            <p:cNvSpPr/>
            <p:nvPr/>
          </p:nvSpPr>
          <p:spPr>
            <a:xfrm flipH="false" flipV="false" rot="0">
              <a:off x="0" y="0"/>
              <a:ext cx="694944" cy="694944"/>
            </a:xfrm>
            <a:custGeom>
              <a:avLst/>
              <a:gdLst/>
              <a:ahLst/>
              <a:cxnLst/>
              <a:rect r="r" b="b" t="t" l="l"/>
              <a:pathLst>
                <a:path h="694944" w="694944">
                  <a:moveTo>
                    <a:pt x="0" y="0"/>
                  </a:moveTo>
                  <a:lnTo>
                    <a:pt x="694944" y="0"/>
                  </a:lnTo>
                  <a:lnTo>
                    <a:pt x="694944" y="694944"/>
                  </a:lnTo>
                  <a:lnTo>
                    <a:pt x="0" y="6949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5198364" y="3977640"/>
            <a:ext cx="3566160" cy="960120"/>
            <a:chOff x="0" y="0"/>
            <a:chExt cx="4754880" cy="128016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754880" cy="1280160"/>
            </a:xfrm>
            <a:custGeom>
              <a:avLst/>
              <a:gdLst/>
              <a:ahLst/>
              <a:cxnLst/>
              <a:rect r="r" b="b" t="t" l="l"/>
              <a:pathLst>
                <a:path h="128016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2372" r="0" b="-22372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4754880" cy="13277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Accesos grupo-puerta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5294376" y="5452110"/>
            <a:ext cx="3374136" cy="866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9"/>
              </a:lnSpc>
            </a:pPr>
            <a:r>
              <a:rPr lang="en-US" sz="1874">
                <a:solidFill>
                  <a:srgbClr val="5B6B63"/>
                </a:solidFill>
                <a:latin typeface="Calibri (MS)"/>
                <a:ea typeface="Calibri (MS)"/>
                <a:cs typeface="Calibri (MS)"/>
                <a:sym typeface="Calibri (MS)"/>
              </a:rPr>
              <a:t>Asignación y eliminación de permisos entre grupos y puertas específicas.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9299448" y="2400300"/>
            <a:ext cx="3977640" cy="6309360"/>
            <a:chOff x="0" y="0"/>
            <a:chExt cx="5303520" cy="841248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303520" cy="8412480"/>
            </a:xfrm>
            <a:custGeom>
              <a:avLst/>
              <a:gdLst/>
              <a:ahLst/>
              <a:cxnLst/>
              <a:rect r="r" b="b" t="t" l="l"/>
              <a:pathLst>
                <a:path h="8412480" w="53035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157216" y="0"/>
                  </a:lnTo>
                  <a:cubicBezTo>
                    <a:pt x="5237988" y="0"/>
                    <a:pt x="5303520" y="65532"/>
                    <a:pt x="5303520" y="146304"/>
                  </a:cubicBezTo>
                  <a:lnTo>
                    <a:pt x="5303520" y="8266176"/>
                  </a:lnTo>
                  <a:cubicBezTo>
                    <a:pt x="5303520" y="8346948"/>
                    <a:pt x="5237988" y="8412480"/>
                    <a:pt x="5157216" y="8412480"/>
                  </a:cubicBezTo>
                  <a:lnTo>
                    <a:pt x="146304" y="8412480"/>
                  </a:lnTo>
                  <a:cubicBezTo>
                    <a:pt x="65532" y="8412480"/>
                    <a:pt x="0" y="8346948"/>
                    <a:pt x="0" y="8266176"/>
                  </a:cubicBezTo>
                  <a:close/>
                </a:path>
              </a:pathLst>
            </a:custGeom>
            <a:solidFill>
              <a:srgbClr val="E8F3EC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0808208" y="2811780"/>
            <a:ext cx="960120" cy="960120"/>
            <a:chOff x="0" y="0"/>
            <a:chExt cx="1280160" cy="128016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1027664" y="3031236"/>
            <a:ext cx="521208" cy="521208"/>
            <a:chOff x="0" y="0"/>
            <a:chExt cx="694944" cy="694944"/>
          </a:xfrm>
        </p:grpSpPr>
        <p:sp>
          <p:nvSpPr>
            <p:cNvPr name="Freeform 37" id="37" descr="img/icons/history_white.png"/>
            <p:cNvSpPr/>
            <p:nvPr/>
          </p:nvSpPr>
          <p:spPr>
            <a:xfrm flipH="false" flipV="false" rot="0">
              <a:off x="0" y="0"/>
              <a:ext cx="694944" cy="694944"/>
            </a:xfrm>
            <a:custGeom>
              <a:avLst/>
              <a:gdLst/>
              <a:ahLst/>
              <a:cxnLst/>
              <a:rect r="r" b="b" t="t" l="l"/>
              <a:pathLst>
                <a:path h="694944" w="694944">
                  <a:moveTo>
                    <a:pt x="0" y="0"/>
                  </a:moveTo>
                  <a:lnTo>
                    <a:pt x="694944" y="0"/>
                  </a:lnTo>
                  <a:lnTo>
                    <a:pt x="694944" y="694944"/>
                  </a:lnTo>
                  <a:lnTo>
                    <a:pt x="0" y="6949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9505188" y="3977640"/>
            <a:ext cx="3566160" cy="960120"/>
            <a:chOff x="0" y="0"/>
            <a:chExt cx="4754880" cy="128016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754880" cy="1280160"/>
            </a:xfrm>
            <a:custGeom>
              <a:avLst/>
              <a:gdLst/>
              <a:ahLst/>
              <a:cxnLst/>
              <a:rect r="r" b="b" t="t" l="l"/>
              <a:pathLst>
                <a:path h="128016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2372" r="0" b="-22372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4754880" cy="13277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Auditoría completa</a:t>
              </a: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9601200" y="5452110"/>
            <a:ext cx="3374136" cy="866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9"/>
              </a:lnSpc>
            </a:pPr>
            <a:r>
              <a:rPr lang="en-US" sz="1874">
                <a:solidFill>
                  <a:srgbClr val="5B6B63"/>
                </a:solidFill>
                <a:latin typeface="Calibri (MS)"/>
                <a:ea typeface="Calibri (MS)"/>
                <a:cs typeface="Calibri (MS)"/>
                <a:sym typeface="Calibri (MS)"/>
              </a:rPr>
              <a:t>Registro de logins y de cada cambio, incluyendo al administrador responsable.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13606272" y="2400300"/>
            <a:ext cx="3977640" cy="6309360"/>
            <a:chOff x="0" y="0"/>
            <a:chExt cx="5303520" cy="841248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303520" cy="8412480"/>
            </a:xfrm>
            <a:custGeom>
              <a:avLst/>
              <a:gdLst/>
              <a:ahLst/>
              <a:cxnLst/>
              <a:rect r="r" b="b" t="t" l="l"/>
              <a:pathLst>
                <a:path h="8412480" w="53035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157216" y="0"/>
                  </a:lnTo>
                  <a:cubicBezTo>
                    <a:pt x="5237988" y="0"/>
                    <a:pt x="5303520" y="65532"/>
                    <a:pt x="5303520" y="146304"/>
                  </a:cubicBezTo>
                  <a:lnTo>
                    <a:pt x="5303520" y="8266176"/>
                  </a:lnTo>
                  <a:cubicBezTo>
                    <a:pt x="5303520" y="8346948"/>
                    <a:pt x="5237988" y="8412480"/>
                    <a:pt x="5157216" y="8412480"/>
                  </a:cubicBezTo>
                  <a:lnTo>
                    <a:pt x="146304" y="8412480"/>
                  </a:lnTo>
                  <a:cubicBezTo>
                    <a:pt x="65532" y="8412480"/>
                    <a:pt x="0" y="8346948"/>
                    <a:pt x="0" y="8266176"/>
                  </a:cubicBezTo>
                  <a:close/>
                </a:path>
              </a:pathLst>
            </a:custGeom>
            <a:solidFill>
              <a:srgbClr val="E8F3EC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5115032" y="2811780"/>
            <a:ext cx="960120" cy="960120"/>
            <a:chOff x="0" y="0"/>
            <a:chExt cx="1280160" cy="128016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5334488" y="3031236"/>
            <a:ext cx="521208" cy="521208"/>
            <a:chOff x="0" y="0"/>
            <a:chExt cx="694944" cy="694944"/>
          </a:xfrm>
        </p:grpSpPr>
        <p:sp>
          <p:nvSpPr>
            <p:cNvPr name="Freeform 47" id="47" descr="img/icons/search_white.png"/>
            <p:cNvSpPr/>
            <p:nvPr/>
          </p:nvSpPr>
          <p:spPr>
            <a:xfrm flipH="false" flipV="false" rot="0">
              <a:off x="0" y="0"/>
              <a:ext cx="694944" cy="694944"/>
            </a:xfrm>
            <a:custGeom>
              <a:avLst/>
              <a:gdLst/>
              <a:ahLst/>
              <a:cxnLst/>
              <a:rect r="r" b="b" t="t" l="l"/>
              <a:pathLst>
                <a:path h="694944" w="694944">
                  <a:moveTo>
                    <a:pt x="0" y="0"/>
                  </a:moveTo>
                  <a:lnTo>
                    <a:pt x="694944" y="0"/>
                  </a:lnTo>
                  <a:lnTo>
                    <a:pt x="694944" y="694944"/>
                  </a:lnTo>
                  <a:lnTo>
                    <a:pt x="0" y="6949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3812012" y="3977640"/>
            <a:ext cx="3566160" cy="960120"/>
            <a:chOff x="0" y="0"/>
            <a:chExt cx="4754880" cy="128016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754880" cy="1280160"/>
            </a:xfrm>
            <a:custGeom>
              <a:avLst/>
              <a:gdLst/>
              <a:ahLst/>
              <a:cxnLst/>
              <a:rect r="r" b="b" t="t" l="l"/>
              <a:pathLst>
                <a:path h="128016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2372" r="0" b="-22372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47625"/>
              <a:ext cx="4754880" cy="13277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Consultas cruzadas</a:t>
              </a:r>
            </a:p>
          </p:txBody>
        </p:sp>
      </p:grpSp>
      <p:sp>
        <p:nvSpPr>
          <p:cNvPr name="TextBox 51" id="51"/>
          <p:cNvSpPr txBox="true"/>
          <p:nvPr/>
        </p:nvSpPr>
        <p:spPr>
          <a:xfrm rot="0">
            <a:off x="13908024" y="5452110"/>
            <a:ext cx="3374136" cy="866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9"/>
              </a:lnSpc>
            </a:pPr>
            <a:r>
              <a:rPr lang="en-US" sz="1874">
                <a:solidFill>
                  <a:srgbClr val="5B6B63"/>
                </a:solidFill>
                <a:latin typeface="Calibri (MS)"/>
                <a:ea typeface="Calibri (MS)"/>
                <a:cs typeface="Calibri (MS)"/>
                <a:sym typeface="Calibri (MS)"/>
              </a:rPr>
              <a:t>Búsqueda con múltiples filtros combinados sobre usuarios, grupos y accesos.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685800" y="9738360"/>
            <a:ext cx="4114800" cy="411480"/>
            <a:chOff x="0" y="0"/>
            <a:chExt cx="5486400" cy="54864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548640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28575"/>
              <a:ext cx="5486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B6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ASTRO SYSTEMS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6911828" y="9738360"/>
            <a:ext cx="685800" cy="411480"/>
            <a:chOff x="0" y="0"/>
            <a:chExt cx="914400" cy="54864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24</a:t>
              </a:r>
            </a:p>
          </p:txBody>
        </p:sp>
      </p:grp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754380" cy="754380"/>
            <a:chOff x="0" y="0"/>
            <a:chExt cx="1005840" cy="1005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91540" y="822960"/>
            <a:ext cx="342900" cy="342900"/>
            <a:chOff x="0" y="0"/>
            <a:chExt cx="457200" cy="457200"/>
          </a:xfrm>
        </p:grpSpPr>
        <p:sp>
          <p:nvSpPr>
            <p:cNvPr name="Freeform 5" id="5" descr="img/icons/book_white.png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45920" y="576072"/>
            <a:ext cx="10972800" cy="411480"/>
            <a:chOff x="0" y="0"/>
            <a:chExt cx="14630400" cy="5486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99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07 · SISTEMA FUNCIONAL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645920" y="960120"/>
            <a:ext cx="15910560" cy="822960"/>
            <a:chOff x="0" y="0"/>
            <a:chExt cx="21214080" cy="10972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2140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214080">
                  <a:moveTo>
                    <a:pt x="0" y="0"/>
                  </a:moveTo>
                  <a:lnTo>
                    <a:pt x="21214080" y="0"/>
                  </a:lnTo>
                  <a:lnTo>
                    <a:pt x="212140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26710" r="0" b="-32671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2121408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A1A1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Manual de usuario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891540" y="3512044"/>
            <a:ext cx="10012680" cy="3167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07194" indent="-203597" lvl="1">
              <a:lnSpc>
                <a:spcPts val="3104"/>
              </a:lnSpc>
              <a:buFont typeface="Arial"/>
              <a:buChar char="•"/>
            </a:pPr>
            <a:r>
              <a:rPr lang="en-US" sz="2250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Documento independiente con guía completa para cada rol (ADMIN, AUDITOR, CONSULTOR, USER).</a:t>
            </a:r>
          </a:p>
          <a:p>
            <a:pPr algn="l">
              <a:lnSpc>
                <a:spcPts val="3104"/>
              </a:lnSpc>
            </a:pPr>
          </a:p>
          <a:p>
            <a:pPr algn="l" marL="407194" indent="-203597" lvl="1">
              <a:lnSpc>
                <a:spcPts val="3104"/>
              </a:lnSpc>
              <a:buFont typeface="Arial"/>
              <a:buChar char="•"/>
            </a:pPr>
            <a:r>
              <a:rPr lang="en-US" sz="2250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Explica paso a paso: inicio de sesión, navegación, gestión de usuarios y grupos, configuración de accesos, consultas y auditoría.</a:t>
            </a:r>
          </a:p>
          <a:p>
            <a:pPr algn="l">
              <a:lnSpc>
                <a:spcPts val="3104"/>
              </a:lnSpc>
            </a:pPr>
          </a:p>
          <a:p>
            <a:pPr algn="l" marL="407194" indent="-203597" lvl="1">
              <a:lnSpc>
                <a:spcPts val="3104"/>
              </a:lnSpc>
              <a:buFont typeface="Arial"/>
              <a:buChar char="•"/>
            </a:pPr>
            <a:r>
              <a:rPr lang="en-US" sz="2250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Incluye casos de uso reales, preguntas frecuentes y un glosario de términos del sistema.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1384280" y="2606040"/>
            <a:ext cx="6172200" cy="5760720"/>
            <a:chOff x="0" y="0"/>
            <a:chExt cx="8229600" cy="76809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229600" cy="7680960"/>
            </a:xfrm>
            <a:custGeom>
              <a:avLst/>
              <a:gdLst/>
              <a:ahLst/>
              <a:cxnLst/>
              <a:rect r="r" b="b" t="t" l="l"/>
              <a:pathLst>
                <a:path h="7680960" w="822960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8046720" y="0"/>
                  </a:lnTo>
                  <a:cubicBezTo>
                    <a:pt x="8147685" y="0"/>
                    <a:pt x="8229600" y="81915"/>
                    <a:pt x="8229600" y="182880"/>
                  </a:cubicBezTo>
                  <a:lnTo>
                    <a:pt x="8229600" y="7498080"/>
                  </a:lnTo>
                  <a:cubicBezTo>
                    <a:pt x="8229600" y="7599045"/>
                    <a:pt x="8147685" y="7680960"/>
                    <a:pt x="8046720" y="7680960"/>
                  </a:cubicBezTo>
                  <a:lnTo>
                    <a:pt x="182880" y="7680960"/>
                  </a:lnTo>
                  <a:cubicBezTo>
                    <a:pt x="81915" y="7680960"/>
                    <a:pt x="0" y="7599045"/>
                    <a:pt x="0" y="7498080"/>
                  </a:cubicBez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3784580" y="3497580"/>
            <a:ext cx="1371600" cy="1371600"/>
            <a:chOff x="0" y="0"/>
            <a:chExt cx="1828800" cy="1828800"/>
          </a:xfrm>
        </p:grpSpPr>
        <p:sp>
          <p:nvSpPr>
            <p:cNvPr name="Freeform 16" id="16" descr="img/icons/book_gold.png"/>
            <p:cNvSpPr/>
            <p:nvPr/>
          </p:nvSpPr>
          <p:spPr>
            <a:xfrm flipH="false" flipV="false" rot="0">
              <a:off x="0" y="0"/>
              <a:ext cx="1828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1727180" y="5280660"/>
            <a:ext cx="5486400" cy="1234440"/>
            <a:chOff x="0" y="0"/>
            <a:chExt cx="7315200" cy="16459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315200" cy="1645920"/>
            </a:xfrm>
            <a:custGeom>
              <a:avLst/>
              <a:gdLst/>
              <a:ahLst/>
              <a:cxnLst/>
              <a:rect r="r" b="b" t="t" l="l"/>
              <a:pathLst>
                <a:path h="16459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6600" r="0" b="-3660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731520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Manual de Usuario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ASTRO SYSTEMS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727180" y="6720840"/>
            <a:ext cx="5486400" cy="548640"/>
            <a:chOff x="0" y="0"/>
            <a:chExt cx="7315200" cy="7315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31520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731520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8FBFA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Versión 1.0 · 2026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85800" y="9738360"/>
            <a:ext cx="4114800" cy="411480"/>
            <a:chOff x="0" y="0"/>
            <a:chExt cx="5486400" cy="5486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48640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5486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B6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ASTRO SYSTEMS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6911828" y="9738360"/>
            <a:ext cx="685800" cy="411480"/>
            <a:chOff x="0" y="0"/>
            <a:chExt cx="914400" cy="5486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25</a:t>
              </a:r>
            </a:p>
          </p:txBody>
        </p:sp>
      </p:grp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754380" cy="754380"/>
            <a:chOff x="0" y="0"/>
            <a:chExt cx="1005840" cy="1005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91540" y="822960"/>
            <a:ext cx="342900" cy="342900"/>
            <a:chOff x="0" y="0"/>
            <a:chExt cx="457200" cy="457200"/>
          </a:xfrm>
        </p:grpSpPr>
        <p:sp>
          <p:nvSpPr>
            <p:cNvPr name="Freeform 5" id="5" descr="img/icons/check_white.png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45920" y="576072"/>
            <a:ext cx="10972800" cy="411480"/>
            <a:chOff x="0" y="0"/>
            <a:chExt cx="14630400" cy="5486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99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07 · SISTEMA FUNCIONAL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645920" y="960120"/>
            <a:ext cx="15910560" cy="822960"/>
            <a:chOff x="0" y="0"/>
            <a:chExt cx="21214080" cy="10972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2140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214080">
                  <a:moveTo>
                    <a:pt x="0" y="0"/>
                  </a:moveTo>
                  <a:lnTo>
                    <a:pt x="21214080" y="0"/>
                  </a:lnTo>
                  <a:lnTo>
                    <a:pt x="212140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26710" r="0" b="-32671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2121408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A1A1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Pruebas realizadas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85800" y="2400300"/>
            <a:ext cx="8092440" cy="2674620"/>
            <a:chOff x="0" y="0"/>
            <a:chExt cx="10789920" cy="35661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789920" cy="3566160"/>
            </a:xfrm>
            <a:custGeom>
              <a:avLst/>
              <a:gdLst/>
              <a:ahLst/>
              <a:cxnLst/>
              <a:rect r="r" b="b" t="t" l="l"/>
              <a:pathLst>
                <a:path h="3566160" w="107899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643616" y="0"/>
                  </a:lnTo>
                  <a:cubicBezTo>
                    <a:pt x="10724388" y="0"/>
                    <a:pt x="10789920" y="65532"/>
                    <a:pt x="10789920" y="146304"/>
                  </a:cubicBezTo>
                  <a:lnTo>
                    <a:pt x="10789920" y="3419856"/>
                  </a:lnTo>
                  <a:cubicBezTo>
                    <a:pt x="10789920" y="3500628"/>
                    <a:pt x="10724388" y="3566160"/>
                    <a:pt x="10643616" y="3566160"/>
                  </a:cubicBezTo>
                  <a:lnTo>
                    <a:pt x="146304" y="3566160"/>
                  </a:lnTo>
                  <a:cubicBezTo>
                    <a:pt x="65532" y="3566160"/>
                    <a:pt x="0" y="3500628"/>
                    <a:pt x="0" y="3419856"/>
                  </a:cubicBezTo>
                  <a:close/>
                </a:path>
              </a:pathLst>
            </a:custGeom>
            <a:solidFill>
              <a:srgbClr val="E8F3EC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28700" y="2606040"/>
            <a:ext cx="7406640" cy="685800"/>
            <a:chOff x="0" y="0"/>
            <a:chExt cx="9875520" cy="914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875520" cy="914400"/>
            </a:xfrm>
            <a:custGeom>
              <a:avLst/>
              <a:gdLst/>
              <a:ahLst/>
              <a:cxnLst/>
              <a:rect r="r" b="b" t="t" l="l"/>
              <a:pathLst>
                <a:path h="91440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60438" r="0" b="-160438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987552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 b="true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Pruebas funcionales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028700" y="3475863"/>
            <a:ext cx="7406640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9"/>
              </a:lnSpc>
            </a:pPr>
            <a:r>
              <a:rPr lang="en-US" sz="1924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Verificación manual de cada módulo: login, CRUD de usuarios y grupos, configuración de accesos y auditoría.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532620" y="2400300"/>
            <a:ext cx="8092440" cy="2674620"/>
            <a:chOff x="0" y="0"/>
            <a:chExt cx="10789920" cy="35661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789920" cy="3566160"/>
            </a:xfrm>
            <a:custGeom>
              <a:avLst/>
              <a:gdLst/>
              <a:ahLst/>
              <a:cxnLst/>
              <a:rect r="r" b="b" t="t" l="l"/>
              <a:pathLst>
                <a:path h="3566160" w="107899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643616" y="0"/>
                  </a:lnTo>
                  <a:cubicBezTo>
                    <a:pt x="10724388" y="0"/>
                    <a:pt x="10789920" y="65532"/>
                    <a:pt x="10789920" y="146304"/>
                  </a:cubicBezTo>
                  <a:lnTo>
                    <a:pt x="10789920" y="3419856"/>
                  </a:lnTo>
                  <a:cubicBezTo>
                    <a:pt x="10789920" y="3500628"/>
                    <a:pt x="10724388" y="3566160"/>
                    <a:pt x="10643616" y="3566160"/>
                  </a:cubicBezTo>
                  <a:lnTo>
                    <a:pt x="146304" y="3566160"/>
                  </a:lnTo>
                  <a:cubicBezTo>
                    <a:pt x="65532" y="3566160"/>
                    <a:pt x="0" y="3500628"/>
                    <a:pt x="0" y="3419856"/>
                  </a:cubicBezTo>
                  <a:close/>
                </a:path>
              </a:pathLst>
            </a:custGeom>
            <a:solidFill>
              <a:srgbClr val="E8F3EC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875520" y="2606040"/>
            <a:ext cx="7406640" cy="685800"/>
            <a:chOff x="0" y="0"/>
            <a:chExt cx="9875520" cy="9144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875520" cy="914400"/>
            </a:xfrm>
            <a:custGeom>
              <a:avLst/>
              <a:gdLst/>
              <a:ahLst/>
              <a:cxnLst/>
              <a:rect r="r" b="b" t="t" l="l"/>
              <a:pathLst>
                <a:path h="91440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60438" r="0" b="-160438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987552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 b="true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Pruebas de roles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9875520" y="3475863"/>
            <a:ext cx="7406640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9"/>
              </a:lnSpc>
            </a:pPr>
            <a:r>
              <a:rPr lang="en-US" sz="1924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Validación de que cada rol (ADMIN, USER, AUDITOR, CONSULTOR) solo accede a los módulos permitidos.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685800" y="5417820"/>
            <a:ext cx="8092440" cy="2674620"/>
            <a:chOff x="0" y="0"/>
            <a:chExt cx="10789920" cy="356616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789920" cy="3566160"/>
            </a:xfrm>
            <a:custGeom>
              <a:avLst/>
              <a:gdLst/>
              <a:ahLst/>
              <a:cxnLst/>
              <a:rect r="r" b="b" t="t" l="l"/>
              <a:pathLst>
                <a:path h="3566160" w="107899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643616" y="0"/>
                  </a:lnTo>
                  <a:cubicBezTo>
                    <a:pt x="10724388" y="0"/>
                    <a:pt x="10789920" y="65532"/>
                    <a:pt x="10789920" y="146304"/>
                  </a:cubicBezTo>
                  <a:lnTo>
                    <a:pt x="10789920" y="3419856"/>
                  </a:lnTo>
                  <a:cubicBezTo>
                    <a:pt x="10789920" y="3500628"/>
                    <a:pt x="10724388" y="3566160"/>
                    <a:pt x="10643616" y="3566160"/>
                  </a:cubicBezTo>
                  <a:lnTo>
                    <a:pt x="146304" y="3566160"/>
                  </a:lnTo>
                  <a:cubicBezTo>
                    <a:pt x="65532" y="3566160"/>
                    <a:pt x="0" y="3500628"/>
                    <a:pt x="0" y="3419856"/>
                  </a:cubicBezTo>
                  <a:close/>
                </a:path>
              </a:pathLst>
            </a:custGeom>
            <a:solidFill>
              <a:srgbClr val="E8F3EC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028700" y="5623560"/>
            <a:ext cx="7406640" cy="685800"/>
            <a:chOff x="0" y="0"/>
            <a:chExt cx="9875520" cy="9144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875520" cy="914400"/>
            </a:xfrm>
            <a:custGeom>
              <a:avLst/>
              <a:gdLst/>
              <a:ahLst/>
              <a:cxnLst/>
              <a:rect r="r" b="b" t="t" l="l"/>
              <a:pathLst>
                <a:path h="91440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60438" r="0" b="-160438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987552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 b="true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Pruebas de auditoría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028700" y="6490335"/>
            <a:ext cx="7406640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9"/>
              </a:lnSpc>
            </a:pPr>
            <a:r>
              <a:rPr lang="en-US" sz="1924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Verificación de que cada cambio quedara registrado con el administrador correcto tras corregir el bug del JWT.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9532620" y="5417820"/>
            <a:ext cx="8092440" cy="2674620"/>
            <a:chOff x="0" y="0"/>
            <a:chExt cx="10789920" cy="356616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789920" cy="3566160"/>
            </a:xfrm>
            <a:custGeom>
              <a:avLst/>
              <a:gdLst/>
              <a:ahLst/>
              <a:cxnLst/>
              <a:rect r="r" b="b" t="t" l="l"/>
              <a:pathLst>
                <a:path h="3566160" w="107899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643616" y="0"/>
                  </a:lnTo>
                  <a:cubicBezTo>
                    <a:pt x="10724388" y="0"/>
                    <a:pt x="10789920" y="65532"/>
                    <a:pt x="10789920" y="146304"/>
                  </a:cubicBezTo>
                  <a:lnTo>
                    <a:pt x="10789920" y="3419856"/>
                  </a:lnTo>
                  <a:cubicBezTo>
                    <a:pt x="10789920" y="3500628"/>
                    <a:pt x="10724388" y="3566160"/>
                    <a:pt x="10643616" y="3566160"/>
                  </a:cubicBezTo>
                  <a:lnTo>
                    <a:pt x="146304" y="3566160"/>
                  </a:lnTo>
                  <a:cubicBezTo>
                    <a:pt x="65532" y="3566160"/>
                    <a:pt x="0" y="3500628"/>
                    <a:pt x="0" y="3419856"/>
                  </a:cubicBezTo>
                  <a:close/>
                </a:path>
              </a:pathLst>
            </a:custGeom>
            <a:solidFill>
              <a:srgbClr val="E8F3EC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9875520" y="5623560"/>
            <a:ext cx="7406640" cy="685800"/>
            <a:chOff x="0" y="0"/>
            <a:chExt cx="9875520" cy="9144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875520" cy="914400"/>
            </a:xfrm>
            <a:custGeom>
              <a:avLst/>
              <a:gdLst/>
              <a:ahLst/>
              <a:cxnLst/>
              <a:rect r="r" b="b" t="t" l="l"/>
              <a:pathLst>
                <a:path h="91440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60438" r="0" b="-160438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987552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 b="true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Pruebas de conexión</a:t>
              </a: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9875520" y="6490335"/>
            <a:ext cx="7406640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9"/>
              </a:lnSpc>
            </a:pPr>
            <a:r>
              <a:rPr lang="en-US" sz="1924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Validación de la conexión backend-base de datos y manejo de errores de MySQL.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685800" y="9738360"/>
            <a:ext cx="4114800" cy="411480"/>
            <a:chOff x="0" y="0"/>
            <a:chExt cx="5486400" cy="54864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48640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28575"/>
              <a:ext cx="5486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B6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ASTRO SYSTEMS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6911828" y="9738360"/>
            <a:ext cx="685800" cy="411480"/>
            <a:chOff x="0" y="0"/>
            <a:chExt cx="914400" cy="5486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26</a:t>
              </a:r>
            </a:p>
          </p:txBody>
        </p:sp>
      </p:grp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754380" cy="754380"/>
            <a:chOff x="0" y="0"/>
            <a:chExt cx="1005840" cy="1005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91540" y="822960"/>
            <a:ext cx="342900" cy="342900"/>
            <a:chOff x="0" y="0"/>
            <a:chExt cx="457200" cy="457200"/>
          </a:xfrm>
        </p:grpSpPr>
        <p:sp>
          <p:nvSpPr>
            <p:cNvPr name="Freeform 5" id="5" descr="img/icons/bug_white.png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45920" y="576072"/>
            <a:ext cx="10972800" cy="411480"/>
            <a:chOff x="0" y="0"/>
            <a:chExt cx="14630400" cy="5486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99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08 · CIERRE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645920" y="960120"/>
            <a:ext cx="15910560" cy="822960"/>
            <a:chOff x="0" y="0"/>
            <a:chExt cx="21214080" cy="10972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2140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214080">
                  <a:moveTo>
                    <a:pt x="0" y="0"/>
                  </a:moveTo>
                  <a:lnTo>
                    <a:pt x="21214080" y="0"/>
                  </a:lnTo>
                  <a:lnTo>
                    <a:pt x="212140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26710" r="0" b="-32671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2121408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A1A1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Retos enfrentados y soluciones (1/2)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85800" y="2400300"/>
            <a:ext cx="16911828" cy="1988820"/>
            <a:chOff x="0" y="0"/>
            <a:chExt cx="22549104" cy="26517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549104" cy="2651760"/>
            </a:xfrm>
            <a:custGeom>
              <a:avLst/>
              <a:gdLst/>
              <a:ahLst/>
              <a:cxnLst/>
              <a:rect r="r" b="b" t="t" l="l"/>
              <a:pathLst>
                <a:path h="2651760" w="22549104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2402800" y="0"/>
                  </a:lnTo>
                  <a:cubicBezTo>
                    <a:pt x="22483572" y="0"/>
                    <a:pt x="22549104" y="65532"/>
                    <a:pt x="22549104" y="146304"/>
                  </a:cubicBezTo>
                  <a:lnTo>
                    <a:pt x="22549104" y="2505456"/>
                  </a:lnTo>
                  <a:cubicBezTo>
                    <a:pt x="22549104" y="2586228"/>
                    <a:pt x="22483572" y="2651760"/>
                    <a:pt x="22402800" y="2651760"/>
                  </a:cubicBezTo>
                  <a:lnTo>
                    <a:pt x="146304" y="2651760"/>
                  </a:lnTo>
                  <a:cubicBezTo>
                    <a:pt x="65532" y="2651760"/>
                    <a:pt x="0" y="2586228"/>
                    <a:pt x="0" y="2505456"/>
                  </a:cubicBezTo>
                  <a:close/>
                </a:path>
              </a:pathLst>
            </a:custGeom>
            <a:solidFill>
              <a:srgbClr val="E8F3EC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97280" y="2592324"/>
            <a:ext cx="16088868" cy="548640"/>
            <a:chOff x="0" y="0"/>
            <a:chExt cx="21451824" cy="7315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451824" cy="731520"/>
            </a:xfrm>
            <a:custGeom>
              <a:avLst/>
              <a:gdLst/>
              <a:ahLst/>
              <a:cxnLst/>
              <a:rect r="r" b="b" t="t" l="l"/>
              <a:pathLst>
                <a:path h="731520" w="21451824">
                  <a:moveTo>
                    <a:pt x="0" y="0"/>
                  </a:moveTo>
                  <a:lnTo>
                    <a:pt x="21451824" y="0"/>
                  </a:lnTo>
                  <a:lnTo>
                    <a:pt x="2145182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21398" r="0" b="-521398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21451824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 b="true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Auditoría sin administrador registrado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097280" y="3340227"/>
            <a:ext cx="16088868" cy="342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999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El campo del admin responsable llegaba vacío. Se corrigió extrayendo el usuario directamente del token JWT en cada controller.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85800" y="4663440"/>
            <a:ext cx="16911828" cy="1988820"/>
            <a:chOff x="0" y="0"/>
            <a:chExt cx="22549104" cy="26517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2549104" cy="2651760"/>
            </a:xfrm>
            <a:custGeom>
              <a:avLst/>
              <a:gdLst/>
              <a:ahLst/>
              <a:cxnLst/>
              <a:rect r="r" b="b" t="t" l="l"/>
              <a:pathLst>
                <a:path h="2651760" w="22549104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2402800" y="0"/>
                  </a:lnTo>
                  <a:cubicBezTo>
                    <a:pt x="22483572" y="0"/>
                    <a:pt x="22549104" y="65532"/>
                    <a:pt x="22549104" y="146304"/>
                  </a:cubicBezTo>
                  <a:lnTo>
                    <a:pt x="22549104" y="2505456"/>
                  </a:lnTo>
                  <a:cubicBezTo>
                    <a:pt x="22549104" y="2586228"/>
                    <a:pt x="22483572" y="2651760"/>
                    <a:pt x="22402800" y="2651760"/>
                  </a:cubicBezTo>
                  <a:lnTo>
                    <a:pt x="146304" y="2651760"/>
                  </a:lnTo>
                  <a:cubicBezTo>
                    <a:pt x="65532" y="2651760"/>
                    <a:pt x="0" y="2586228"/>
                    <a:pt x="0" y="2505456"/>
                  </a:cubicBezTo>
                  <a:close/>
                </a:path>
              </a:pathLst>
            </a:custGeom>
            <a:solidFill>
              <a:srgbClr val="E8F3EC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097280" y="4855464"/>
            <a:ext cx="16088868" cy="548640"/>
            <a:chOff x="0" y="0"/>
            <a:chExt cx="21451824" cy="7315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451824" cy="731520"/>
            </a:xfrm>
            <a:custGeom>
              <a:avLst/>
              <a:gdLst/>
              <a:ahLst/>
              <a:cxnLst/>
              <a:rect r="r" b="b" t="t" l="l"/>
              <a:pathLst>
                <a:path h="731520" w="21451824">
                  <a:moveTo>
                    <a:pt x="0" y="0"/>
                  </a:moveTo>
                  <a:lnTo>
                    <a:pt x="21451824" y="0"/>
                  </a:lnTo>
                  <a:lnTo>
                    <a:pt x="2145182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21398" r="0" b="-521398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21451824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 b="true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Confusión entre tablas de usuarios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097280" y="5603367"/>
            <a:ext cx="16088868" cy="342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999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Se aclaró la separación entre “usuarios” (cuentas administrativas) y “usuario_acceso” (personas con acceso físico).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685800" y="6926580"/>
            <a:ext cx="16911828" cy="1988820"/>
            <a:chOff x="0" y="0"/>
            <a:chExt cx="22549104" cy="265176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2549104" cy="2651760"/>
            </a:xfrm>
            <a:custGeom>
              <a:avLst/>
              <a:gdLst/>
              <a:ahLst/>
              <a:cxnLst/>
              <a:rect r="r" b="b" t="t" l="l"/>
              <a:pathLst>
                <a:path h="2651760" w="22549104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2402800" y="0"/>
                  </a:lnTo>
                  <a:cubicBezTo>
                    <a:pt x="22483572" y="0"/>
                    <a:pt x="22549104" y="65532"/>
                    <a:pt x="22549104" y="146304"/>
                  </a:cubicBezTo>
                  <a:lnTo>
                    <a:pt x="22549104" y="2505456"/>
                  </a:lnTo>
                  <a:cubicBezTo>
                    <a:pt x="22549104" y="2586228"/>
                    <a:pt x="22483572" y="2651760"/>
                    <a:pt x="22402800" y="2651760"/>
                  </a:cubicBezTo>
                  <a:lnTo>
                    <a:pt x="146304" y="2651760"/>
                  </a:lnTo>
                  <a:cubicBezTo>
                    <a:pt x="65532" y="2651760"/>
                    <a:pt x="0" y="2586228"/>
                    <a:pt x="0" y="2505456"/>
                  </a:cubicBezTo>
                  <a:close/>
                </a:path>
              </a:pathLst>
            </a:custGeom>
            <a:solidFill>
              <a:srgbClr val="E8F3EC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097280" y="7118604"/>
            <a:ext cx="16088868" cy="548640"/>
            <a:chOff x="0" y="0"/>
            <a:chExt cx="21451824" cy="7315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1451824" cy="731520"/>
            </a:xfrm>
            <a:custGeom>
              <a:avLst/>
              <a:gdLst/>
              <a:ahLst/>
              <a:cxnLst/>
              <a:rect r="r" b="b" t="t" l="l"/>
              <a:pathLst>
                <a:path h="731520" w="21451824">
                  <a:moveTo>
                    <a:pt x="0" y="0"/>
                  </a:moveTo>
                  <a:lnTo>
                    <a:pt x="21451824" y="0"/>
                  </a:lnTo>
                  <a:lnTo>
                    <a:pt x="2145182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21398" r="0" b="-521398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21451824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 b="true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Conectividad con MySQL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097280" y="7866507"/>
            <a:ext cx="16088868" cy="342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999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Problemas al iniciar el servicio en Windows; se resolvió gestionando MySQL80 como servicio de Windows.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685800" y="9738360"/>
            <a:ext cx="4114800" cy="411480"/>
            <a:chOff x="0" y="0"/>
            <a:chExt cx="5486400" cy="5486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48640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28575"/>
              <a:ext cx="5486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B6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ASTRO SYSTEMS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6911828" y="9738360"/>
            <a:ext cx="685800" cy="411480"/>
            <a:chOff x="0" y="0"/>
            <a:chExt cx="914400" cy="5486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27</a:t>
              </a:r>
            </a:p>
          </p:txBody>
        </p:sp>
      </p:grp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754380" cy="754380"/>
            <a:chOff x="0" y="0"/>
            <a:chExt cx="1005840" cy="1005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91540" y="822960"/>
            <a:ext cx="342900" cy="342900"/>
            <a:chOff x="0" y="0"/>
            <a:chExt cx="457200" cy="457200"/>
          </a:xfrm>
        </p:grpSpPr>
        <p:sp>
          <p:nvSpPr>
            <p:cNvPr name="Freeform 5" id="5" descr="img/icons/bug_white.png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45920" y="576072"/>
            <a:ext cx="10972800" cy="411480"/>
            <a:chOff x="0" y="0"/>
            <a:chExt cx="14630400" cy="5486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99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08 · CIERRE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645920" y="960120"/>
            <a:ext cx="15910560" cy="822960"/>
            <a:chOff x="0" y="0"/>
            <a:chExt cx="21214080" cy="10972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2140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214080">
                  <a:moveTo>
                    <a:pt x="0" y="0"/>
                  </a:moveTo>
                  <a:lnTo>
                    <a:pt x="21214080" y="0"/>
                  </a:lnTo>
                  <a:lnTo>
                    <a:pt x="212140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26710" r="0" b="-32671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2121408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A1A1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Retos enfrentados y soluciones (2/2)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85800" y="2400300"/>
            <a:ext cx="16911828" cy="1988820"/>
            <a:chOff x="0" y="0"/>
            <a:chExt cx="22549104" cy="26517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549104" cy="2651760"/>
            </a:xfrm>
            <a:custGeom>
              <a:avLst/>
              <a:gdLst/>
              <a:ahLst/>
              <a:cxnLst/>
              <a:rect r="r" b="b" t="t" l="l"/>
              <a:pathLst>
                <a:path h="2651760" w="22549104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2402800" y="0"/>
                  </a:lnTo>
                  <a:cubicBezTo>
                    <a:pt x="22483572" y="0"/>
                    <a:pt x="22549104" y="65532"/>
                    <a:pt x="22549104" y="146304"/>
                  </a:cubicBezTo>
                  <a:lnTo>
                    <a:pt x="22549104" y="2505456"/>
                  </a:lnTo>
                  <a:cubicBezTo>
                    <a:pt x="22549104" y="2586228"/>
                    <a:pt x="22483572" y="2651760"/>
                    <a:pt x="22402800" y="2651760"/>
                  </a:cubicBezTo>
                  <a:lnTo>
                    <a:pt x="146304" y="2651760"/>
                  </a:lnTo>
                  <a:cubicBezTo>
                    <a:pt x="65532" y="2651760"/>
                    <a:pt x="0" y="2586228"/>
                    <a:pt x="0" y="2505456"/>
                  </a:cubicBezTo>
                  <a:close/>
                </a:path>
              </a:pathLst>
            </a:custGeom>
            <a:solidFill>
              <a:srgbClr val="E8F3EC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97280" y="2592324"/>
            <a:ext cx="16088868" cy="548640"/>
            <a:chOff x="0" y="0"/>
            <a:chExt cx="21451824" cy="7315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451824" cy="731520"/>
            </a:xfrm>
            <a:custGeom>
              <a:avLst/>
              <a:gdLst/>
              <a:ahLst/>
              <a:cxnLst/>
              <a:rect r="r" b="b" t="t" l="l"/>
              <a:pathLst>
                <a:path h="731520" w="21451824">
                  <a:moveTo>
                    <a:pt x="0" y="0"/>
                  </a:moveTo>
                  <a:lnTo>
                    <a:pt x="21451824" y="0"/>
                  </a:lnTo>
                  <a:lnTo>
                    <a:pt x="2145182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21398" r="0" b="-521398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21451824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 b="true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Rediseño de interfaz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097280" y="3340227"/>
            <a:ext cx="16088868" cy="342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999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Las pantallas de auditoría y consultas se rediseñaron varias veces hasta lograr una vista consolidada y clara.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85800" y="4663440"/>
            <a:ext cx="16911828" cy="1988820"/>
            <a:chOff x="0" y="0"/>
            <a:chExt cx="22549104" cy="26517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2549104" cy="2651760"/>
            </a:xfrm>
            <a:custGeom>
              <a:avLst/>
              <a:gdLst/>
              <a:ahLst/>
              <a:cxnLst/>
              <a:rect r="r" b="b" t="t" l="l"/>
              <a:pathLst>
                <a:path h="2651760" w="22549104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2402800" y="0"/>
                  </a:lnTo>
                  <a:cubicBezTo>
                    <a:pt x="22483572" y="0"/>
                    <a:pt x="22549104" y="65532"/>
                    <a:pt x="22549104" y="146304"/>
                  </a:cubicBezTo>
                  <a:lnTo>
                    <a:pt x="22549104" y="2505456"/>
                  </a:lnTo>
                  <a:cubicBezTo>
                    <a:pt x="22549104" y="2586228"/>
                    <a:pt x="22483572" y="2651760"/>
                    <a:pt x="22402800" y="2651760"/>
                  </a:cubicBezTo>
                  <a:lnTo>
                    <a:pt x="146304" y="2651760"/>
                  </a:lnTo>
                  <a:cubicBezTo>
                    <a:pt x="65532" y="2651760"/>
                    <a:pt x="0" y="2586228"/>
                    <a:pt x="0" y="2505456"/>
                  </a:cubicBezTo>
                  <a:close/>
                </a:path>
              </a:pathLst>
            </a:custGeom>
            <a:solidFill>
              <a:srgbClr val="E8F3EC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097280" y="4855464"/>
            <a:ext cx="16088868" cy="548640"/>
            <a:chOff x="0" y="0"/>
            <a:chExt cx="21451824" cy="7315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451824" cy="731520"/>
            </a:xfrm>
            <a:custGeom>
              <a:avLst/>
              <a:gdLst/>
              <a:ahLst/>
              <a:cxnLst/>
              <a:rect r="r" b="b" t="t" l="l"/>
              <a:pathLst>
                <a:path h="731520" w="21451824">
                  <a:moveTo>
                    <a:pt x="0" y="0"/>
                  </a:moveTo>
                  <a:lnTo>
                    <a:pt x="21451824" y="0"/>
                  </a:lnTo>
                  <a:lnTo>
                    <a:pt x="2145182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21398" r="0" b="-521398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21451824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 b="true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Coordinación de equipo con roles distintos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097280" y="5603367"/>
            <a:ext cx="16088868" cy="342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999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Con integrantes en backend, diseño y base de datos, se coordinaron entregas parciales semanales para no bloquear al resto del equipo.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685800" y="6926580"/>
            <a:ext cx="16911828" cy="1988820"/>
            <a:chOff x="0" y="0"/>
            <a:chExt cx="22549104" cy="265176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2549104" cy="2651760"/>
            </a:xfrm>
            <a:custGeom>
              <a:avLst/>
              <a:gdLst/>
              <a:ahLst/>
              <a:cxnLst/>
              <a:rect r="r" b="b" t="t" l="l"/>
              <a:pathLst>
                <a:path h="2651760" w="22549104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2402800" y="0"/>
                  </a:lnTo>
                  <a:cubicBezTo>
                    <a:pt x="22483572" y="0"/>
                    <a:pt x="22549104" y="65532"/>
                    <a:pt x="22549104" y="146304"/>
                  </a:cubicBezTo>
                  <a:lnTo>
                    <a:pt x="22549104" y="2505456"/>
                  </a:lnTo>
                  <a:cubicBezTo>
                    <a:pt x="22549104" y="2586228"/>
                    <a:pt x="22483572" y="2651760"/>
                    <a:pt x="22402800" y="2651760"/>
                  </a:cubicBezTo>
                  <a:lnTo>
                    <a:pt x="146304" y="2651760"/>
                  </a:lnTo>
                  <a:cubicBezTo>
                    <a:pt x="65532" y="2651760"/>
                    <a:pt x="0" y="2586228"/>
                    <a:pt x="0" y="2505456"/>
                  </a:cubicBezTo>
                  <a:close/>
                </a:path>
              </a:pathLst>
            </a:custGeom>
            <a:solidFill>
              <a:srgbClr val="E8F3EC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097280" y="7118604"/>
            <a:ext cx="16088868" cy="548640"/>
            <a:chOff x="0" y="0"/>
            <a:chExt cx="21451824" cy="7315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1451824" cy="731520"/>
            </a:xfrm>
            <a:custGeom>
              <a:avLst/>
              <a:gdLst/>
              <a:ahLst/>
              <a:cxnLst/>
              <a:rect r="r" b="b" t="t" l="l"/>
              <a:pathLst>
                <a:path h="731520" w="21451824">
                  <a:moveTo>
                    <a:pt x="0" y="0"/>
                  </a:moveTo>
                  <a:lnTo>
                    <a:pt x="21451824" y="0"/>
                  </a:lnTo>
                  <a:lnTo>
                    <a:pt x="2145182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21398" r="0" b="-521398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21451824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 b="true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Paso de mockups a pantallas reales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097280" y="7866507"/>
            <a:ext cx="16088868" cy="342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999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Los diseños iniciales en Figma no siempre coincidían con lo técnicamente viable en HTML/CSS/JS puro, lo que exigió ajustes de diseño sobre la marcha.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685800" y="9738360"/>
            <a:ext cx="4114800" cy="411480"/>
            <a:chOff x="0" y="0"/>
            <a:chExt cx="5486400" cy="5486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48640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28575"/>
              <a:ext cx="5486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B6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ASTRO SYSTEMS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6911828" y="9738360"/>
            <a:ext cx="685800" cy="411480"/>
            <a:chOff x="0" y="0"/>
            <a:chExt cx="914400" cy="5486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28</a:t>
              </a:r>
            </a:p>
          </p:txBody>
        </p:sp>
      </p:grp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754380" cy="754380"/>
            <a:chOff x="0" y="0"/>
            <a:chExt cx="1005840" cy="1005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91540" y="822960"/>
            <a:ext cx="342900" cy="342900"/>
            <a:chOff x="0" y="0"/>
            <a:chExt cx="457200" cy="457200"/>
          </a:xfrm>
        </p:grpSpPr>
        <p:sp>
          <p:nvSpPr>
            <p:cNvPr name="Freeform 5" id="5" descr="img/icons/road_white.png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45920" y="576072"/>
            <a:ext cx="10972800" cy="411480"/>
            <a:chOff x="0" y="0"/>
            <a:chExt cx="14630400" cy="5486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99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08 · CIERRE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645920" y="960120"/>
            <a:ext cx="15910560" cy="822960"/>
            <a:chOff x="0" y="0"/>
            <a:chExt cx="21214080" cy="10972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2140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214080">
                  <a:moveTo>
                    <a:pt x="0" y="0"/>
                  </a:moveTo>
                  <a:lnTo>
                    <a:pt x="21214080" y="0"/>
                  </a:lnTo>
                  <a:lnTo>
                    <a:pt x="212140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26710" r="0" b="-32671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2121408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A1A1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Funcionalidades por mejorar o agregar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85800" y="2400300"/>
            <a:ext cx="3977640" cy="6309360"/>
            <a:chOff x="0" y="0"/>
            <a:chExt cx="5303520" cy="84124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303520" cy="8412480"/>
            </a:xfrm>
            <a:custGeom>
              <a:avLst/>
              <a:gdLst/>
              <a:ahLst/>
              <a:cxnLst/>
              <a:rect r="r" b="b" t="t" l="l"/>
              <a:pathLst>
                <a:path h="8412480" w="53035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157216" y="0"/>
                  </a:lnTo>
                  <a:cubicBezTo>
                    <a:pt x="5237988" y="0"/>
                    <a:pt x="5303520" y="65532"/>
                    <a:pt x="5303520" y="146304"/>
                  </a:cubicBezTo>
                  <a:lnTo>
                    <a:pt x="5303520" y="8266176"/>
                  </a:lnTo>
                  <a:cubicBezTo>
                    <a:pt x="5303520" y="8346948"/>
                    <a:pt x="5237988" y="8412480"/>
                    <a:pt x="5157216" y="8412480"/>
                  </a:cubicBezTo>
                  <a:lnTo>
                    <a:pt x="146304" y="8412480"/>
                  </a:lnTo>
                  <a:cubicBezTo>
                    <a:pt x="65532" y="8412480"/>
                    <a:pt x="0" y="8346948"/>
                    <a:pt x="0" y="8266176"/>
                  </a:cubicBezTo>
                  <a:close/>
                </a:path>
              </a:pathLst>
            </a:custGeom>
            <a:solidFill>
              <a:srgbClr val="E8F3EC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194560" y="2811780"/>
            <a:ext cx="960120" cy="960120"/>
            <a:chOff x="0" y="0"/>
            <a:chExt cx="1280160" cy="12801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2414016" y="3031236"/>
            <a:ext cx="521208" cy="521208"/>
            <a:chOff x="0" y="0"/>
            <a:chExt cx="694944" cy="694944"/>
          </a:xfrm>
        </p:grpSpPr>
        <p:sp>
          <p:nvSpPr>
            <p:cNvPr name="Freeform 17" id="17" descr="img/icons/lock_white.png"/>
            <p:cNvSpPr/>
            <p:nvPr/>
          </p:nvSpPr>
          <p:spPr>
            <a:xfrm flipH="false" flipV="false" rot="0">
              <a:off x="0" y="0"/>
              <a:ext cx="694944" cy="694944"/>
            </a:xfrm>
            <a:custGeom>
              <a:avLst/>
              <a:gdLst/>
              <a:ahLst/>
              <a:cxnLst/>
              <a:rect r="r" b="b" t="t" l="l"/>
              <a:pathLst>
                <a:path h="694944" w="694944">
                  <a:moveTo>
                    <a:pt x="0" y="0"/>
                  </a:moveTo>
                  <a:lnTo>
                    <a:pt x="694944" y="0"/>
                  </a:lnTo>
                  <a:lnTo>
                    <a:pt x="694944" y="694944"/>
                  </a:lnTo>
                  <a:lnTo>
                    <a:pt x="0" y="6949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891540" y="3977640"/>
            <a:ext cx="3566160" cy="960120"/>
            <a:chOff x="0" y="0"/>
            <a:chExt cx="4754880" cy="12801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754880" cy="1280160"/>
            </a:xfrm>
            <a:custGeom>
              <a:avLst/>
              <a:gdLst/>
              <a:ahLst/>
              <a:cxnLst/>
              <a:rect r="r" b="b" t="t" l="l"/>
              <a:pathLst>
                <a:path h="128016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2372" r="0" b="-22372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4754880" cy="1318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0"/>
                </a:lnSpc>
              </a:pPr>
              <a:r>
                <a:rPr lang="en-US" sz="1875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Integración con hardware físico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987552" y="5368290"/>
            <a:ext cx="3374136" cy="351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>
                <a:solidFill>
                  <a:srgbClr val="5B6B63"/>
                </a:solidFill>
                <a:latin typeface="Calibri (MS)"/>
                <a:ea typeface="Calibri (MS)"/>
                <a:cs typeface="Calibri (MS)"/>
                <a:sym typeface="Calibri (MS)"/>
              </a:rPr>
              <a:t>Lectores biométricos o de tarjetas para validación de acceso en tiempo real.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4992624" y="2400300"/>
            <a:ext cx="3977640" cy="6309360"/>
            <a:chOff x="0" y="0"/>
            <a:chExt cx="5303520" cy="84124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303520" cy="8412480"/>
            </a:xfrm>
            <a:custGeom>
              <a:avLst/>
              <a:gdLst/>
              <a:ahLst/>
              <a:cxnLst/>
              <a:rect r="r" b="b" t="t" l="l"/>
              <a:pathLst>
                <a:path h="8412480" w="53035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157216" y="0"/>
                  </a:lnTo>
                  <a:cubicBezTo>
                    <a:pt x="5237988" y="0"/>
                    <a:pt x="5303520" y="65532"/>
                    <a:pt x="5303520" y="146304"/>
                  </a:cubicBezTo>
                  <a:lnTo>
                    <a:pt x="5303520" y="8266176"/>
                  </a:lnTo>
                  <a:cubicBezTo>
                    <a:pt x="5303520" y="8346948"/>
                    <a:pt x="5237988" y="8412480"/>
                    <a:pt x="5157216" y="8412480"/>
                  </a:cubicBezTo>
                  <a:lnTo>
                    <a:pt x="146304" y="8412480"/>
                  </a:lnTo>
                  <a:cubicBezTo>
                    <a:pt x="65532" y="8412480"/>
                    <a:pt x="0" y="8346948"/>
                    <a:pt x="0" y="8266176"/>
                  </a:cubicBezTo>
                  <a:close/>
                </a:path>
              </a:pathLst>
            </a:custGeom>
            <a:solidFill>
              <a:srgbClr val="E8F3EC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6501384" y="2811780"/>
            <a:ext cx="960120" cy="960120"/>
            <a:chOff x="0" y="0"/>
            <a:chExt cx="1280160" cy="128016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6720840" y="3031236"/>
            <a:ext cx="521208" cy="521208"/>
            <a:chOff x="0" y="0"/>
            <a:chExt cx="694944" cy="694944"/>
          </a:xfrm>
        </p:grpSpPr>
        <p:sp>
          <p:nvSpPr>
            <p:cNvPr name="Freeform 27" id="27" descr="img/icons/fileExport_white.png"/>
            <p:cNvSpPr/>
            <p:nvPr/>
          </p:nvSpPr>
          <p:spPr>
            <a:xfrm flipH="false" flipV="false" rot="0">
              <a:off x="0" y="0"/>
              <a:ext cx="694944" cy="694944"/>
            </a:xfrm>
            <a:custGeom>
              <a:avLst/>
              <a:gdLst/>
              <a:ahLst/>
              <a:cxnLst/>
              <a:rect r="r" b="b" t="t" l="l"/>
              <a:pathLst>
                <a:path h="694944" w="694944">
                  <a:moveTo>
                    <a:pt x="0" y="0"/>
                  </a:moveTo>
                  <a:lnTo>
                    <a:pt x="694944" y="0"/>
                  </a:lnTo>
                  <a:lnTo>
                    <a:pt x="694944" y="694944"/>
                  </a:lnTo>
                  <a:lnTo>
                    <a:pt x="0" y="6949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5198364" y="3977640"/>
            <a:ext cx="3566160" cy="960120"/>
            <a:chOff x="0" y="0"/>
            <a:chExt cx="4754880" cy="128016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754880" cy="1280160"/>
            </a:xfrm>
            <a:custGeom>
              <a:avLst/>
              <a:gdLst/>
              <a:ahLst/>
              <a:cxnLst/>
              <a:rect r="r" b="b" t="t" l="l"/>
              <a:pathLst>
                <a:path h="128016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2372" r="0" b="-22372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4754880" cy="1318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0"/>
                </a:lnSpc>
              </a:pPr>
              <a:r>
                <a:rPr lang="en-US" sz="1875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Exportación de reportes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5294376" y="5368290"/>
            <a:ext cx="3374136" cy="351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>
                <a:solidFill>
                  <a:srgbClr val="5B6B63"/>
                </a:solidFill>
                <a:latin typeface="Calibri (MS)"/>
                <a:ea typeface="Calibri (MS)"/>
                <a:cs typeface="Calibri (MS)"/>
                <a:sym typeface="Calibri (MS)"/>
              </a:rPr>
              <a:t>Descarga de consultas y auditorías en PDF o Excel.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9299448" y="2400300"/>
            <a:ext cx="3977640" cy="6309360"/>
            <a:chOff x="0" y="0"/>
            <a:chExt cx="5303520" cy="841248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303520" cy="8412480"/>
            </a:xfrm>
            <a:custGeom>
              <a:avLst/>
              <a:gdLst/>
              <a:ahLst/>
              <a:cxnLst/>
              <a:rect r="r" b="b" t="t" l="l"/>
              <a:pathLst>
                <a:path h="8412480" w="53035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157216" y="0"/>
                  </a:lnTo>
                  <a:cubicBezTo>
                    <a:pt x="5237988" y="0"/>
                    <a:pt x="5303520" y="65532"/>
                    <a:pt x="5303520" y="146304"/>
                  </a:cubicBezTo>
                  <a:lnTo>
                    <a:pt x="5303520" y="8266176"/>
                  </a:lnTo>
                  <a:cubicBezTo>
                    <a:pt x="5303520" y="8346948"/>
                    <a:pt x="5237988" y="8412480"/>
                    <a:pt x="5157216" y="8412480"/>
                  </a:cubicBezTo>
                  <a:lnTo>
                    <a:pt x="146304" y="8412480"/>
                  </a:lnTo>
                  <a:cubicBezTo>
                    <a:pt x="65532" y="8412480"/>
                    <a:pt x="0" y="8346948"/>
                    <a:pt x="0" y="8266176"/>
                  </a:cubicBezTo>
                  <a:close/>
                </a:path>
              </a:pathLst>
            </a:custGeom>
            <a:solidFill>
              <a:srgbClr val="E8F3EC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0808208" y="2811780"/>
            <a:ext cx="960120" cy="960120"/>
            <a:chOff x="0" y="0"/>
            <a:chExt cx="1280160" cy="128016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1027664" y="3031236"/>
            <a:ext cx="521208" cy="521208"/>
            <a:chOff x="0" y="0"/>
            <a:chExt cx="694944" cy="694944"/>
          </a:xfrm>
        </p:grpSpPr>
        <p:sp>
          <p:nvSpPr>
            <p:cNvPr name="Freeform 37" id="37" descr="img/icons/mobile_white.png"/>
            <p:cNvSpPr/>
            <p:nvPr/>
          </p:nvSpPr>
          <p:spPr>
            <a:xfrm flipH="false" flipV="false" rot="0">
              <a:off x="0" y="0"/>
              <a:ext cx="694944" cy="694944"/>
            </a:xfrm>
            <a:custGeom>
              <a:avLst/>
              <a:gdLst/>
              <a:ahLst/>
              <a:cxnLst/>
              <a:rect r="r" b="b" t="t" l="l"/>
              <a:pathLst>
                <a:path h="694944" w="694944">
                  <a:moveTo>
                    <a:pt x="0" y="0"/>
                  </a:moveTo>
                  <a:lnTo>
                    <a:pt x="694944" y="0"/>
                  </a:lnTo>
                  <a:lnTo>
                    <a:pt x="694944" y="694944"/>
                  </a:lnTo>
                  <a:lnTo>
                    <a:pt x="0" y="6949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9505188" y="3977640"/>
            <a:ext cx="3566160" cy="960120"/>
            <a:chOff x="0" y="0"/>
            <a:chExt cx="4754880" cy="128016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754880" cy="1280160"/>
            </a:xfrm>
            <a:custGeom>
              <a:avLst/>
              <a:gdLst/>
              <a:ahLst/>
              <a:cxnLst/>
              <a:rect r="r" b="b" t="t" l="l"/>
              <a:pathLst>
                <a:path h="128016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2372" r="0" b="-22372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4754880" cy="1318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0"/>
                </a:lnSpc>
              </a:pPr>
              <a:r>
                <a:rPr lang="en-US" sz="1875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Aplicación móvil</a:t>
              </a: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9601200" y="5368290"/>
            <a:ext cx="3374136" cy="351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>
                <a:solidFill>
                  <a:srgbClr val="5B6B63"/>
                </a:solidFill>
                <a:latin typeface="Calibri (MS)"/>
                <a:ea typeface="Calibri (MS)"/>
                <a:cs typeface="Calibri (MS)"/>
                <a:sym typeface="Calibri (MS)"/>
              </a:rPr>
              <a:t>Versión para consulta y gestión desde dispositivos móviles.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13606272" y="2400300"/>
            <a:ext cx="3977640" cy="6309360"/>
            <a:chOff x="0" y="0"/>
            <a:chExt cx="5303520" cy="841248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303520" cy="8412480"/>
            </a:xfrm>
            <a:custGeom>
              <a:avLst/>
              <a:gdLst/>
              <a:ahLst/>
              <a:cxnLst/>
              <a:rect r="r" b="b" t="t" l="l"/>
              <a:pathLst>
                <a:path h="8412480" w="53035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157216" y="0"/>
                  </a:lnTo>
                  <a:cubicBezTo>
                    <a:pt x="5237988" y="0"/>
                    <a:pt x="5303520" y="65532"/>
                    <a:pt x="5303520" y="146304"/>
                  </a:cubicBezTo>
                  <a:lnTo>
                    <a:pt x="5303520" y="8266176"/>
                  </a:lnTo>
                  <a:cubicBezTo>
                    <a:pt x="5303520" y="8346948"/>
                    <a:pt x="5237988" y="8412480"/>
                    <a:pt x="5157216" y="8412480"/>
                  </a:cubicBezTo>
                  <a:lnTo>
                    <a:pt x="146304" y="8412480"/>
                  </a:lnTo>
                  <a:cubicBezTo>
                    <a:pt x="65532" y="8412480"/>
                    <a:pt x="0" y="8346948"/>
                    <a:pt x="0" y="8266176"/>
                  </a:cubicBezTo>
                  <a:close/>
                </a:path>
              </a:pathLst>
            </a:custGeom>
            <a:solidFill>
              <a:srgbClr val="E8F3EC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5115032" y="2811780"/>
            <a:ext cx="960120" cy="960120"/>
            <a:chOff x="0" y="0"/>
            <a:chExt cx="1280160" cy="128016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5334488" y="3031236"/>
            <a:ext cx="521208" cy="521208"/>
            <a:chOff x="0" y="0"/>
            <a:chExt cx="694944" cy="694944"/>
          </a:xfrm>
        </p:grpSpPr>
        <p:sp>
          <p:nvSpPr>
            <p:cNvPr name="Freeform 47" id="47" descr="img/icons/bell_white.png"/>
            <p:cNvSpPr/>
            <p:nvPr/>
          </p:nvSpPr>
          <p:spPr>
            <a:xfrm flipH="false" flipV="false" rot="0">
              <a:off x="0" y="0"/>
              <a:ext cx="694944" cy="694944"/>
            </a:xfrm>
            <a:custGeom>
              <a:avLst/>
              <a:gdLst/>
              <a:ahLst/>
              <a:cxnLst/>
              <a:rect r="r" b="b" t="t" l="l"/>
              <a:pathLst>
                <a:path h="694944" w="694944">
                  <a:moveTo>
                    <a:pt x="0" y="0"/>
                  </a:moveTo>
                  <a:lnTo>
                    <a:pt x="694944" y="0"/>
                  </a:lnTo>
                  <a:lnTo>
                    <a:pt x="694944" y="694944"/>
                  </a:lnTo>
                  <a:lnTo>
                    <a:pt x="0" y="6949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3812012" y="3977640"/>
            <a:ext cx="3566160" cy="960120"/>
            <a:chOff x="0" y="0"/>
            <a:chExt cx="4754880" cy="128016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754880" cy="1280160"/>
            </a:xfrm>
            <a:custGeom>
              <a:avLst/>
              <a:gdLst/>
              <a:ahLst/>
              <a:cxnLst/>
              <a:rect r="r" b="b" t="t" l="l"/>
              <a:pathLst>
                <a:path h="128016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2372" r="0" b="-22372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4754880" cy="1318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0"/>
                </a:lnSpc>
              </a:pPr>
              <a:r>
                <a:rPr lang="en-US" sz="1875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Notificaciones en tiempo real</a:t>
              </a:r>
            </a:p>
          </p:txBody>
        </p:sp>
      </p:grpSp>
      <p:sp>
        <p:nvSpPr>
          <p:cNvPr name="TextBox 51" id="51"/>
          <p:cNvSpPr txBox="true"/>
          <p:nvPr/>
        </p:nvSpPr>
        <p:spPr>
          <a:xfrm rot="0">
            <a:off x="13908024" y="5368290"/>
            <a:ext cx="3374136" cy="351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>
                <a:solidFill>
                  <a:srgbClr val="5B6B63"/>
                </a:solidFill>
                <a:latin typeface="Calibri (MS)"/>
                <a:ea typeface="Calibri (MS)"/>
                <a:cs typeface="Calibri (MS)"/>
                <a:sym typeface="Calibri (MS)"/>
              </a:rPr>
              <a:t>Alertas automáticas ante cambios críticos de acceso.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685800" y="9738360"/>
            <a:ext cx="4114800" cy="411480"/>
            <a:chOff x="0" y="0"/>
            <a:chExt cx="5486400" cy="54864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548640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28575"/>
              <a:ext cx="5486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B6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ASTRO SYSTEMS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6911828" y="9738360"/>
            <a:ext cx="685800" cy="411480"/>
            <a:chOff x="0" y="0"/>
            <a:chExt cx="914400" cy="54864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30</a:t>
              </a:r>
            </a:p>
          </p:txBody>
        </p:sp>
      </p:grp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754380" cy="754380"/>
            <a:chOff x="0" y="0"/>
            <a:chExt cx="1005840" cy="1005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91540" y="822960"/>
            <a:ext cx="342900" cy="342900"/>
            <a:chOff x="0" y="0"/>
            <a:chExt cx="457200" cy="457200"/>
          </a:xfrm>
        </p:grpSpPr>
        <p:sp>
          <p:nvSpPr>
            <p:cNvPr name="Freeform 5" id="5" descr="img/icons/trophy_white.png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45920" y="576072"/>
            <a:ext cx="10972800" cy="411480"/>
            <a:chOff x="0" y="0"/>
            <a:chExt cx="14630400" cy="5486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99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08 · CIERRE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645920" y="-151519"/>
            <a:ext cx="15910560" cy="3303616"/>
            <a:chOff x="0" y="0"/>
            <a:chExt cx="21214080" cy="440482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214080" cy="4404821"/>
            </a:xfrm>
            <a:custGeom>
              <a:avLst/>
              <a:gdLst/>
              <a:ahLst/>
              <a:cxnLst/>
              <a:rect r="r" b="b" t="t" l="l"/>
              <a:pathLst>
                <a:path h="4404821" w="21214080">
                  <a:moveTo>
                    <a:pt x="0" y="0"/>
                  </a:moveTo>
                  <a:lnTo>
                    <a:pt x="21214080" y="0"/>
                  </a:lnTo>
                  <a:lnTo>
                    <a:pt x="21214080" y="4404821"/>
                  </a:lnTo>
                  <a:lnTo>
                    <a:pt x="0" y="440482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1386" r="0" b="-6297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21214080" cy="44238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A1A1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Conclusiones 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541728" y="3641421"/>
            <a:ext cx="13204545" cy="2899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96"/>
              </a:lnSpc>
            </a:pPr>
            <a:r>
              <a:rPr lang="en-US" sz="2751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El proyecto Astro Systems logró cumplir su objetivo central: transformar un proceso de control de acceso manual y sin trazabilidad en un sistema centralizado, seguro y auditado. Más allá de satisfacer los requerimientos planteados al inicio, el equipo identificó y corrigió fallas reales de seguridad durante el propio desarrollo como la falta de restricción por rol y la ausencia del administrador responsable en la auditoría lo que demuestra un proceso de ingeniería de software maduro, no solo la entrega de un sistema que "funciona en la demo".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85800" y="9738360"/>
            <a:ext cx="4114800" cy="411480"/>
            <a:chOff x="0" y="0"/>
            <a:chExt cx="5486400" cy="548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48640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5486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B6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ASTRO SYSTEMS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6911828" y="9738360"/>
            <a:ext cx="685800" cy="411480"/>
            <a:chOff x="0" y="0"/>
            <a:chExt cx="914400" cy="5486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29</a:t>
              </a:r>
            </a:p>
          </p:txBody>
        </p:sp>
      </p:grp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754380" cy="754380"/>
            <a:chOff x="0" y="0"/>
            <a:chExt cx="1005840" cy="1005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91540" y="822960"/>
            <a:ext cx="342900" cy="342900"/>
            <a:chOff x="0" y="0"/>
            <a:chExt cx="457200" cy="457200"/>
          </a:xfrm>
        </p:grpSpPr>
        <p:sp>
          <p:nvSpPr>
            <p:cNvPr name="Freeform 5" id="5" descr="img/icons/trophy_white.png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45920" y="576072"/>
            <a:ext cx="10972800" cy="411480"/>
            <a:chOff x="0" y="0"/>
            <a:chExt cx="14630400" cy="5486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99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08 · CIERRE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687068" y="-280208"/>
            <a:ext cx="15910560" cy="3303616"/>
            <a:chOff x="0" y="0"/>
            <a:chExt cx="21214080" cy="440482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214080" cy="4404821"/>
            </a:xfrm>
            <a:custGeom>
              <a:avLst/>
              <a:gdLst/>
              <a:ahLst/>
              <a:cxnLst/>
              <a:rect r="r" b="b" t="t" l="l"/>
              <a:pathLst>
                <a:path h="4404821" w="21214080">
                  <a:moveTo>
                    <a:pt x="0" y="0"/>
                  </a:moveTo>
                  <a:lnTo>
                    <a:pt x="21214080" y="0"/>
                  </a:lnTo>
                  <a:lnTo>
                    <a:pt x="21214080" y="4404821"/>
                  </a:lnTo>
                  <a:lnTo>
                    <a:pt x="0" y="440482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1386" r="0" b="-6297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21214080" cy="44238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A1A1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L</a:t>
              </a:r>
              <a:r>
                <a:rPr lang="en-US" sz="4500" b="true">
                  <a:solidFill>
                    <a:srgbClr val="1A1A1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ogros alcanzados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543645" y="2143716"/>
            <a:ext cx="15715655" cy="6342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7601" indent="-233800" lvl="1">
              <a:lnSpc>
                <a:spcPts val="2988"/>
              </a:lnSpc>
              <a:buAutoNum type="arabicPeriod" startAt="1"/>
            </a:pPr>
            <a:r>
              <a:rPr lang="en-US" b="true" sz="2165">
                <a:solidFill>
                  <a:srgbClr val="1A1A1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Sistema funcional de extremo a extremo</a:t>
            </a:r>
          </a:p>
          <a:p>
            <a:pPr algn="l">
              <a:lnSpc>
                <a:spcPts val="2988"/>
              </a:lnSpc>
            </a:pPr>
            <a:r>
              <a:rPr lang="en-US" sz="2165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Backend en Spring Boot, base de datos MySQL y frontend web, todo conectado y operativo.</a:t>
            </a:r>
          </a:p>
          <a:p>
            <a:pPr algn="just">
              <a:lnSpc>
                <a:spcPts val="2988"/>
              </a:lnSpc>
            </a:pPr>
          </a:p>
          <a:p>
            <a:pPr algn="l" marL="467601" indent="-233800" lvl="1">
              <a:lnSpc>
                <a:spcPts val="2988"/>
              </a:lnSpc>
              <a:buAutoNum type="arabicPeriod" startAt="1"/>
            </a:pPr>
            <a:r>
              <a:rPr lang="en-US" b="true" sz="2165">
                <a:solidFill>
                  <a:srgbClr val="1A1A1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Roles realmente diferenciados</a:t>
            </a:r>
          </a:p>
          <a:p>
            <a:pPr algn="just">
              <a:lnSpc>
                <a:spcPts val="2988"/>
              </a:lnSpc>
            </a:pPr>
            <a:r>
              <a:rPr lang="en-US" sz="2165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Autenticación con JWT y BCrypt. Los cuatro roles (ADMIN, USER, AUDITOR, CONSULTOR) tienen accesos distintos verificados en el backend y probados en vivo con cuentas reales.</a:t>
            </a:r>
          </a:p>
          <a:p>
            <a:pPr algn="just">
              <a:lnSpc>
                <a:spcPts val="2988"/>
              </a:lnSpc>
            </a:pPr>
          </a:p>
          <a:p>
            <a:pPr algn="l" marL="467601" indent="-233800" lvl="1">
              <a:lnSpc>
                <a:spcPts val="2988"/>
              </a:lnSpc>
              <a:buAutoNum type="arabicPeriod" startAt="1"/>
            </a:pPr>
            <a:r>
              <a:rPr lang="en-US" b="true" sz="2165">
                <a:solidFill>
                  <a:srgbClr val="1A1A1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Trazabilidad completa</a:t>
            </a:r>
          </a:p>
          <a:p>
            <a:pPr algn="just">
              <a:lnSpc>
                <a:spcPts val="2988"/>
              </a:lnSpc>
            </a:pPr>
            <a:r>
              <a:rPr lang="en-US" sz="2165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 Cada login y cada cambio administrativo queda registrado con fecha y responsable.</a:t>
            </a:r>
          </a:p>
          <a:p>
            <a:pPr algn="just">
              <a:lnSpc>
                <a:spcPts val="2988"/>
              </a:lnSpc>
            </a:pPr>
          </a:p>
          <a:p>
            <a:pPr algn="l" marL="467601" indent="-233800" lvl="1">
              <a:lnSpc>
                <a:spcPts val="2988"/>
              </a:lnSpc>
              <a:buAutoNum type="arabicPeriod" startAt="1"/>
            </a:pPr>
            <a:r>
              <a:rPr lang="en-US" b="true" sz="2165">
                <a:solidFill>
                  <a:srgbClr val="1A1A1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Gestión integral de accesos</a:t>
            </a:r>
          </a:p>
          <a:p>
            <a:pPr algn="just">
              <a:lnSpc>
                <a:spcPts val="2988"/>
              </a:lnSpc>
            </a:pPr>
            <a:r>
              <a:rPr lang="en-US" sz="2165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 Usuarios, grupos, áreas, puertas y permisos, todo desde un panel centralizado.</a:t>
            </a:r>
          </a:p>
          <a:p>
            <a:pPr algn="just">
              <a:lnSpc>
                <a:spcPts val="2988"/>
              </a:lnSpc>
            </a:pPr>
          </a:p>
          <a:p>
            <a:pPr algn="l" marL="467601" indent="-233800" lvl="1">
              <a:lnSpc>
                <a:spcPts val="2988"/>
              </a:lnSpc>
              <a:buAutoNum type="arabicPeriod" startAt="1"/>
            </a:pPr>
            <a:r>
              <a:rPr lang="en-US" b="true" sz="2165">
                <a:solidFill>
                  <a:srgbClr val="1A1A1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Consultas cruzadas y documentación verificada</a:t>
            </a:r>
          </a:p>
          <a:p>
            <a:pPr algn="just">
              <a:lnSpc>
                <a:spcPts val="2988"/>
              </a:lnSpc>
            </a:pPr>
            <a:r>
              <a:rPr lang="en-US" sz="2165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 Filtros combinados para búsquedas rápidas, y documentación (DRS, manual, cronograma, diagramas UML) revisada para que coincida con lo que el sistema realmente hace.</a:t>
            </a:r>
          </a:p>
          <a:p>
            <a:pPr algn="just">
              <a:lnSpc>
                <a:spcPts val="2988"/>
              </a:lnSpc>
            </a:pPr>
          </a:p>
        </p:txBody>
      </p:sp>
      <p:grpSp>
        <p:nvGrpSpPr>
          <p:cNvPr name="Group 13" id="13"/>
          <p:cNvGrpSpPr/>
          <p:nvPr/>
        </p:nvGrpSpPr>
        <p:grpSpPr>
          <a:xfrm rot="0">
            <a:off x="685800" y="9738360"/>
            <a:ext cx="4114800" cy="411480"/>
            <a:chOff x="0" y="0"/>
            <a:chExt cx="5486400" cy="548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48640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5486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B6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ASTRO SYSTEMS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6911828" y="9738360"/>
            <a:ext cx="685800" cy="411480"/>
            <a:chOff x="0" y="0"/>
            <a:chExt cx="914400" cy="5486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29</a:t>
              </a:r>
            </a:p>
          </p:txBody>
        </p:sp>
      </p:grp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538960" y="-1783080"/>
            <a:ext cx="5760720" cy="5760720"/>
            <a:chOff x="0" y="0"/>
            <a:chExt cx="7680960" cy="76809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680960" cy="7680960"/>
            </a:xfrm>
            <a:custGeom>
              <a:avLst/>
              <a:gdLst/>
              <a:ahLst/>
              <a:cxnLst/>
              <a:rect r="r" b="b" t="t" l="l"/>
              <a:pathLst>
                <a:path h="7680960" w="7680960">
                  <a:moveTo>
                    <a:pt x="0" y="3840480"/>
                  </a:moveTo>
                  <a:cubicBezTo>
                    <a:pt x="0" y="1719453"/>
                    <a:pt x="1719453" y="0"/>
                    <a:pt x="3840480" y="0"/>
                  </a:cubicBezTo>
                  <a:cubicBezTo>
                    <a:pt x="5961507" y="0"/>
                    <a:pt x="7680960" y="1719453"/>
                    <a:pt x="7680960" y="3840480"/>
                  </a:cubicBezTo>
                  <a:cubicBezTo>
                    <a:pt x="7680960" y="5961507"/>
                    <a:pt x="5961507" y="7680960"/>
                    <a:pt x="3840480" y="7680960"/>
                  </a:cubicBezTo>
                  <a:cubicBezTo>
                    <a:pt x="1719453" y="7680960"/>
                    <a:pt x="0" y="5961507"/>
                    <a:pt x="0" y="3840480"/>
                  </a:cubicBezTo>
                  <a:close/>
                </a:path>
              </a:pathLst>
            </a:custGeom>
            <a:solidFill>
              <a:srgbClr val="2D6A4F">
                <a:alpha val="20000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2194560" y="6583680"/>
            <a:ext cx="4937760" cy="4937760"/>
            <a:chOff x="0" y="0"/>
            <a:chExt cx="6583680" cy="65836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583680" cy="6583680"/>
            </a:xfrm>
            <a:custGeom>
              <a:avLst/>
              <a:gdLst/>
              <a:ahLst/>
              <a:cxnLst/>
              <a:rect r="r" b="b" t="t" l="l"/>
              <a:pathLst>
                <a:path h="6583680" w="6583680">
                  <a:moveTo>
                    <a:pt x="0" y="3291840"/>
                  </a:moveTo>
                  <a:cubicBezTo>
                    <a:pt x="0" y="1473835"/>
                    <a:pt x="1473835" y="0"/>
                    <a:pt x="3291840" y="0"/>
                  </a:cubicBezTo>
                  <a:cubicBezTo>
                    <a:pt x="5109845" y="0"/>
                    <a:pt x="6583680" y="1473835"/>
                    <a:pt x="6583680" y="3291840"/>
                  </a:cubicBezTo>
                  <a:cubicBezTo>
                    <a:pt x="6583680" y="5109845"/>
                    <a:pt x="5109845" y="6583680"/>
                    <a:pt x="3291840" y="6583680"/>
                  </a:cubicBezTo>
                  <a:cubicBezTo>
                    <a:pt x="1473835" y="6583680"/>
                    <a:pt x="0" y="5109845"/>
                    <a:pt x="0" y="3291840"/>
                  </a:cubicBezTo>
                  <a:close/>
                </a:path>
              </a:pathLst>
            </a:custGeom>
            <a:solidFill>
              <a:srgbClr val="2D6A4F">
                <a:alpha val="20000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8119872" y="2057400"/>
            <a:ext cx="2057400" cy="2057400"/>
            <a:chOff x="0" y="0"/>
            <a:chExt cx="2743200" cy="2743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43200" cy="2743200"/>
            </a:xfrm>
            <a:custGeom>
              <a:avLst/>
              <a:gdLst/>
              <a:ahLst/>
              <a:cxnLst/>
              <a:rect r="r" b="b" t="t" l="l"/>
              <a:pathLst>
                <a:path h="2743200" w="2743200">
                  <a:moveTo>
                    <a:pt x="0" y="1371600"/>
                  </a:moveTo>
                  <a:cubicBezTo>
                    <a:pt x="0" y="614045"/>
                    <a:pt x="614045" y="0"/>
                    <a:pt x="1371600" y="0"/>
                  </a:cubicBezTo>
                  <a:cubicBezTo>
                    <a:pt x="2129155" y="0"/>
                    <a:pt x="2743200" y="614045"/>
                    <a:pt x="2743200" y="1371600"/>
                  </a:cubicBezTo>
                  <a:cubicBezTo>
                    <a:pt x="2743200" y="2129155"/>
                    <a:pt x="2129155" y="2743200"/>
                    <a:pt x="1371600" y="2743200"/>
                  </a:cubicBezTo>
                  <a:cubicBezTo>
                    <a:pt x="614045" y="2743200"/>
                    <a:pt x="0" y="2129155"/>
                    <a:pt x="0" y="1371600"/>
                  </a:cubicBezTo>
                  <a:close/>
                </a:path>
              </a:pathLst>
            </a:custGeom>
            <a:solidFill>
              <a:srgbClr val="E9C46A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8668512" y="2606040"/>
            <a:ext cx="960120" cy="960120"/>
            <a:chOff x="0" y="0"/>
            <a:chExt cx="1280160" cy="1280160"/>
          </a:xfrm>
        </p:grpSpPr>
        <p:sp>
          <p:nvSpPr>
            <p:cNvPr name="Freeform 9" id="9" descr="img/icons/handshake_dark.png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0" y="3461385"/>
            <a:ext cx="18283428" cy="5061700"/>
            <a:chOff x="0" y="0"/>
            <a:chExt cx="24377904" cy="674893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4377904" cy="6748934"/>
            </a:xfrm>
            <a:custGeom>
              <a:avLst/>
              <a:gdLst/>
              <a:ahLst/>
              <a:cxnLst/>
              <a:rect r="r" b="b" t="t" l="l"/>
              <a:pathLst>
                <a:path h="6748934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6748934"/>
                  </a:lnTo>
                  <a:lnTo>
                    <a:pt x="0" y="674893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6833" r="0" b="16069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24377904" cy="67584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280"/>
                </a:lnSpc>
              </a:pPr>
              <a:r>
                <a:rPr lang="en-US" sz="69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Gracias por su atencion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858" y="6920095"/>
            <a:ext cx="18283428" cy="685800"/>
            <a:chOff x="0" y="0"/>
            <a:chExt cx="24377904" cy="914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4377904" cy="914400"/>
            </a:xfrm>
            <a:custGeom>
              <a:avLst/>
              <a:gdLst/>
              <a:ahLst/>
              <a:cxnLst/>
              <a:rect r="r" b="b" t="t" l="l"/>
              <a:pathLst>
                <a:path h="914400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69471" r="0" b="-46947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24377904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i="true">
                  <a:solidFill>
                    <a:srgbClr val="8FBFA3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¿Preguntas?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0" y="9189720"/>
            <a:ext cx="18283428" cy="480060"/>
            <a:chOff x="0" y="0"/>
            <a:chExt cx="24377904" cy="6400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4377904" cy="640080"/>
            </a:xfrm>
            <a:custGeom>
              <a:avLst/>
              <a:gdLst/>
              <a:ahLst/>
              <a:cxnLst/>
              <a:rect r="r" b="b" t="t" l="l"/>
              <a:pathLst>
                <a:path h="640080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92101" r="0" b="-692101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24377904" cy="6686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8FBFA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ASTRO SYSTEMS · Grupo 9GS231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DAHOvVpGETM</dc:identifier>
  <dcterms:modified xsi:type="dcterms:W3CDTF">2011-08-01T06:04:30Z</dcterms:modified>
  <cp:revision>1</cp:revision>
  <dc:title>Astro Systems - Presentacion del Proyecto.pptx</dc:title>
</cp:coreProperties>
</file>